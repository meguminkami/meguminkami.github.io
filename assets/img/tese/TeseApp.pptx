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52"/>
  </p:notesMasterIdLst>
  <p:sldIdLst>
    <p:sldId id="256" r:id="rId2"/>
    <p:sldId id="308" r:id="rId3"/>
    <p:sldId id="309" r:id="rId4"/>
    <p:sldId id="315" r:id="rId5"/>
    <p:sldId id="330" r:id="rId6"/>
    <p:sldId id="307" r:id="rId7"/>
    <p:sldId id="331" r:id="rId8"/>
    <p:sldId id="332" r:id="rId9"/>
    <p:sldId id="333" r:id="rId10"/>
    <p:sldId id="334" r:id="rId11"/>
    <p:sldId id="340" r:id="rId12"/>
    <p:sldId id="310" r:id="rId13"/>
    <p:sldId id="320" r:id="rId14"/>
    <p:sldId id="342" r:id="rId15"/>
    <p:sldId id="321" r:id="rId16"/>
    <p:sldId id="339" r:id="rId17"/>
    <p:sldId id="347" r:id="rId18"/>
    <p:sldId id="322" r:id="rId19"/>
    <p:sldId id="341" r:id="rId20"/>
    <p:sldId id="343" r:id="rId21"/>
    <p:sldId id="344" r:id="rId22"/>
    <p:sldId id="324" r:id="rId23"/>
    <p:sldId id="348" r:id="rId24"/>
    <p:sldId id="345" r:id="rId25"/>
    <p:sldId id="311" r:id="rId26"/>
    <p:sldId id="349" r:id="rId27"/>
    <p:sldId id="325" r:id="rId28"/>
    <p:sldId id="353" r:id="rId29"/>
    <p:sldId id="350" r:id="rId30"/>
    <p:sldId id="351" r:id="rId31"/>
    <p:sldId id="355" r:id="rId32"/>
    <p:sldId id="352" r:id="rId33"/>
    <p:sldId id="327" r:id="rId34"/>
    <p:sldId id="312" r:id="rId35"/>
    <p:sldId id="358" r:id="rId36"/>
    <p:sldId id="359" r:id="rId37"/>
    <p:sldId id="356" r:id="rId38"/>
    <p:sldId id="360" r:id="rId39"/>
    <p:sldId id="361" r:id="rId40"/>
    <p:sldId id="357" r:id="rId41"/>
    <p:sldId id="328" r:id="rId42"/>
    <p:sldId id="362" r:id="rId43"/>
    <p:sldId id="363" r:id="rId44"/>
    <p:sldId id="364" r:id="rId45"/>
    <p:sldId id="365" r:id="rId46"/>
    <p:sldId id="366" r:id="rId47"/>
    <p:sldId id="313" r:id="rId48"/>
    <p:sldId id="367" r:id="rId49"/>
    <p:sldId id="329" r:id="rId50"/>
    <p:sldId id="314" r:id="rId5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3"/>
    </p:embeddedFont>
    <p:embeddedFont>
      <p:font typeface="Inter" panose="020B0604020202020204" charset="0"/>
      <p:regular r:id="rId54"/>
      <p:bold r:id="rId55"/>
      <p:italic r:id="rId56"/>
      <p:boldItalic r:id="rId57"/>
    </p:embeddedFont>
    <p:embeddedFont>
      <p:font typeface="Montserrat" panose="00000500000000000000" pitchFamily="2" charset="0"/>
      <p:regular r:id="rId58"/>
      <p:bold r:id="rId59"/>
      <p:italic r:id="rId60"/>
      <p:boldItalic r:id="rId61"/>
    </p:embeddedFont>
    <p:embeddedFont>
      <p:font typeface="Poppins" panose="00000500000000000000" pitchFamily="2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4B86"/>
    <a:srgbClr val="225DA9"/>
    <a:srgbClr val="5482BB"/>
    <a:srgbClr val="112E54"/>
    <a:srgbClr val="AEE2F4"/>
    <a:srgbClr val="CDD7DF"/>
    <a:srgbClr val="EB8015"/>
    <a:srgbClr val="B4B7B9"/>
    <a:srgbClr val="CBCBCB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79823-868B-4761-A697-BB5D46B0277E}" v="719" dt="2025-10-13T01:22:48.623"/>
  </p1510:revLst>
</p1510:revInfo>
</file>

<file path=ppt/tableStyles.xml><?xml version="1.0" encoding="utf-8"?>
<a:tblStyleLst xmlns:a="http://schemas.openxmlformats.org/drawingml/2006/main" def="{98FC0A73-DC38-4340-A48C-9635F80BE792}">
  <a:tblStyle styleId="{98FC0A73-DC38-4340-A48C-9635F80BE7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4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B8859EF6-3717-9E7B-5E3B-123D1A1E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7E2CF250-4979-CDB6-1F79-A7E1D03A4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7AC2DD86-5C0A-22F5-983D-F3EF82700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860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16462E6D-FAEE-CEF4-BE8C-630A13FD4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2851E805-0CBD-EDEE-8FB8-3B6679838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4CA66041-7EAD-AEFC-10D4-3AD871966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035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BE2B126-6DF6-0392-537B-FBDA5EF9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82C6CD72-FE17-B483-AEBF-FA67D72EA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0711DBDC-3B53-3BB4-9D72-DDC98602D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465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805990D-3ED6-7348-9309-EF3FB1F6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6F12A992-B6E5-2561-8AA1-C03C846D7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9204EC34-6EC2-2F99-41EF-0E75DB670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164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58727F4-3FFE-8343-3FB7-A06924CD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2B0AAA40-E673-376C-B925-BAE75BEAF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730D8277-80BF-FEDF-6F22-765E0B1E8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377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EC6CB3-46AB-9285-CE60-7508BFB2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AD758CA8-7EEE-5A2B-A676-69F71FDF1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84D28C89-B36A-4592-8A08-C4067D72E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405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72A65A6-56B6-6A7C-9639-8660BB88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155FA234-E755-D3EA-9060-BD2FF66E78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C423AECD-C934-66A5-A6CA-596906395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04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771A9E72-42A1-68EF-4FE1-4892587F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6B7EA55C-03DA-1406-47C0-9A370A965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50568E00-F9DD-A2D4-67F6-2B7AFAD00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015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EDC1D61-8919-EA8B-DF03-8E9810CD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1CC16177-3CE0-9F6A-F74A-DE3137BD56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0418372E-2771-C3C9-BCB8-F5E3ED0E8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654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7C474DDC-59C5-C67F-5DBC-C28E6F43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DF49AA7F-0CD0-1F09-71FA-2B5E632EE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101B7076-52E6-353D-3450-02F1F9E30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882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A6A4658-A84E-9B42-0C27-791A040E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0CCC2434-BB0E-40D9-FE95-85C289B8F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5FC99D4-AD50-613B-AC4A-6912D3A4E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47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BE90514D-104E-D52D-D718-52A507D5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AF5D2046-77B3-9645-E27D-367CE5246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4394E8FE-F7D9-CDE3-99FC-D6CCFBA50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839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206C845-9EDD-A3DD-02F8-3B854A57A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A09B6033-6101-8D6E-BE46-DD14359E2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62CF42F9-382E-5553-7636-85E87876E5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109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F92F3C1-BD29-866C-0D65-CAB92FC0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053FBB32-9623-F0DB-4CB0-D42836397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A594363B-9B25-C966-EA68-8E2CECEB4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2959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CD50FFA-0850-AB16-CCB6-322ACF63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A8D441CE-1828-5433-5B94-BBC51C1B8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6D68564F-88FA-D3DF-86B7-39DCFD14C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00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46527589-504E-CE81-5A95-5214E78C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9CE9339D-DC60-A504-9AF7-0DA0EBC85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44311E7-7B86-487B-4F46-265B0B8F3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702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0599D1E-7486-0CD0-76A9-040C961C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3A8996EB-A3DC-018E-8EBB-31A2C88EF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AC4B377-15AE-2762-CE19-E477A26DB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58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6E68C642-9FD7-18DF-479C-56355A20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F2E69721-446A-FED0-8577-6A3FA8858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14DDCC78-682F-8DE4-432B-5D26156CB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360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2B6885C-FCDD-016A-9593-252B59FB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624FCAD0-C19F-39D1-0EF2-9B6BACFA5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7BA8B37F-FE8B-1393-01C1-5AE492FCB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417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1C3EA1D7-8687-8825-88A4-062B3ED7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B32161EE-B7E8-4EA0-4C1F-76C4E9D86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AA0D0310-A390-920A-A17D-7D19B65E5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83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69FC1123-31CC-7D05-36CA-041908ED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58DAAC02-4BEA-E945-426D-DB54F74D8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64F675C-985E-BF83-67F6-69B11E2E1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356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13A0D1DE-9852-6FA9-FE24-841F43E5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34B81852-1773-104F-D146-BDBEC7B68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1A4F210-EDC2-1A9E-B54F-66EAD0755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57906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6095B2D-E832-4EFB-E6FB-5563BB68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89F0DAE9-16F1-EECF-D64A-C77841AAE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A1723D2B-EFF3-7FB3-0085-D72393636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0393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C7396E87-A3F4-4563-E26F-70AE52C8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5975E5B7-4989-869D-5168-A5C35CA81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6C0F53C2-E1FC-5242-7CB3-17D62F6BE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880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B2706C1E-D7A9-B7C2-47C5-6A8BFD82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78542187-6FF1-8446-8EB5-E155D0FE1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6C22C2BE-5421-9C23-2B03-52C7CDE61E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744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8B5D9F0-1DA5-C61D-CA8F-CD6C7BC9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90653802-2C09-3359-7052-E75578044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B197EFAB-61BD-B776-0964-2DD564546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648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FE280C1-CB4D-6F9B-CDEE-43A44554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DBF4957E-46C8-B374-AEC4-8A3403F3D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29016403-7F4B-4527-18BC-89F4B8F1FB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7696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BA560C8-A6E5-5397-1892-4F2014C8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7505AE0E-D012-39D3-79AB-9CCCC01F2A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4A391407-FB2D-8CE5-B309-43531336C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25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B03344F-1BE6-AEE2-668D-DE7D1319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D8823295-7FB4-13DD-F170-6B114CED6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9E14F325-43E4-B07E-0606-ABF1B2DF2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4089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2738074-BF58-B175-1279-26C1F2B8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C7B756FE-F3DB-7524-5D3D-24F613E03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F0174C6E-A94B-0ECE-2A71-10C6E81D0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6115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738A1767-AC7E-12B6-37DC-D478AD17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E2E631D3-2C30-287E-7D6E-E7902B1CE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99F612BA-E5C5-C683-3683-A8B909667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3461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C080C3B7-15FA-876D-1896-D11D5814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A3D9DF46-FD75-FD7F-D1B9-C505004F7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E7252F6C-F438-B8A1-9AC0-8FD57B41E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63578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5C2ED73-05AC-3EC1-6E0B-61C5AEB6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D3EF2C91-F3A5-4BE5-5104-8E629910D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FB8CA007-FACE-7D60-7583-0CD461D23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0726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E995750-ECD8-BB95-2D33-C55BEE98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837BE16D-EC9E-D3FF-12C0-6F81D3BC9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9FB0E7FF-2B0E-5DEF-ABDF-3E48110D1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8296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52F091F-5748-3683-1105-0EC75BF3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9426B4D5-D9B0-715A-123A-F43784BA3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4145E3A-DCAF-21C2-6AF9-EED83B214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4149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4F16217-A085-7D3F-17D9-F00E67D4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286052D6-8234-59D4-0805-7AA10F089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305BF0C7-A8E6-8471-2993-421924B8A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2028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BB7FD3D-96C9-1938-64FA-A29A9821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984407E9-C336-CC17-D4B6-341A275969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15E93C7E-4E2E-BA51-5DFF-7358C957C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9765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3B0B05C-C95C-9D6E-B8A8-8E9C2C68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691B4D3B-EE26-128A-9A81-501F10591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3E04FA93-00F1-AD64-E2D5-A6E606D54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6500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991EB3B1-B9F0-9D52-D658-48A3F347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4CDCA4B6-D031-1252-E07E-079000C1D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6ECF5A6F-BCE4-D731-CE6B-B9A226EC3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9553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CCBEF91-42AF-1E45-7A20-40C11408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0FD9AFCE-109D-C939-169C-E8F5186EA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088F1674-CC54-CDD1-58AF-E3BEC4E3C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8159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22FBE53-1BFE-993F-07F7-149E97E3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F701DCCD-F7C5-27AB-2DA6-60DC91C08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487973A2-67E2-E40C-40E9-1919F186F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19452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FADA3D7-D7D1-CFD1-5A98-77720D4E7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91F46C18-1E5E-1195-0F57-2EEDDE6F6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999A5207-6BAE-36C1-06ED-5D66389FB2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404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B88BF09D-A9A9-55AD-E2FC-B9633772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09A26AD9-1439-EA2C-EDE0-ABD99B4E3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B1CA62A0-71C3-0058-6B0D-D912052D6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4359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CBA371AE-0C4F-A91D-8D07-75816956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01A42FC7-F1A9-62FA-CD72-23D5A0C84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91990BE1-CE1E-9A44-833F-CC18F2FD0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8184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9E859EC-4020-598C-BC90-FE984E7F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2A5300B7-54D6-3654-4224-D88EB5219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B23E3AA2-54DD-B3E3-9974-9BBFA96A9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5828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3775B72E-5B38-4728-A24D-348FDA8E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7A55D011-FD6C-4368-62D6-1076A7A71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7EC98A2D-BDB2-3ACC-B203-45942AD56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0115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C99F280-C0C3-7D53-6A16-1BE44B16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9581D129-3FD3-F7D9-A4DC-4BD5ADF82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F235E44A-A4C2-4BFB-BD7D-A6561C4B5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0644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B670D106-7580-1836-724E-86C18219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F7271738-9FD8-60D9-FD11-0B21F8114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D16F219B-AA30-52FA-CBBD-513BEBB74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4900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7A226F4A-E0FA-F125-8EB1-631F789D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1bf8d60a4_0_0:notes">
            <a:extLst>
              <a:ext uri="{FF2B5EF4-FFF2-40B4-BE49-F238E27FC236}">
                <a16:creationId xmlns:a16="http://schemas.microsoft.com/office/drawing/2014/main" id="{E4FDC7E5-B621-17ED-9FC9-3FD47F0DC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1bf8d60a4_0_0:notes">
            <a:extLst>
              <a:ext uri="{FF2B5EF4-FFF2-40B4-BE49-F238E27FC236}">
                <a16:creationId xmlns:a16="http://schemas.microsoft.com/office/drawing/2014/main" id="{789F91A0-861B-1C48-BB15-B1A5D600E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56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10" name="Google Shape;10;p2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16;p2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900175" y="1213000"/>
            <a:ext cx="4530600" cy="222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900175" y="3524550"/>
            <a:ext cx="4530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28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333" name="Google Shape;333;p28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" name="Google Shape;334;p28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335" name="Google Shape;335;p28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8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8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338;p28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9" name="Google Shape;339;p28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0" name="Google Shape;340;p28"/>
          <p:cNvGrpSpPr/>
          <p:nvPr/>
        </p:nvGrpSpPr>
        <p:grpSpPr>
          <a:xfrm>
            <a:off x="713219" y="2269869"/>
            <a:ext cx="2305487" cy="3069098"/>
            <a:chOff x="4962625" y="539501"/>
            <a:chExt cx="3266487" cy="4348396"/>
          </a:xfrm>
        </p:grpSpPr>
        <p:sp>
          <p:nvSpPr>
            <p:cNvPr id="341" name="Google Shape;341;p28"/>
            <p:cNvSpPr/>
            <p:nvPr/>
          </p:nvSpPr>
          <p:spPr>
            <a:xfrm>
              <a:off x="5689271" y="788278"/>
              <a:ext cx="1476799" cy="1488827"/>
            </a:xfrm>
            <a:custGeom>
              <a:avLst/>
              <a:gdLst/>
              <a:ahLst/>
              <a:cxnLst/>
              <a:rect l="l" t="t" r="r" b="b"/>
              <a:pathLst>
                <a:path w="10804" h="10892" extrusionOk="0">
                  <a:moveTo>
                    <a:pt x="8359" y="1"/>
                  </a:moveTo>
                  <a:cubicBezTo>
                    <a:pt x="7473" y="1"/>
                    <a:pt x="6574" y="602"/>
                    <a:pt x="4834" y="666"/>
                  </a:cubicBezTo>
                  <a:cubicBezTo>
                    <a:pt x="2695" y="758"/>
                    <a:pt x="1807" y="1798"/>
                    <a:pt x="1230" y="2339"/>
                  </a:cubicBezTo>
                  <a:cubicBezTo>
                    <a:pt x="652" y="2879"/>
                    <a:pt x="1" y="3688"/>
                    <a:pt x="347" y="4649"/>
                  </a:cubicBezTo>
                  <a:cubicBezTo>
                    <a:pt x="675" y="5591"/>
                    <a:pt x="1673" y="6363"/>
                    <a:pt x="1983" y="7075"/>
                  </a:cubicBezTo>
                  <a:cubicBezTo>
                    <a:pt x="2293" y="7768"/>
                    <a:pt x="2002" y="8174"/>
                    <a:pt x="2002" y="8174"/>
                  </a:cubicBezTo>
                  <a:cubicBezTo>
                    <a:pt x="2002" y="8174"/>
                    <a:pt x="1768" y="8065"/>
                    <a:pt x="1474" y="8065"/>
                  </a:cubicBezTo>
                  <a:cubicBezTo>
                    <a:pt x="1228" y="8065"/>
                    <a:pt x="940" y="8142"/>
                    <a:pt x="712" y="8424"/>
                  </a:cubicBezTo>
                  <a:cubicBezTo>
                    <a:pt x="190" y="9038"/>
                    <a:pt x="537" y="9579"/>
                    <a:pt x="962" y="9731"/>
                  </a:cubicBezTo>
                  <a:cubicBezTo>
                    <a:pt x="1043" y="9762"/>
                    <a:pt x="1126" y="9774"/>
                    <a:pt x="1206" y="9774"/>
                  </a:cubicBezTo>
                  <a:cubicBezTo>
                    <a:pt x="1526" y="9774"/>
                    <a:pt x="1807" y="9579"/>
                    <a:pt x="1807" y="9579"/>
                  </a:cubicBezTo>
                  <a:lnTo>
                    <a:pt x="1807" y="9579"/>
                  </a:lnTo>
                  <a:cubicBezTo>
                    <a:pt x="1807" y="9579"/>
                    <a:pt x="1752" y="9999"/>
                    <a:pt x="2385" y="10078"/>
                  </a:cubicBezTo>
                  <a:cubicBezTo>
                    <a:pt x="2441" y="10086"/>
                    <a:pt x="2493" y="10090"/>
                    <a:pt x="2543" y="10090"/>
                  </a:cubicBezTo>
                  <a:cubicBezTo>
                    <a:pt x="3076" y="10090"/>
                    <a:pt x="3254" y="9653"/>
                    <a:pt x="3254" y="9653"/>
                  </a:cubicBezTo>
                  <a:cubicBezTo>
                    <a:pt x="3254" y="9653"/>
                    <a:pt x="3272" y="10808"/>
                    <a:pt x="5139" y="10887"/>
                  </a:cubicBezTo>
                  <a:cubicBezTo>
                    <a:pt x="5216" y="10890"/>
                    <a:pt x="5291" y="10891"/>
                    <a:pt x="5365" y="10891"/>
                  </a:cubicBezTo>
                  <a:cubicBezTo>
                    <a:pt x="7072" y="10891"/>
                    <a:pt x="8027" y="10060"/>
                    <a:pt x="8027" y="10060"/>
                  </a:cubicBezTo>
                  <a:cubicBezTo>
                    <a:pt x="8027" y="10060"/>
                    <a:pt x="8341" y="10278"/>
                    <a:pt x="8754" y="10278"/>
                  </a:cubicBezTo>
                  <a:cubicBezTo>
                    <a:pt x="8901" y="10278"/>
                    <a:pt x="9061" y="10250"/>
                    <a:pt x="9223" y="10175"/>
                  </a:cubicBezTo>
                  <a:cubicBezTo>
                    <a:pt x="9838" y="9884"/>
                    <a:pt x="9589" y="8807"/>
                    <a:pt x="9589" y="8807"/>
                  </a:cubicBezTo>
                  <a:lnTo>
                    <a:pt x="9589" y="8807"/>
                  </a:lnTo>
                  <a:cubicBezTo>
                    <a:pt x="9589" y="8807"/>
                    <a:pt x="9625" y="8812"/>
                    <a:pt x="9686" y="8812"/>
                  </a:cubicBezTo>
                  <a:cubicBezTo>
                    <a:pt x="9928" y="8812"/>
                    <a:pt x="10547" y="8738"/>
                    <a:pt x="10684" y="7999"/>
                  </a:cubicBezTo>
                  <a:cubicBezTo>
                    <a:pt x="10804" y="7379"/>
                    <a:pt x="10380" y="6975"/>
                    <a:pt x="9910" y="6975"/>
                  </a:cubicBezTo>
                  <a:cubicBezTo>
                    <a:pt x="9693" y="6975"/>
                    <a:pt x="9467" y="7061"/>
                    <a:pt x="9279" y="7250"/>
                  </a:cubicBezTo>
                  <a:cubicBezTo>
                    <a:pt x="9279" y="7250"/>
                    <a:pt x="8992" y="5323"/>
                    <a:pt x="8992" y="4727"/>
                  </a:cubicBezTo>
                  <a:cubicBezTo>
                    <a:pt x="8992" y="4108"/>
                    <a:pt x="9011" y="3900"/>
                    <a:pt x="9011" y="3900"/>
                  </a:cubicBezTo>
                  <a:cubicBezTo>
                    <a:pt x="9011" y="3900"/>
                    <a:pt x="9242" y="3725"/>
                    <a:pt x="9838" y="3554"/>
                  </a:cubicBezTo>
                  <a:cubicBezTo>
                    <a:pt x="10453" y="3360"/>
                    <a:pt x="10610" y="2879"/>
                    <a:pt x="10550" y="2205"/>
                  </a:cubicBezTo>
                  <a:cubicBezTo>
                    <a:pt x="10513" y="1530"/>
                    <a:pt x="10106" y="490"/>
                    <a:pt x="8969" y="107"/>
                  </a:cubicBezTo>
                  <a:cubicBezTo>
                    <a:pt x="8760" y="32"/>
                    <a:pt x="8560" y="1"/>
                    <a:pt x="8359" y="1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5705127" y="780486"/>
              <a:ext cx="1462856" cy="1501676"/>
            </a:xfrm>
            <a:custGeom>
              <a:avLst/>
              <a:gdLst/>
              <a:ahLst/>
              <a:cxnLst/>
              <a:rect l="l" t="t" r="r" b="b"/>
              <a:pathLst>
                <a:path w="10702" h="10986" extrusionOk="0">
                  <a:moveTo>
                    <a:pt x="8295" y="105"/>
                  </a:moveTo>
                  <a:cubicBezTo>
                    <a:pt x="8475" y="105"/>
                    <a:pt x="8651" y="134"/>
                    <a:pt x="8835" y="201"/>
                  </a:cubicBezTo>
                  <a:cubicBezTo>
                    <a:pt x="9953" y="584"/>
                    <a:pt x="10355" y="1624"/>
                    <a:pt x="10397" y="2262"/>
                  </a:cubicBezTo>
                  <a:cubicBezTo>
                    <a:pt x="10415" y="2590"/>
                    <a:pt x="10378" y="2876"/>
                    <a:pt x="10281" y="3089"/>
                  </a:cubicBezTo>
                  <a:cubicBezTo>
                    <a:pt x="10184" y="3320"/>
                    <a:pt x="10008" y="3472"/>
                    <a:pt x="9722" y="3551"/>
                  </a:cubicBezTo>
                  <a:cubicBezTo>
                    <a:pt x="9107" y="3745"/>
                    <a:pt x="8853" y="3916"/>
                    <a:pt x="8853" y="3916"/>
                  </a:cubicBezTo>
                  <a:lnTo>
                    <a:pt x="8835" y="3934"/>
                  </a:lnTo>
                  <a:lnTo>
                    <a:pt x="8835" y="3957"/>
                  </a:lnTo>
                  <a:lnTo>
                    <a:pt x="8835" y="4784"/>
                  </a:lnTo>
                  <a:cubicBezTo>
                    <a:pt x="8835" y="5089"/>
                    <a:pt x="8895" y="5727"/>
                    <a:pt x="8969" y="6268"/>
                  </a:cubicBezTo>
                  <a:cubicBezTo>
                    <a:pt x="9047" y="6822"/>
                    <a:pt x="9126" y="7307"/>
                    <a:pt x="9126" y="7307"/>
                  </a:cubicBezTo>
                  <a:lnTo>
                    <a:pt x="9144" y="7400"/>
                  </a:lnTo>
                  <a:lnTo>
                    <a:pt x="9200" y="7344"/>
                  </a:lnTo>
                  <a:cubicBezTo>
                    <a:pt x="9381" y="7163"/>
                    <a:pt x="9591" y="7080"/>
                    <a:pt x="9788" y="7080"/>
                  </a:cubicBezTo>
                  <a:cubicBezTo>
                    <a:pt x="9908" y="7080"/>
                    <a:pt x="10023" y="7111"/>
                    <a:pt x="10124" y="7169"/>
                  </a:cubicBezTo>
                  <a:cubicBezTo>
                    <a:pt x="10415" y="7307"/>
                    <a:pt x="10609" y="7612"/>
                    <a:pt x="10531" y="8056"/>
                  </a:cubicBezTo>
                  <a:cubicBezTo>
                    <a:pt x="10434" y="8499"/>
                    <a:pt x="10184" y="8670"/>
                    <a:pt x="9935" y="8767"/>
                  </a:cubicBezTo>
                  <a:cubicBezTo>
                    <a:pt x="9777" y="8821"/>
                    <a:pt x="9620" y="8829"/>
                    <a:pt x="9536" y="8829"/>
                  </a:cubicBezTo>
                  <a:cubicBezTo>
                    <a:pt x="9496" y="8829"/>
                    <a:pt x="9473" y="8827"/>
                    <a:pt x="9473" y="8827"/>
                  </a:cubicBezTo>
                  <a:lnTo>
                    <a:pt x="9412" y="8809"/>
                  </a:lnTo>
                  <a:lnTo>
                    <a:pt x="9412" y="8883"/>
                  </a:lnTo>
                  <a:cubicBezTo>
                    <a:pt x="9412" y="8883"/>
                    <a:pt x="9473" y="9155"/>
                    <a:pt x="9473" y="9442"/>
                  </a:cubicBezTo>
                  <a:cubicBezTo>
                    <a:pt x="9454" y="9594"/>
                    <a:pt x="9431" y="9752"/>
                    <a:pt x="9375" y="9886"/>
                  </a:cubicBezTo>
                  <a:cubicBezTo>
                    <a:pt x="9315" y="10001"/>
                    <a:pt x="9223" y="10117"/>
                    <a:pt x="9084" y="10172"/>
                  </a:cubicBezTo>
                  <a:cubicBezTo>
                    <a:pt x="8920" y="10252"/>
                    <a:pt x="8759" y="10281"/>
                    <a:pt x="8612" y="10281"/>
                  </a:cubicBezTo>
                  <a:cubicBezTo>
                    <a:pt x="8223" y="10281"/>
                    <a:pt x="7929" y="10080"/>
                    <a:pt x="7929" y="10080"/>
                  </a:cubicBezTo>
                  <a:lnTo>
                    <a:pt x="7911" y="10056"/>
                  </a:lnTo>
                  <a:lnTo>
                    <a:pt x="7874" y="10080"/>
                  </a:lnTo>
                  <a:cubicBezTo>
                    <a:pt x="7874" y="10080"/>
                    <a:pt x="6933" y="10893"/>
                    <a:pt x="5240" y="10893"/>
                  </a:cubicBezTo>
                  <a:cubicBezTo>
                    <a:pt x="5169" y="10893"/>
                    <a:pt x="5096" y="10891"/>
                    <a:pt x="5023" y="10888"/>
                  </a:cubicBezTo>
                  <a:cubicBezTo>
                    <a:pt x="4099" y="10847"/>
                    <a:pt x="3655" y="10542"/>
                    <a:pt x="3424" y="10269"/>
                  </a:cubicBezTo>
                  <a:cubicBezTo>
                    <a:pt x="3193" y="9983"/>
                    <a:pt x="3175" y="9710"/>
                    <a:pt x="3175" y="9710"/>
                  </a:cubicBezTo>
                  <a:lnTo>
                    <a:pt x="3078" y="9691"/>
                  </a:lnTo>
                  <a:cubicBezTo>
                    <a:pt x="3078" y="9691"/>
                    <a:pt x="3041" y="9807"/>
                    <a:pt x="2907" y="9922"/>
                  </a:cubicBezTo>
                  <a:cubicBezTo>
                    <a:pt x="2806" y="10007"/>
                    <a:pt x="2647" y="10105"/>
                    <a:pt x="2406" y="10105"/>
                  </a:cubicBezTo>
                  <a:cubicBezTo>
                    <a:pt x="2370" y="10105"/>
                    <a:pt x="2332" y="10103"/>
                    <a:pt x="2292" y="10098"/>
                  </a:cubicBezTo>
                  <a:cubicBezTo>
                    <a:pt x="1964" y="10038"/>
                    <a:pt x="1849" y="9922"/>
                    <a:pt x="1788" y="9825"/>
                  </a:cubicBezTo>
                  <a:cubicBezTo>
                    <a:pt x="1733" y="9733"/>
                    <a:pt x="1752" y="9636"/>
                    <a:pt x="1752" y="9636"/>
                  </a:cubicBezTo>
                  <a:lnTo>
                    <a:pt x="1752" y="9520"/>
                  </a:lnTo>
                  <a:lnTo>
                    <a:pt x="1654" y="9576"/>
                  </a:lnTo>
                  <a:cubicBezTo>
                    <a:pt x="1654" y="9576"/>
                    <a:pt x="1389" y="9768"/>
                    <a:pt x="1081" y="9768"/>
                  </a:cubicBezTo>
                  <a:cubicBezTo>
                    <a:pt x="1010" y="9768"/>
                    <a:pt x="937" y="9758"/>
                    <a:pt x="864" y="9733"/>
                  </a:cubicBezTo>
                  <a:cubicBezTo>
                    <a:pt x="652" y="9673"/>
                    <a:pt x="481" y="9502"/>
                    <a:pt x="421" y="9289"/>
                  </a:cubicBezTo>
                  <a:cubicBezTo>
                    <a:pt x="347" y="9077"/>
                    <a:pt x="384" y="8809"/>
                    <a:pt x="633" y="8518"/>
                  </a:cubicBezTo>
                  <a:cubicBezTo>
                    <a:pt x="839" y="8242"/>
                    <a:pt x="1107" y="8168"/>
                    <a:pt x="1339" y="8168"/>
                  </a:cubicBezTo>
                  <a:cubicBezTo>
                    <a:pt x="1368" y="8168"/>
                    <a:pt x="1396" y="8169"/>
                    <a:pt x="1423" y="8171"/>
                  </a:cubicBezTo>
                  <a:cubicBezTo>
                    <a:pt x="1673" y="8190"/>
                    <a:pt x="1867" y="8287"/>
                    <a:pt x="1867" y="8287"/>
                  </a:cubicBezTo>
                  <a:lnTo>
                    <a:pt x="1904" y="8305"/>
                  </a:lnTo>
                  <a:lnTo>
                    <a:pt x="1922" y="8268"/>
                  </a:lnTo>
                  <a:cubicBezTo>
                    <a:pt x="1922" y="8268"/>
                    <a:pt x="2001" y="8153"/>
                    <a:pt x="2038" y="7959"/>
                  </a:cubicBezTo>
                  <a:cubicBezTo>
                    <a:pt x="2080" y="7746"/>
                    <a:pt x="2061" y="7460"/>
                    <a:pt x="1904" y="7113"/>
                  </a:cubicBezTo>
                  <a:cubicBezTo>
                    <a:pt x="1752" y="6748"/>
                    <a:pt x="1423" y="6383"/>
                    <a:pt x="1095" y="5977"/>
                  </a:cubicBezTo>
                  <a:cubicBezTo>
                    <a:pt x="767" y="5575"/>
                    <a:pt x="444" y="5149"/>
                    <a:pt x="268" y="4687"/>
                  </a:cubicBezTo>
                  <a:cubicBezTo>
                    <a:pt x="116" y="4225"/>
                    <a:pt x="171" y="3800"/>
                    <a:pt x="365" y="3417"/>
                  </a:cubicBezTo>
                  <a:cubicBezTo>
                    <a:pt x="559" y="3052"/>
                    <a:pt x="864" y="2705"/>
                    <a:pt x="1155" y="2433"/>
                  </a:cubicBezTo>
                  <a:cubicBezTo>
                    <a:pt x="1733" y="1897"/>
                    <a:pt x="2597" y="857"/>
                    <a:pt x="4736" y="778"/>
                  </a:cubicBezTo>
                  <a:cubicBezTo>
                    <a:pt x="5795" y="741"/>
                    <a:pt x="6566" y="492"/>
                    <a:pt x="7181" y="316"/>
                  </a:cubicBezTo>
                  <a:cubicBezTo>
                    <a:pt x="7490" y="219"/>
                    <a:pt x="7777" y="145"/>
                    <a:pt x="8045" y="122"/>
                  </a:cubicBezTo>
                  <a:cubicBezTo>
                    <a:pt x="8130" y="111"/>
                    <a:pt x="8213" y="105"/>
                    <a:pt x="8295" y="105"/>
                  </a:cubicBezTo>
                  <a:close/>
                  <a:moveTo>
                    <a:pt x="8217" y="0"/>
                  </a:moveTo>
                  <a:cubicBezTo>
                    <a:pt x="8154" y="0"/>
                    <a:pt x="8091" y="3"/>
                    <a:pt x="8026" y="7"/>
                  </a:cubicBezTo>
                  <a:cubicBezTo>
                    <a:pt x="7758" y="48"/>
                    <a:pt x="7467" y="122"/>
                    <a:pt x="7162" y="219"/>
                  </a:cubicBezTo>
                  <a:cubicBezTo>
                    <a:pt x="6525" y="395"/>
                    <a:pt x="5776" y="626"/>
                    <a:pt x="4718" y="681"/>
                  </a:cubicBezTo>
                  <a:cubicBezTo>
                    <a:pt x="2560" y="760"/>
                    <a:pt x="1654" y="1818"/>
                    <a:pt x="1077" y="2359"/>
                  </a:cubicBezTo>
                  <a:cubicBezTo>
                    <a:pt x="790" y="2627"/>
                    <a:pt x="481" y="2973"/>
                    <a:pt x="268" y="3380"/>
                  </a:cubicBezTo>
                  <a:cubicBezTo>
                    <a:pt x="74" y="3782"/>
                    <a:pt x="0" y="4225"/>
                    <a:pt x="171" y="4724"/>
                  </a:cubicBezTo>
                  <a:cubicBezTo>
                    <a:pt x="347" y="5205"/>
                    <a:pt x="693" y="5648"/>
                    <a:pt x="1021" y="6037"/>
                  </a:cubicBezTo>
                  <a:cubicBezTo>
                    <a:pt x="1345" y="6439"/>
                    <a:pt x="1654" y="6804"/>
                    <a:pt x="1807" y="7150"/>
                  </a:cubicBezTo>
                  <a:cubicBezTo>
                    <a:pt x="1964" y="7497"/>
                    <a:pt x="1964" y="7746"/>
                    <a:pt x="1946" y="7940"/>
                  </a:cubicBezTo>
                  <a:cubicBezTo>
                    <a:pt x="1904" y="8093"/>
                    <a:pt x="1867" y="8153"/>
                    <a:pt x="1849" y="8171"/>
                  </a:cubicBezTo>
                  <a:cubicBezTo>
                    <a:pt x="1807" y="8153"/>
                    <a:pt x="1673" y="8093"/>
                    <a:pt x="1423" y="8074"/>
                  </a:cubicBezTo>
                  <a:cubicBezTo>
                    <a:pt x="1395" y="8072"/>
                    <a:pt x="1366" y="8071"/>
                    <a:pt x="1337" y="8071"/>
                  </a:cubicBezTo>
                  <a:cubicBezTo>
                    <a:pt x="1084" y="8071"/>
                    <a:pt x="780" y="8150"/>
                    <a:pt x="536" y="8439"/>
                  </a:cubicBezTo>
                  <a:cubicBezTo>
                    <a:pt x="287" y="8767"/>
                    <a:pt x="231" y="9077"/>
                    <a:pt x="305" y="9326"/>
                  </a:cubicBezTo>
                  <a:cubicBezTo>
                    <a:pt x="402" y="9576"/>
                    <a:pt x="596" y="9752"/>
                    <a:pt x="827" y="9849"/>
                  </a:cubicBezTo>
                  <a:cubicBezTo>
                    <a:pt x="911" y="9878"/>
                    <a:pt x="994" y="9890"/>
                    <a:pt x="1074" y="9890"/>
                  </a:cubicBezTo>
                  <a:cubicBezTo>
                    <a:pt x="1357" y="9890"/>
                    <a:pt x="1593" y="9738"/>
                    <a:pt x="1654" y="9691"/>
                  </a:cubicBezTo>
                  <a:cubicBezTo>
                    <a:pt x="1654" y="9752"/>
                    <a:pt x="1654" y="9788"/>
                    <a:pt x="1691" y="9886"/>
                  </a:cubicBezTo>
                  <a:cubicBezTo>
                    <a:pt x="1770" y="10001"/>
                    <a:pt x="1946" y="10154"/>
                    <a:pt x="2269" y="10195"/>
                  </a:cubicBezTo>
                  <a:cubicBezTo>
                    <a:pt x="2312" y="10200"/>
                    <a:pt x="2352" y="10202"/>
                    <a:pt x="2392" y="10202"/>
                  </a:cubicBezTo>
                  <a:cubicBezTo>
                    <a:pt x="2656" y="10202"/>
                    <a:pt x="2848" y="10102"/>
                    <a:pt x="2985" y="10001"/>
                  </a:cubicBezTo>
                  <a:cubicBezTo>
                    <a:pt x="3059" y="9922"/>
                    <a:pt x="3078" y="9886"/>
                    <a:pt x="3101" y="9825"/>
                  </a:cubicBezTo>
                  <a:cubicBezTo>
                    <a:pt x="3119" y="9941"/>
                    <a:pt x="3175" y="10117"/>
                    <a:pt x="3332" y="10329"/>
                  </a:cubicBezTo>
                  <a:cubicBezTo>
                    <a:pt x="3581" y="10634"/>
                    <a:pt x="4080" y="10944"/>
                    <a:pt x="5004" y="10981"/>
                  </a:cubicBezTo>
                  <a:cubicBezTo>
                    <a:pt x="5086" y="10984"/>
                    <a:pt x="5167" y="10986"/>
                    <a:pt x="5245" y="10986"/>
                  </a:cubicBezTo>
                  <a:cubicBezTo>
                    <a:pt x="6941" y="10986"/>
                    <a:pt x="7875" y="10212"/>
                    <a:pt x="7911" y="10172"/>
                  </a:cubicBezTo>
                  <a:cubicBezTo>
                    <a:pt x="7940" y="10201"/>
                    <a:pt x="8228" y="10384"/>
                    <a:pt x="8613" y="10384"/>
                  </a:cubicBezTo>
                  <a:cubicBezTo>
                    <a:pt x="8771" y="10384"/>
                    <a:pt x="8946" y="10354"/>
                    <a:pt x="9126" y="10269"/>
                  </a:cubicBezTo>
                  <a:cubicBezTo>
                    <a:pt x="9297" y="10195"/>
                    <a:pt x="9394" y="10080"/>
                    <a:pt x="9473" y="9922"/>
                  </a:cubicBezTo>
                  <a:cubicBezTo>
                    <a:pt x="9528" y="9770"/>
                    <a:pt x="9570" y="9594"/>
                    <a:pt x="9570" y="9442"/>
                  </a:cubicBezTo>
                  <a:cubicBezTo>
                    <a:pt x="9588" y="9174"/>
                    <a:pt x="9528" y="8961"/>
                    <a:pt x="9528" y="8924"/>
                  </a:cubicBezTo>
                  <a:cubicBezTo>
                    <a:pt x="9541" y="8924"/>
                    <a:pt x="9568" y="8926"/>
                    <a:pt x="9605" y="8926"/>
                  </a:cubicBezTo>
                  <a:cubicBezTo>
                    <a:pt x="9685" y="8926"/>
                    <a:pt x="9814" y="8918"/>
                    <a:pt x="9972" y="8864"/>
                  </a:cubicBezTo>
                  <a:cubicBezTo>
                    <a:pt x="10240" y="8767"/>
                    <a:pt x="10531" y="8536"/>
                    <a:pt x="10628" y="8074"/>
                  </a:cubicBezTo>
                  <a:cubicBezTo>
                    <a:pt x="10702" y="7594"/>
                    <a:pt x="10494" y="7229"/>
                    <a:pt x="10184" y="7076"/>
                  </a:cubicBezTo>
                  <a:cubicBezTo>
                    <a:pt x="10076" y="7018"/>
                    <a:pt x="9956" y="6990"/>
                    <a:pt x="9832" y="6990"/>
                  </a:cubicBezTo>
                  <a:cubicBezTo>
                    <a:pt x="9622" y="6990"/>
                    <a:pt x="9403" y="7072"/>
                    <a:pt x="9223" y="7229"/>
                  </a:cubicBezTo>
                  <a:cubicBezTo>
                    <a:pt x="9200" y="7169"/>
                    <a:pt x="9144" y="6785"/>
                    <a:pt x="9084" y="6268"/>
                  </a:cubicBezTo>
                  <a:cubicBezTo>
                    <a:pt x="9010" y="5709"/>
                    <a:pt x="8932" y="5071"/>
                    <a:pt x="8932" y="4784"/>
                  </a:cubicBezTo>
                  <a:cubicBezTo>
                    <a:pt x="8932" y="4188"/>
                    <a:pt x="8950" y="4013"/>
                    <a:pt x="8950" y="3994"/>
                  </a:cubicBezTo>
                  <a:cubicBezTo>
                    <a:pt x="8950" y="3994"/>
                    <a:pt x="9144" y="3842"/>
                    <a:pt x="9740" y="3666"/>
                  </a:cubicBezTo>
                  <a:cubicBezTo>
                    <a:pt x="10050" y="3569"/>
                    <a:pt x="10263" y="3380"/>
                    <a:pt x="10378" y="3149"/>
                  </a:cubicBezTo>
                  <a:cubicBezTo>
                    <a:pt x="10494" y="2895"/>
                    <a:pt x="10512" y="2590"/>
                    <a:pt x="10494" y="2262"/>
                  </a:cubicBezTo>
                  <a:cubicBezTo>
                    <a:pt x="10452" y="1569"/>
                    <a:pt x="10032" y="510"/>
                    <a:pt x="8876" y="104"/>
                  </a:cubicBezTo>
                  <a:cubicBezTo>
                    <a:pt x="8650" y="28"/>
                    <a:pt x="8438" y="0"/>
                    <a:pt x="821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6841981" y="2138919"/>
              <a:ext cx="394897" cy="942751"/>
            </a:xfrm>
            <a:custGeom>
              <a:avLst/>
              <a:gdLst/>
              <a:ahLst/>
              <a:cxnLst/>
              <a:rect l="l" t="t" r="r" b="b"/>
              <a:pathLst>
                <a:path w="2889" h="6897" extrusionOk="0">
                  <a:moveTo>
                    <a:pt x="64" y="0"/>
                  </a:moveTo>
                  <a:cubicBezTo>
                    <a:pt x="43" y="0"/>
                    <a:pt x="21" y="1"/>
                    <a:pt x="0" y="3"/>
                  </a:cubicBezTo>
                  <a:cubicBezTo>
                    <a:pt x="0" y="3"/>
                    <a:pt x="171" y="562"/>
                    <a:pt x="171" y="927"/>
                  </a:cubicBezTo>
                  <a:cubicBezTo>
                    <a:pt x="171" y="1297"/>
                    <a:pt x="268" y="1717"/>
                    <a:pt x="250" y="2198"/>
                  </a:cubicBezTo>
                  <a:cubicBezTo>
                    <a:pt x="231" y="2683"/>
                    <a:pt x="347" y="4453"/>
                    <a:pt x="444" y="5146"/>
                  </a:cubicBezTo>
                  <a:cubicBezTo>
                    <a:pt x="536" y="5839"/>
                    <a:pt x="1271" y="6897"/>
                    <a:pt x="1271" y="6897"/>
                  </a:cubicBezTo>
                  <a:cubicBezTo>
                    <a:pt x="1271" y="6897"/>
                    <a:pt x="2269" y="6878"/>
                    <a:pt x="2579" y="6398"/>
                  </a:cubicBezTo>
                  <a:cubicBezTo>
                    <a:pt x="2888" y="5917"/>
                    <a:pt x="2713" y="5432"/>
                    <a:pt x="2463" y="4799"/>
                  </a:cubicBezTo>
                  <a:cubicBezTo>
                    <a:pt x="2214" y="4143"/>
                    <a:pt x="1229" y="1066"/>
                    <a:pt x="1156" y="696"/>
                  </a:cubicBezTo>
                  <a:cubicBezTo>
                    <a:pt x="1081" y="348"/>
                    <a:pt x="502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6833780" y="2131401"/>
              <a:ext cx="392300" cy="958470"/>
            </a:xfrm>
            <a:custGeom>
              <a:avLst/>
              <a:gdLst/>
              <a:ahLst/>
              <a:cxnLst/>
              <a:rect l="l" t="t" r="r" b="b"/>
              <a:pathLst>
                <a:path w="2870" h="7012" extrusionOk="0">
                  <a:moveTo>
                    <a:pt x="134" y="137"/>
                  </a:moveTo>
                  <a:cubicBezTo>
                    <a:pt x="328" y="137"/>
                    <a:pt x="559" y="197"/>
                    <a:pt x="753" y="312"/>
                  </a:cubicBezTo>
                  <a:cubicBezTo>
                    <a:pt x="966" y="428"/>
                    <a:pt x="1137" y="617"/>
                    <a:pt x="1155" y="774"/>
                  </a:cubicBezTo>
                  <a:cubicBezTo>
                    <a:pt x="1197" y="867"/>
                    <a:pt x="1252" y="1121"/>
                    <a:pt x="1368" y="1486"/>
                  </a:cubicBezTo>
                  <a:cubicBezTo>
                    <a:pt x="1465" y="1832"/>
                    <a:pt x="1617" y="2253"/>
                    <a:pt x="1751" y="2715"/>
                  </a:cubicBezTo>
                  <a:cubicBezTo>
                    <a:pt x="2043" y="3602"/>
                    <a:pt x="2329" y="4545"/>
                    <a:pt x="2468" y="4873"/>
                  </a:cubicBezTo>
                  <a:cubicBezTo>
                    <a:pt x="2602" y="5201"/>
                    <a:pt x="2699" y="5469"/>
                    <a:pt x="2736" y="5718"/>
                  </a:cubicBezTo>
                  <a:cubicBezTo>
                    <a:pt x="2773" y="5972"/>
                    <a:pt x="2736" y="6180"/>
                    <a:pt x="2602" y="6434"/>
                  </a:cubicBezTo>
                  <a:cubicBezTo>
                    <a:pt x="2445" y="6642"/>
                    <a:pt x="2140" y="6781"/>
                    <a:pt x="1849" y="6836"/>
                  </a:cubicBezTo>
                  <a:cubicBezTo>
                    <a:pt x="1581" y="6896"/>
                    <a:pt x="1386" y="6896"/>
                    <a:pt x="1349" y="6896"/>
                  </a:cubicBezTo>
                  <a:cubicBezTo>
                    <a:pt x="1349" y="6873"/>
                    <a:pt x="1174" y="6642"/>
                    <a:pt x="1003" y="6319"/>
                  </a:cubicBezTo>
                  <a:cubicBezTo>
                    <a:pt x="809" y="5972"/>
                    <a:pt x="596" y="5529"/>
                    <a:pt x="559" y="5201"/>
                  </a:cubicBezTo>
                  <a:cubicBezTo>
                    <a:pt x="462" y="4508"/>
                    <a:pt x="347" y="2715"/>
                    <a:pt x="365" y="2253"/>
                  </a:cubicBezTo>
                  <a:cubicBezTo>
                    <a:pt x="388" y="1754"/>
                    <a:pt x="291" y="1352"/>
                    <a:pt x="291" y="982"/>
                  </a:cubicBezTo>
                  <a:cubicBezTo>
                    <a:pt x="291" y="636"/>
                    <a:pt x="157" y="215"/>
                    <a:pt x="134" y="137"/>
                  </a:cubicBezTo>
                  <a:close/>
                  <a:moveTo>
                    <a:pt x="122" y="0"/>
                  </a:moveTo>
                  <a:cubicBezTo>
                    <a:pt x="102" y="0"/>
                    <a:pt x="81" y="1"/>
                    <a:pt x="60" y="3"/>
                  </a:cubicBezTo>
                  <a:lnTo>
                    <a:pt x="0" y="21"/>
                  </a:lnTo>
                  <a:lnTo>
                    <a:pt x="19" y="81"/>
                  </a:lnTo>
                  <a:cubicBezTo>
                    <a:pt x="19" y="81"/>
                    <a:pt x="194" y="617"/>
                    <a:pt x="176" y="982"/>
                  </a:cubicBezTo>
                  <a:cubicBezTo>
                    <a:pt x="176" y="1370"/>
                    <a:pt x="273" y="1772"/>
                    <a:pt x="250" y="2253"/>
                  </a:cubicBezTo>
                  <a:cubicBezTo>
                    <a:pt x="231" y="2738"/>
                    <a:pt x="347" y="4508"/>
                    <a:pt x="462" y="5201"/>
                  </a:cubicBezTo>
                  <a:cubicBezTo>
                    <a:pt x="504" y="5566"/>
                    <a:pt x="712" y="6009"/>
                    <a:pt x="906" y="6356"/>
                  </a:cubicBezTo>
                  <a:cubicBezTo>
                    <a:pt x="1100" y="6721"/>
                    <a:pt x="1289" y="6989"/>
                    <a:pt x="1289" y="6989"/>
                  </a:cubicBezTo>
                  <a:lnTo>
                    <a:pt x="1289" y="7012"/>
                  </a:lnTo>
                  <a:lnTo>
                    <a:pt x="1331" y="7012"/>
                  </a:lnTo>
                  <a:cubicBezTo>
                    <a:pt x="1331" y="7012"/>
                    <a:pt x="1581" y="7012"/>
                    <a:pt x="1867" y="6933"/>
                  </a:cubicBezTo>
                  <a:cubicBezTo>
                    <a:pt x="2177" y="6873"/>
                    <a:pt x="2505" y="6739"/>
                    <a:pt x="2676" y="6471"/>
                  </a:cubicBezTo>
                  <a:cubicBezTo>
                    <a:pt x="2833" y="6222"/>
                    <a:pt x="2870" y="5972"/>
                    <a:pt x="2833" y="5700"/>
                  </a:cubicBezTo>
                  <a:cubicBezTo>
                    <a:pt x="2791" y="5432"/>
                    <a:pt x="2699" y="5164"/>
                    <a:pt x="2560" y="4836"/>
                  </a:cubicBezTo>
                  <a:cubicBezTo>
                    <a:pt x="2445" y="4508"/>
                    <a:pt x="2140" y="3583"/>
                    <a:pt x="1849" y="2678"/>
                  </a:cubicBezTo>
                  <a:cubicBezTo>
                    <a:pt x="1715" y="2234"/>
                    <a:pt x="1581" y="1791"/>
                    <a:pt x="1465" y="1444"/>
                  </a:cubicBezTo>
                  <a:cubicBezTo>
                    <a:pt x="1368" y="1098"/>
                    <a:pt x="1289" y="830"/>
                    <a:pt x="1271" y="751"/>
                  </a:cubicBezTo>
                  <a:cubicBezTo>
                    <a:pt x="1216" y="543"/>
                    <a:pt x="1040" y="349"/>
                    <a:pt x="809" y="215"/>
                  </a:cubicBezTo>
                  <a:cubicBezTo>
                    <a:pt x="597" y="92"/>
                    <a:pt x="354" y="0"/>
                    <a:pt x="1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7031434" y="2479005"/>
              <a:ext cx="550314" cy="764097"/>
            </a:xfrm>
            <a:custGeom>
              <a:avLst/>
              <a:gdLst/>
              <a:ahLst/>
              <a:cxnLst/>
              <a:rect l="l" t="t" r="r" b="b"/>
              <a:pathLst>
                <a:path w="4026" h="5590" extrusionOk="0">
                  <a:moveTo>
                    <a:pt x="1059" y="1"/>
                  </a:moveTo>
                  <a:cubicBezTo>
                    <a:pt x="1059" y="1"/>
                    <a:pt x="962" y="195"/>
                    <a:pt x="925" y="329"/>
                  </a:cubicBezTo>
                  <a:cubicBezTo>
                    <a:pt x="883" y="481"/>
                    <a:pt x="712" y="541"/>
                    <a:pt x="500" y="791"/>
                  </a:cubicBezTo>
                  <a:cubicBezTo>
                    <a:pt x="287" y="1059"/>
                    <a:pt x="421" y="1174"/>
                    <a:pt x="421" y="1618"/>
                  </a:cubicBezTo>
                  <a:cubicBezTo>
                    <a:pt x="421" y="2080"/>
                    <a:pt x="403" y="1983"/>
                    <a:pt x="269" y="2311"/>
                  </a:cubicBezTo>
                  <a:cubicBezTo>
                    <a:pt x="135" y="2658"/>
                    <a:pt x="1" y="3120"/>
                    <a:pt x="116" y="3947"/>
                  </a:cubicBezTo>
                  <a:cubicBezTo>
                    <a:pt x="190" y="4603"/>
                    <a:pt x="597" y="5430"/>
                    <a:pt x="1387" y="5564"/>
                  </a:cubicBezTo>
                  <a:cubicBezTo>
                    <a:pt x="1490" y="5581"/>
                    <a:pt x="1597" y="5589"/>
                    <a:pt x="1706" y="5589"/>
                  </a:cubicBezTo>
                  <a:cubicBezTo>
                    <a:pt x="2451" y="5589"/>
                    <a:pt x="3278" y="5211"/>
                    <a:pt x="3447" y="4755"/>
                  </a:cubicBezTo>
                  <a:cubicBezTo>
                    <a:pt x="3618" y="4238"/>
                    <a:pt x="3350" y="3466"/>
                    <a:pt x="3350" y="3466"/>
                  </a:cubicBezTo>
                  <a:cubicBezTo>
                    <a:pt x="3350" y="3466"/>
                    <a:pt x="3715" y="2889"/>
                    <a:pt x="3868" y="2505"/>
                  </a:cubicBezTo>
                  <a:cubicBezTo>
                    <a:pt x="4025" y="2136"/>
                    <a:pt x="3813" y="1928"/>
                    <a:pt x="3581" y="1369"/>
                  </a:cubicBezTo>
                  <a:cubicBezTo>
                    <a:pt x="3369" y="809"/>
                    <a:pt x="3540" y="694"/>
                    <a:pt x="3540" y="694"/>
                  </a:cubicBezTo>
                  <a:lnTo>
                    <a:pt x="10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7023233" y="2468343"/>
              <a:ext cx="552774" cy="782277"/>
            </a:xfrm>
            <a:custGeom>
              <a:avLst/>
              <a:gdLst/>
              <a:ahLst/>
              <a:cxnLst/>
              <a:rect l="l" t="t" r="r" b="b"/>
              <a:pathLst>
                <a:path w="4044" h="5723" extrusionOk="0">
                  <a:moveTo>
                    <a:pt x="1156" y="134"/>
                  </a:moveTo>
                  <a:lnTo>
                    <a:pt x="3526" y="809"/>
                  </a:lnTo>
                  <a:cubicBezTo>
                    <a:pt x="3507" y="827"/>
                    <a:pt x="3507" y="850"/>
                    <a:pt x="3484" y="887"/>
                  </a:cubicBezTo>
                  <a:cubicBezTo>
                    <a:pt x="3466" y="1003"/>
                    <a:pt x="3484" y="1174"/>
                    <a:pt x="3600" y="1465"/>
                  </a:cubicBezTo>
                  <a:cubicBezTo>
                    <a:pt x="3715" y="1751"/>
                    <a:pt x="3812" y="1946"/>
                    <a:pt x="3873" y="2098"/>
                  </a:cubicBezTo>
                  <a:cubicBezTo>
                    <a:pt x="3928" y="2274"/>
                    <a:pt x="3946" y="2389"/>
                    <a:pt x="3873" y="2560"/>
                  </a:cubicBezTo>
                  <a:cubicBezTo>
                    <a:pt x="3715" y="2948"/>
                    <a:pt x="3369" y="3526"/>
                    <a:pt x="3369" y="3526"/>
                  </a:cubicBezTo>
                  <a:lnTo>
                    <a:pt x="3350" y="3544"/>
                  </a:lnTo>
                  <a:lnTo>
                    <a:pt x="3350" y="3563"/>
                  </a:lnTo>
                  <a:cubicBezTo>
                    <a:pt x="3350" y="3563"/>
                    <a:pt x="3429" y="3757"/>
                    <a:pt x="3466" y="4006"/>
                  </a:cubicBezTo>
                  <a:cubicBezTo>
                    <a:pt x="3526" y="4256"/>
                    <a:pt x="3544" y="4584"/>
                    <a:pt x="3447" y="4833"/>
                  </a:cubicBezTo>
                  <a:cubicBezTo>
                    <a:pt x="3369" y="5064"/>
                    <a:pt x="3064" y="5295"/>
                    <a:pt x="2699" y="5448"/>
                  </a:cubicBezTo>
                  <a:cubicBezTo>
                    <a:pt x="2399" y="5555"/>
                    <a:pt x="2055" y="5624"/>
                    <a:pt x="1737" y="5624"/>
                  </a:cubicBezTo>
                  <a:cubicBezTo>
                    <a:pt x="1643" y="5624"/>
                    <a:pt x="1552" y="5618"/>
                    <a:pt x="1465" y="5605"/>
                  </a:cubicBezTo>
                  <a:cubicBezTo>
                    <a:pt x="1082" y="5526"/>
                    <a:pt x="791" y="5295"/>
                    <a:pt x="578" y="5009"/>
                  </a:cubicBezTo>
                  <a:cubicBezTo>
                    <a:pt x="389" y="4699"/>
                    <a:pt x="273" y="4334"/>
                    <a:pt x="213" y="4006"/>
                  </a:cubicBezTo>
                  <a:cubicBezTo>
                    <a:pt x="116" y="3198"/>
                    <a:pt x="231" y="2736"/>
                    <a:pt x="365" y="2408"/>
                  </a:cubicBezTo>
                  <a:cubicBezTo>
                    <a:pt x="523" y="2080"/>
                    <a:pt x="523" y="2158"/>
                    <a:pt x="541" y="1696"/>
                  </a:cubicBezTo>
                  <a:cubicBezTo>
                    <a:pt x="541" y="1465"/>
                    <a:pt x="504" y="1331"/>
                    <a:pt x="504" y="1215"/>
                  </a:cubicBezTo>
                  <a:cubicBezTo>
                    <a:pt x="481" y="1100"/>
                    <a:pt x="504" y="1021"/>
                    <a:pt x="597" y="906"/>
                  </a:cubicBezTo>
                  <a:cubicBezTo>
                    <a:pt x="694" y="772"/>
                    <a:pt x="791" y="693"/>
                    <a:pt x="869" y="638"/>
                  </a:cubicBezTo>
                  <a:cubicBezTo>
                    <a:pt x="943" y="559"/>
                    <a:pt x="1003" y="522"/>
                    <a:pt x="1022" y="425"/>
                  </a:cubicBezTo>
                  <a:cubicBezTo>
                    <a:pt x="1059" y="310"/>
                    <a:pt x="1137" y="176"/>
                    <a:pt x="1156" y="134"/>
                  </a:cubicBezTo>
                  <a:close/>
                  <a:moveTo>
                    <a:pt x="1100" y="0"/>
                  </a:moveTo>
                  <a:lnTo>
                    <a:pt x="1082" y="42"/>
                  </a:lnTo>
                  <a:cubicBezTo>
                    <a:pt x="1082" y="42"/>
                    <a:pt x="985" y="250"/>
                    <a:pt x="925" y="388"/>
                  </a:cubicBezTo>
                  <a:cubicBezTo>
                    <a:pt x="906" y="444"/>
                    <a:pt x="869" y="481"/>
                    <a:pt x="791" y="559"/>
                  </a:cubicBezTo>
                  <a:cubicBezTo>
                    <a:pt x="712" y="619"/>
                    <a:pt x="620" y="693"/>
                    <a:pt x="523" y="850"/>
                  </a:cubicBezTo>
                  <a:cubicBezTo>
                    <a:pt x="407" y="984"/>
                    <a:pt x="389" y="1100"/>
                    <a:pt x="389" y="1215"/>
                  </a:cubicBezTo>
                  <a:cubicBezTo>
                    <a:pt x="407" y="1349"/>
                    <a:pt x="426" y="1483"/>
                    <a:pt x="426" y="1696"/>
                  </a:cubicBezTo>
                  <a:cubicBezTo>
                    <a:pt x="426" y="2158"/>
                    <a:pt x="426" y="2043"/>
                    <a:pt x="273" y="2371"/>
                  </a:cubicBezTo>
                  <a:cubicBezTo>
                    <a:pt x="134" y="2717"/>
                    <a:pt x="0" y="3198"/>
                    <a:pt x="116" y="4025"/>
                  </a:cubicBezTo>
                  <a:cubicBezTo>
                    <a:pt x="158" y="4371"/>
                    <a:pt x="292" y="4736"/>
                    <a:pt x="504" y="5064"/>
                  </a:cubicBezTo>
                  <a:cubicBezTo>
                    <a:pt x="712" y="5374"/>
                    <a:pt x="1022" y="5624"/>
                    <a:pt x="1447" y="5702"/>
                  </a:cubicBezTo>
                  <a:cubicBezTo>
                    <a:pt x="1548" y="5716"/>
                    <a:pt x="1655" y="5723"/>
                    <a:pt x="1764" y="5723"/>
                  </a:cubicBezTo>
                  <a:cubicBezTo>
                    <a:pt x="2087" y="5723"/>
                    <a:pt x="2432" y="5662"/>
                    <a:pt x="2736" y="5545"/>
                  </a:cubicBezTo>
                  <a:cubicBezTo>
                    <a:pt x="3119" y="5374"/>
                    <a:pt x="3447" y="5143"/>
                    <a:pt x="3544" y="4852"/>
                  </a:cubicBezTo>
                  <a:cubicBezTo>
                    <a:pt x="3641" y="4584"/>
                    <a:pt x="3623" y="4256"/>
                    <a:pt x="3581" y="3988"/>
                  </a:cubicBezTo>
                  <a:cubicBezTo>
                    <a:pt x="3526" y="3738"/>
                    <a:pt x="3466" y="3581"/>
                    <a:pt x="3466" y="3563"/>
                  </a:cubicBezTo>
                  <a:cubicBezTo>
                    <a:pt x="3484" y="3526"/>
                    <a:pt x="3812" y="2985"/>
                    <a:pt x="3970" y="2602"/>
                  </a:cubicBezTo>
                  <a:cubicBezTo>
                    <a:pt x="4043" y="2408"/>
                    <a:pt x="4043" y="2237"/>
                    <a:pt x="3970" y="2061"/>
                  </a:cubicBezTo>
                  <a:cubicBezTo>
                    <a:pt x="3909" y="1890"/>
                    <a:pt x="3812" y="1715"/>
                    <a:pt x="3697" y="1428"/>
                  </a:cubicBezTo>
                  <a:cubicBezTo>
                    <a:pt x="3581" y="1155"/>
                    <a:pt x="3581" y="1003"/>
                    <a:pt x="3600" y="906"/>
                  </a:cubicBezTo>
                  <a:cubicBezTo>
                    <a:pt x="3600" y="869"/>
                    <a:pt x="3623" y="850"/>
                    <a:pt x="3623" y="827"/>
                  </a:cubicBezTo>
                  <a:lnTo>
                    <a:pt x="3641" y="809"/>
                  </a:lnTo>
                  <a:lnTo>
                    <a:pt x="3739" y="753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7215283" y="2004688"/>
              <a:ext cx="558379" cy="459552"/>
            </a:xfrm>
            <a:custGeom>
              <a:avLst/>
              <a:gdLst/>
              <a:ahLst/>
              <a:cxnLst/>
              <a:rect l="l" t="t" r="r" b="b"/>
              <a:pathLst>
                <a:path w="4085" h="3362" extrusionOk="0">
                  <a:moveTo>
                    <a:pt x="2715" y="0"/>
                  </a:moveTo>
                  <a:cubicBezTo>
                    <a:pt x="2554" y="0"/>
                    <a:pt x="2370" y="2"/>
                    <a:pt x="2158" y="5"/>
                  </a:cubicBezTo>
                  <a:cubicBezTo>
                    <a:pt x="1118" y="24"/>
                    <a:pt x="462" y="407"/>
                    <a:pt x="231" y="948"/>
                  </a:cubicBezTo>
                  <a:cubicBezTo>
                    <a:pt x="0" y="1489"/>
                    <a:pt x="97" y="2741"/>
                    <a:pt x="97" y="2741"/>
                  </a:cubicBezTo>
                  <a:cubicBezTo>
                    <a:pt x="97" y="2741"/>
                    <a:pt x="328" y="3064"/>
                    <a:pt x="716" y="3240"/>
                  </a:cubicBezTo>
                  <a:cubicBezTo>
                    <a:pt x="908" y="3337"/>
                    <a:pt x="1259" y="3361"/>
                    <a:pt x="1562" y="3361"/>
                  </a:cubicBezTo>
                  <a:cubicBezTo>
                    <a:pt x="1866" y="3361"/>
                    <a:pt x="2121" y="3337"/>
                    <a:pt x="2121" y="3337"/>
                  </a:cubicBezTo>
                  <a:cubicBezTo>
                    <a:pt x="2121" y="3337"/>
                    <a:pt x="2236" y="2644"/>
                    <a:pt x="2468" y="2528"/>
                  </a:cubicBezTo>
                  <a:cubicBezTo>
                    <a:pt x="2680" y="2413"/>
                    <a:pt x="3988" y="2413"/>
                    <a:pt x="3988" y="2413"/>
                  </a:cubicBezTo>
                  <a:cubicBezTo>
                    <a:pt x="3988" y="2413"/>
                    <a:pt x="4085" y="2182"/>
                    <a:pt x="4006" y="1660"/>
                  </a:cubicBezTo>
                  <a:cubicBezTo>
                    <a:pt x="3928" y="1142"/>
                    <a:pt x="3604" y="24"/>
                    <a:pt x="3604" y="24"/>
                  </a:cubicBezTo>
                  <a:cubicBezTo>
                    <a:pt x="3604" y="24"/>
                    <a:pt x="3356" y="0"/>
                    <a:pt x="2715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7218427" y="1997170"/>
              <a:ext cx="557832" cy="473768"/>
            </a:xfrm>
            <a:custGeom>
              <a:avLst/>
              <a:gdLst/>
              <a:ahLst/>
              <a:cxnLst/>
              <a:rect l="l" t="t" r="r" b="b"/>
              <a:pathLst>
                <a:path w="4081" h="3466" extrusionOk="0">
                  <a:moveTo>
                    <a:pt x="2857" y="108"/>
                  </a:moveTo>
                  <a:cubicBezTo>
                    <a:pt x="3336" y="108"/>
                    <a:pt x="3526" y="122"/>
                    <a:pt x="3540" y="139"/>
                  </a:cubicBezTo>
                  <a:cubicBezTo>
                    <a:pt x="3558" y="176"/>
                    <a:pt x="3849" y="1216"/>
                    <a:pt x="3928" y="1715"/>
                  </a:cubicBezTo>
                  <a:cubicBezTo>
                    <a:pt x="3965" y="1964"/>
                    <a:pt x="3965" y="2158"/>
                    <a:pt x="3965" y="2274"/>
                  </a:cubicBezTo>
                  <a:cubicBezTo>
                    <a:pt x="3946" y="2389"/>
                    <a:pt x="3946" y="2408"/>
                    <a:pt x="3928" y="2426"/>
                  </a:cubicBezTo>
                  <a:lnTo>
                    <a:pt x="3290" y="2426"/>
                  </a:lnTo>
                  <a:cubicBezTo>
                    <a:pt x="3096" y="2426"/>
                    <a:pt x="2925" y="2449"/>
                    <a:pt x="2773" y="2468"/>
                  </a:cubicBezTo>
                  <a:cubicBezTo>
                    <a:pt x="2597" y="2468"/>
                    <a:pt x="2481" y="2486"/>
                    <a:pt x="2403" y="2523"/>
                  </a:cubicBezTo>
                  <a:cubicBezTo>
                    <a:pt x="2347" y="2565"/>
                    <a:pt x="2287" y="2639"/>
                    <a:pt x="2250" y="2736"/>
                  </a:cubicBezTo>
                  <a:cubicBezTo>
                    <a:pt x="2195" y="2814"/>
                    <a:pt x="2153" y="2911"/>
                    <a:pt x="2135" y="3004"/>
                  </a:cubicBezTo>
                  <a:cubicBezTo>
                    <a:pt x="2079" y="3179"/>
                    <a:pt x="2056" y="3313"/>
                    <a:pt x="2056" y="3350"/>
                  </a:cubicBezTo>
                  <a:cubicBezTo>
                    <a:pt x="2019" y="3350"/>
                    <a:pt x="1807" y="3373"/>
                    <a:pt x="1539" y="3373"/>
                  </a:cubicBezTo>
                  <a:cubicBezTo>
                    <a:pt x="1229" y="3373"/>
                    <a:pt x="883" y="3332"/>
                    <a:pt x="712" y="3258"/>
                  </a:cubicBezTo>
                  <a:cubicBezTo>
                    <a:pt x="347" y="3082"/>
                    <a:pt x="134" y="2796"/>
                    <a:pt x="134" y="2773"/>
                  </a:cubicBezTo>
                  <a:cubicBezTo>
                    <a:pt x="134" y="2754"/>
                    <a:pt x="116" y="2468"/>
                    <a:pt x="116" y="2103"/>
                  </a:cubicBezTo>
                  <a:cubicBezTo>
                    <a:pt x="116" y="1733"/>
                    <a:pt x="153" y="1271"/>
                    <a:pt x="268" y="1021"/>
                  </a:cubicBezTo>
                  <a:cubicBezTo>
                    <a:pt x="481" y="504"/>
                    <a:pt x="1095" y="116"/>
                    <a:pt x="2135" y="116"/>
                  </a:cubicBezTo>
                  <a:cubicBezTo>
                    <a:pt x="2427" y="111"/>
                    <a:pt x="2665" y="108"/>
                    <a:pt x="2857" y="108"/>
                  </a:cubicBezTo>
                  <a:close/>
                  <a:moveTo>
                    <a:pt x="2135" y="0"/>
                  </a:moveTo>
                  <a:cubicBezTo>
                    <a:pt x="1077" y="23"/>
                    <a:pt x="402" y="407"/>
                    <a:pt x="171" y="985"/>
                  </a:cubicBezTo>
                  <a:cubicBezTo>
                    <a:pt x="37" y="1271"/>
                    <a:pt x="19" y="1715"/>
                    <a:pt x="0" y="2103"/>
                  </a:cubicBezTo>
                  <a:cubicBezTo>
                    <a:pt x="0" y="2486"/>
                    <a:pt x="19" y="2796"/>
                    <a:pt x="19" y="2796"/>
                  </a:cubicBezTo>
                  <a:lnTo>
                    <a:pt x="19" y="2814"/>
                  </a:lnTo>
                  <a:lnTo>
                    <a:pt x="37" y="2833"/>
                  </a:lnTo>
                  <a:cubicBezTo>
                    <a:pt x="37" y="2833"/>
                    <a:pt x="268" y="3161"/>
                    <a:pt x="670" y="3350"/>
                  </a:cubicBezTo>
                  <a:cubicBezTo>
                    <a:pt x="883" y="3447"/>
                    <a:pt x="1229" y="3466"/>
                    <a:pt x="1539" y="3466"/>
                  </a:cubicBezTo>
                  <a:cubicBezTo>
                    <a:pt x="1848" y="3466"/>
                    <a:pt x="2098" y="3447"/>
                    <a:pt x="2098" y="3447"/>
                  </a:cubicBezTo>
                  <a:lnTo>
                    <a:pt x="2135" y="3447"/>
                  </a:lnTo>
                  <a:lnTo>
                    <a:pt x="2135" y="3410"/>
                  </a:lnTo>
                  <a:cubicBezTo>
                    <a:pt x="2135" y="3410"/>
                    <a:pt x="2172" y="3235"/>
                    <a:pt x="2232" y="3045"/>
                  </a:cubicBezTo>
                  <a:cubicBezTo>
                    <a:pt x="2269" y="2948"/>
                    <a:pt x="2287" y="2851"/>
                    <a:pt x="2329" y="2773"/>
                  </a:cubicBezTo>
                  <a:cubicBezTo>
                    <a:pt x="2384" y="2699"/>
                    <a:pt x="2426" y="2639"/>
                    <a:pt x="2463" y="2620"/>
                  </a:cubicBezTo>
                  <a:cubicBezTo>
                    <a:pt x="2500" y="2602"/>
                    <a:pt x="2615" y="2583"/>
                    <a:pt x="2773" y="2565"/>
                  </a:cubicBezTo>
                  <a:cubicBezTo>
                    <a:pt x="2925" y="2542"/>
                    <a:pt x="3119" y="2542"/>
                    <a:pt x="3290" y="2523"/>
                  </a:cubicBezTo>
                  <a:lnTo>
                    <a:pt x="4002" y="2523"/>
                  </a:lnTo>
                  <a:lnTo>
                    <a:pt x="4020" y="2486"/>
                  </a:lnTo>
                  <a:cubicBezTo>
                    <a:pt x="4020" y="2486"/>
                    <a:pt x="4043" y="2426"/>
                    <a:pt x="4062" y="2292"/>
                  </a:cubicBezTo>
                  <a:cubicBezTo>
                    <a:pt x="4080" y="2158"/>
                    <a:pt x="4080" y="1964"/>
                    <a:pt x="4043" y="1696"/>
                  </a:cubicBezTo>
                  <a:cubicBezTo>
                    <a:pt x="3946" y="1179"/>
                    <a:pt x="3637" y="60"/>
                    <a:pt x="3637" y="60"/>
                  </a:cubicBezTo>
                  <a:lnTo>
                    <a:pt x="3618" y="23"/>
                  </a:lnTo>
                  <a:lnTo>
                    <a:pt x="3581" y="23"/>
                  </a:lnTo>
                  <a:cubicBezTo>
                    <a:pt x="3581" y="23"/>
                    <a:pt x="3193" y="0"/>
                    <a:pt x="213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7262578" y="1796235"/>
              <a:ext cx="350747" cy="305092"/>
            </a:xfrm>
            <a:custGeom>
              <a:avLst/>
              <a:gdLst/>
              <a:ahLst/>
              <a:cxnLst/>
              <a:rect l="l" t="t" r="r" b="b"/>
              <a:pathLst>
                <a:path w="2566" h="2232" extrusionOk="0">
                  <a:moveTo>
                    <a:pt x="2196" y="0"/>
                  </a:moveTo>
                  <a:cubicBezTo>
                    <a:pt x="2068" y="0"/>
                    <a:pt x="1918" y="103"/>
                    <a:pt x="1733" y="241"/>
                  </a:cubicBezTo>
                  <a:cubicBezTo>
                    <a:pt x="1387" y="491"/>
                    <a:pt x="1040" y="722"/>
                    <a:pt x="832" y="953"/>
                  </a:cubicBezTo>
                  <a:cubicBezTo>
                    <a:pt x="601" y="1202"/>
                    <a:pt x="1" y="2205"/>
                    <a:pt x="1" y="2205"/>
                  </a:cubicBezTo>
                  <a:cubicBezTo>
                    <a:pt x="1" y="2205"/>
                    <a:pt x="96" y="2232"/>
                    <a:pt x="265" y="2232"/>
                  </a:cubicBezTo>
                  <a:cubicBezTo>
                    <a:pt x="418" y="2232"/>
                    <a:pt x="631" y="2210"/>
                    <a:pt x="888" y="2126"/>
                  </a:cubicBezTo>
                  <a:cubicBezTo>
                    <a:pt x="1410" y="1974"/>
                    <a:pt x="2006" y="1701"/>
                    <a:pt x="2006" y="1701"/>
                  </a:cubicBezTo>
                  <a:cubicBezTo>
                    <a:pt x="2006" y="1701"/>
                    <a:pt x="1988" y="1165"/>
                    <a:pt x="2219" y="856"/>
                  </a:cubicBezTo>
                  <a:cubicBezTo>
                    <a:pt x="2468" y="528"/>
                    <a:pt x="2565" y="375"/>
                    <a:pt x="2426" y="163"/>
                  </a:cubicBezTo>
                  <a:cubicBezTo>
                    <a:pt x="2358" y="47"/>
                    <a:pt x="2282" y="0"/>
                    <a:pt x="2196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7257520" y="1791861"/>
              <a:ext cx="358264" cy="315891"/>
            </a:xfrm>
            <a:custGeom>
              <a:avLst/>
              <a:gdLst/>
              <a:ahLst/>
              <a:cxnLst/>
              <a:rect l="l" t="t" r="r" b="b"/>
              <a:pathLst>
                <a:path w="2621" h="2311" extrusionOk="0">
                  <a:moveTo>
                    <a:pt x="2195" y="1"/>
                  </a:moveTo>
                  <a:cubicBezTo>
                    <a:pt x="2061" y="42"/>
                    <a:pt x="1927" y="139"/>
                    <a:pt x="1770" y="255"/>
                  </a:cubicBezTo>
                  <a:cubicBezTo>
                    <a:pt x="1447" y="504"/>
                    <a:pt x="1077" y="735"/>
                    <a:pt x="846" y="985"/>
                  </a:cubicBezTo>
                  <a:cubicBezTo>
                    <a:pt x="731" y="1100"/>
                    <a:pt x="541" y="1410"/>
                    <a:pt x="366" y="1696"/>
                  </a:cubicBezTo>
                  <a:cubicBezTo>
                    <a:pt x="176" y="1964"/>
                    <a:pt x="38" y="2219"/>
                    <a:pt x="38" y="2219"/>
                  </a:cubicBezTo>
                  <a:lnTo>
                    <a:pt x="1" y="2274"/>
                  </a:lnTo>
                  <a:lnTo>
                    <a:pt x="61" y="2292"/>
                  </a:lnTo>
                  <a:cubicBezTo>
                    <a:pt x="61" y="2292"/>
                    <a:pt x="79" y="2292"/>
                    <a:pt x="98" y="2311"/>
                  </a:cubicBezTo>
                  <a:cubicBezTo>
                    <a:pt x="116" y="2255"/>
                    <a:pt x="153" y="2195"/>
                    <a:pt x="195" y="2158"/>
                  </a:cubicBezTo>
                  <a:cubicBezTo>
                    <a:pt x="250" y="2080"/>
                    <a:pt x="329" y="1946"/>
                    <a:pt x="444" y="1756"/>
                  </a:cubicBezTo>
                  <a:cubicBezTo>
                    <a:pt x="615" y="1465"/>
                    <a:pt x="828" y="1156"/>
                    <a:pt x="925" y="1040"/>
                  </a:cubicBezTo>
                  <a:cubicBezTo>
                    <a:pt x="1137" y="832"/>
                    <a:pt x="1502" y="601"/>
                    <a:pt x="1830" y="329"/>
                  </a:cubicBezTo>
                  <a:cubicBezTo>
                    <a:pt x="1983" y="213"/>
                    <a:pt x="2117" y="139"/>
                    <a:pt x="2214" y="116"/>
                  </a:cubicBezTo>
                  <a:cubicBezTo>
                    <a:pt x="2244" y="107"/>
                    <a:pt x="2268" y="102"/>
                    <a:pt x="2290" y="102"/>
                  </a:cubicBezTo>
                  <a:cubicBezTo>
                    <a:pt x="2311" y="102"/>
                    <a:pt x="2329" y="107"/>
                    <a:pt x="2348" y="116"/>
                  </a:cubicBezTo>
                  <a:cubicBezTo>
                    <a:pt x="2371" y="139"/>
                    <a:pt x="2408" y="176"/>
                    <a:pt x="2445" y="232"/>
                  </a:cubicBezTo>
                  <a:cubicBezTo>
                    <a:pt x="2524" y="347"/>
                    <a:pt x="2524" y="407"/>
                    <a:pt x="2487" y="504"/>
                  </a:cubicBezTo>
                  <a:cubicBezTo>
                    <a:pt x="2445" y="601"/>
                    <a:pt x="2371" y="717"/>
                    <a:pt x="2256" y="869"/>
                  </a:cubicBezTo>
                  <a:cubicBezTo>
                    <a:pt x="2117" y="1040"/>
                    <a:pt x="2061" y="1271"/>
                    <a:pt x="2043" y="1447"/>
                  </a:cubicBezTo>
                  <a:cubicBezTo>
                    <a:pt x="2043" y="1502"/>
                    <a:pt x="2025" y="1544"/>
                    <a:pt x="2025" y="1581"/>
                  </a:cubicBezTo>
                  <a:cubicBezTo>
                    <a:pt x="2061" y="1581"/>
                    <a:pt x="2098" y="1599"/>
                    <a:pt x="2140" y="1599"/>
                  </a:cubicBezTo>
                  <a:lnTo>
                    <a:pt x="2140" y="1465"/>
                  </a:lnTo>
                  <a:cubicBezTo>
                    <a:pt x="2177" y="1294"/>
                    <a:pt x="2232" y="1082"/>
                    <a:pt x="2329" y="948"/>
                  </a:cubicBezTo>
                  <a:cubicBezTo>
                    <a:pt x="2463" y="772"/>
                    <a:pt x="2542" y="657"/>
                    <a:pt x="2579" y="541"/>
                  </a:cubicBezTo>
                  <a:cubicBezTo>
                    <a:pt x="2621" y="426"/>
                    <a:pt x="2621" y="310"/>
                    <a:pt x="2542" y="176"/>
                  </a:cubicBezTo>
                  <a:cubicBezTo>
                    <a:pt x="2505" y="98"/>
                    <a:pt x="2445" y="61"/>
                    <a:pt x="2390" y="24"/>
                  </a:cubicBezTo>
                  <a:cubicBezTo>
                    <a:pt x="2348" y="1"/>
                    <a:pt x="2311" y="1"/>
                    <a:pt x="227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7157736" y="2361178"/>
              <a:ext cx="394897" cy="243855"/>
            </a:xfrm>
            <a:custGeom>
              <a:avLst/>
              <a:gdLst/>
              <a:ahLst/>
              <a:cxnLst/>
              <a:rect l="l" t="t" r="r" b="b"/>
              <a:pathLst>
                <a:path w="2889" h="1784" extrusionOk="0">
                  <a:moveTo>
                    <a:pt x="463" y="1"/>
                  </a:moveTo>
                  <a:cubicBezTo>
                    <a:pt x="295" y="1"/>
                    <a:pt x="145" y="442"/>
                    <a:pt x="75" y="650"/>
                  </a:cubicBezTo>
                  <a:cubicBezTo>
                    <a:pt x="1" y="881"/>
                    <a:pt x="38" y="1131"/>
                    <a:pt x="537" y="1380"/>
                  </a:cubicBezTo>
                  <a:cubicBezTo>
                    <a:pt x="970" y="1599"/>
                    <a:pt x="2013" y="1784"/>
                    <a:pt x="2431" y="1784"/>
                  </a:cubicBezTo>
                  <a:cubicBezTo>
                    <a:pt x="2498" y="1784"/>
                    <a:pt x="2549" y="1779"/>
                    <a:pt x="2579" y="1768"/>
                  </a:cubicBezTo>
                  <a:cubicBezTo>
                    <a:pt x="2791" y="1690"/>
                    <a:pt x="2889" y="900"/>
                    <a:pt x="2870" y="687"/>
                  </a:cubicBezTo>
                  <a:cubicBezTo>
                    <a:pt x="2828" y="479"/>
                    <a:pt x="2676" y="419"/>
                    <a:pt x="2676" y="419"/>
                  </a:cubicBezTo>
                  <a:lnTo>
                    <a:pt x="518" y="17"/>
                  </a:lnTo>
                  <a:cubicBezTo>
                    <a:pt x="500" y="6"/>
                    <a:pt x="481" y="1"/>
                    <a:pt x="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7152132" y="2352703"/>
              <a:ext cx="405559" cy="259711"/>
            </a:xfrm>
            <a:custGeom>
              <a:avLst/>
              <a:gdLst/>
              <a:ahLst/>
              <a:cxnLst/>
              <a:rect l="l" t="t" r="r" b="b"/>
              <a:pathLst>
                <a:path w="2967" h="1900" extrusionOk="0">
                  <a:moveTo>
                    <a:pt x="541" y="116"/>
                  </a:moveTo>
                  <a:lnTo>
                    <a:pt x="559" y="135"/>
                  </a:lnTo>
                  <a:lnTo>
                    <a:pt x="2698" y="541"/>
                  </a:lnTo>
                  <a:cubicBezTo>
                    <a:pt x="2698" y="541"/>
                    <a:pt x="2832" y="578"/>
                    <a:pt x="2851" y="749"/>
                  </a:cubicBezTo>
                  <a:cubicBezTo>
                    <a:pt x="2869" y="846"/>
                    <a:pt x="2851" y="1096"/>
                    <a:pt x="2796" y="1327"/>
                  </a:cubicBezTo>
                  <a:cubicBezTo>
                    <a:pt x="2772" y="1442"/>
                    <a:pt x="2754" y="1558"/>
                    <a:pt x="2717" y="1636"/>
                  </a:cubicBezTo>
                  <a:cubicBezTo>
                    <a:pt x="2680" y="1733"/>
                    <a:pt x="2638" y="1770"/>
                    <a:pt x="2601" y="1789"/>
                  </a:cubicBezTo>
                  <a:cubicBezTo>
                    <a:pt x="2577" y="1789"/>
                    <a:pt x="2517" y="1799"/>
                    <a:pt x="2434" y="1799"/>
                  </a:cubicBezTo>
                  <a:cubicBezTo>
                    <a:pt x="2392" y="1799"/>
                    <a:pt x="2344" y="1797"/>
                    <a:pt x="2292" y="1789"/>
                  </a:cubicBezTo>
                  <a:cubicBezTo>
                    <a:pt x="2121" y="1770"/>
                    <a:pt x="1927" y="1752"/>
                    <a:pt x="1714" y="1715"/>
                  </a:cubicBezTo>
                  <a:cubicBezTo>
                    <a:pt x="1294" y="1636"/>
                    <a:pt x="850" y="1502"/>
                    <a:pt x="601" y="1387"/>
                  </a:cubicBezTo>
                  <a:cubicBezTo>
                    <a:pt x="347" y="1271"/>
                    <a:pt x="231" y="1156"/>
                    <a:pt x="176" y="1040"/>
                  </a:cubicBezTo>
                  <a:cubicBezTo>
                    <a:pt x="116" y="943"/>
                    <a:pt x="116" y="846"/>
                    <a:pt x="157" y="731"/>
                  </a:cubicBezTo>
                  <a:cubicBezTo>
                    <a:pt x="213" y="615"/>
                    <a:pt x="273" y="444"/>
                    <a:pt x="347" y="287"/>
                  </a:cubicBezTo>
                  <a:cubicBezTo>
                    <a:pt x="370" y="232"/>
                    <a:pt x="425" y="172"/>
                    <a:pt x="444" y="135"/>
                  </a:cubicBezTo>
                  <a:cubicBezTo>
                    <a:pt x="462" y="116"/>
                    <a:pt x="485" y="116"/>
                    <a:pt x="504" y="116"/>
                  </a:cubicBezTo>
                  <a:close/>
                  <a:moveTo>
                    <a:pt x="485" y="1"/>
                  </a:moveTo>
                  <a:cubicBezTo>
                    <a:pt x="444" y="19"/>
                    <a:pt x="407" y="38"/>
                    <a:pt x="388" y="56"/>
                  </a:cubicBezTo>
                  <a:cubicBezTo>
                    <a:pt x="328" y="98"/>
                    <a:pt x="291" y="172"/>
                    <a:pt x="254" y="250"/>
                  </a:cubicBezTo>
                  <a:cubicBezTo>
                    <a:pt x="176" y="403"/>
                    <a:pt x="97" y="597"/>
                    <a:pt x="60" y="694"/>
                  </a:cubicBezTo>
                  <a:cubicBezTo>
                    <a:pt x="23" y="828"/>
                    <a:pt x="0" y="962"/>
                    <a:pt x="79" y="1096"/>
                  </a:cubicBezTo>
                  <a:cubicBezTo>
                    <a:pt x="157" y="1234"/>
                    <a:pt x="291" y="1350"/>
                    <a:pt x="559" y="1484"/>
                  </a:cubicBezTo>
                  <a:cubicBezTo>
                    <a:pt x="809" y="1618"/>
                    <a:pt x="1271" y="1733"/>
                    <a:pt x="1696" y="1812"/>
                  </a:cubicBezTo>
                  <a:cubicBezTo>
                    <a:pt x="1908" y="1849"/>
                    <a:pt x="2102" y="1886"/>
                    <a:pt x="2273" y="1886"/>
                  </a:cubicBezTo>
                  <a:cubicBezTo>
                    <a:pt x="2361" y="1895"/>
                    <a:pt x="2434" y="1900"/>
                    <a:pt x="2494" y="1900"/>
                  </a:cubicBezTo>
                  <a:cubicBezTo>
                    <a:pt x="2554" y="1900"/>
                    <a:pt x="2601" y="1895"/>
                    <a:pt x="2638" y="1886"/>
                  </a:cubicBezTo>
                  <a:cubicBezTo>
                    <a:pt x="2717" y="1849"/>
                    <a:pt x="2772" y="1770"/>
                    <a:pt x="2814" y="1696"/>
                  </a:cubicBezTo>
                  <a:cubicBezTo>
                    <a:pt x="2851" y="1599"/>
                    <a:pt x="2888" y="1484"/>
                    <a:pt x="2911" y="1350"/>
                  </a:cubicBezTo>
                  <a:cubicBezTo>
                    <a:pt x="2948" y="1119"/>
                    <a:pt x="2966" y="865"/>
                    <a:pt x="2948" y="749"/>
                  </a:cubicBezTo>
                  <a:cubicBezTo>
                    <a:pt x="2930" y="518"/>
                    <a:pt x="2735" y="444"/>
                    <a:pt x="2735" y="444"/>
                  </a:cubicBezTo>
                  <a:lnTo>
                    <a:pt x="578" y="19"/>
                  </a:lnTo>
                  <a:cubicBezTo>
                    <a:pt x="559" y="19"/>
                    <a:pt x="522" y="1"/>
                    <a:pt x="48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7886569" y="1908048"/>
              <a:ext cx="81604" cy="30208"/>
            </a:xfrm>
            <a:custGeom>
              <a:avLst/>
              <a:gdLst/>
              <a:ahLst/>
              <a:cxnLst/>
              <a:rect l="l" t="t" r="r" b="b"/>
              <a:pathLst>
                <a:path w="597" h="221" extrusionOk="0">
                  <a:moveTo>
                    <a:pt x="366" y="1"/>
                  </a:moveTo>
                  <a:cubicBezTo>
                    <a:pt x="250" y="1"/>
                    <a:pt x="172" y="56"/>
                    <a:pt x="98" y="98"/>
                  </a:cubicBezTo>
                  <a:cubicBezTo>
                    <a:pt x="79" y="98"/>
                    <a:pt x="56" y="116"/>
                    <a:pt x="38" y="116"/>
                  </a:cubicBezTo>
                  <a:cubicBezTo>
                    <a:pt x="19" y="135"/>
                    <a:pt x="1" y="172"/>
                    <a:pt x="19" y="190"/>
                  </a:cubicBezTo>
                  <a:cubicBezTo>
                    <a:pt x="32" y="207"/>
                    <a:pt x="46" y="221"/>
                    <a:pt x="61" y="221"/>
                  </a:cubicBezTo>
                  <a:cubicBezTo>
                    <a:pt x="67" y="221"/>
                    <a:pt x="73" y="219"/>
                    <a:pt x="79" y="213"/>
                  </a:cubicBezTo>
                  <a:cubicBezTo>
                    <a:pt x="98" y="190"/>
                    <a:pt x="116" y="190"/>
                    <a:pt x="135" y="172"/>
                  </a:cubicBezTo>
                  <a:cubicBezTo>
                    <a:pt x="213" y="135"/>
                    <a:pt x="287" y="116"/>
                    <a:pt x="366" y="98"/>
                  </a:cubicBezTo>
                  <a:cubicBezTo>
                    <a:pt x="426" y="98"/>
                    <a:pt x="481" y="135"/>
                    <a:pt x="518" y="172"/>
                  </a:cubicBezTo>
                  <a:cubicBezTo>
                    <a:pt x="541" y="172"/>
                    <a:pt x="578" y="172"/>
                    <a:pt x="578" y="153"/>
                  </a:cubicBezTo>
                  <a:cubicBezTo>
                    <a:pt x="597" y="135"/>
                    <a:pt x="597" y="116"/>
                    <a:pt x="578" y="98"/>
                  </a:cubicBezTo>
                  <a:cubicBezTo>
                    <a:pt x="518" y="38"/>
                    <a:pt x="444" y="1"/>
                    <a:pt x="36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7812756" y="1942221"/>
              <a:ext cx="63287" cy="30208"/>
            </a:xfrm>
            <a:custGeom>
              <a:avLst/>
              <a:gdLst/>
              <a:ahLst/>
              <a:cxnLst/>
              <a:rect l="l" t="t" r="r" b="b"/>
              <a:pathLst>
                <a:path w="463" h="221" extrusionOk="0">
                  <a:moveTo>
                    <a:pt x="388" y="0"/>
                  </a:moveTo>
                  <a:cubicBezTo>
                    <a:pt x="291" y="56"/>
                    <a:pt x="176" y="79"/>
                    <a:pt x="42" y="116"/>
                  </a:cubicBezTo>
                  <a:cubicBezTo>
                    <a:pt x="19" y="134"/>
                    <a:pt x="0" y="153"/>
                    <a:pt x="19" y="171"/>
                  </a:cubicBezTo>
                  <a:cubicBezTo>
                    <a:pt x="19" y="202"/>
                    <a:pt x="31" y="220"/>
                    <a:pt x="53" y="220"/>
                  </a:cubicBezTo>
                  <a:cubicBezTo>
                    <a:pt x="60" y="220"/>
                    <a:pt x="69" y="218"/>
                    <a:pt x="79" y="213"/>
                  </a:cubicBezTo>
                  <a:cubicBezTo>
                    <a:pt x="194" y="171"/>
                    <a:pt x="310" y="153"/>
                    <a:pt x="425" y="97"/>
                  </a:cubicBezTo>
                  <a:cubicBezTo>
                    <a:pt x="462" y="79"/>
                    <a:pt x="462" y="56"/>
                    <a:pt x="462" y="37"/>
                  </a:cubicBezTo>
                  <a:cubicBezTo>
                    <a:pt x="444" y="0"/>
                    <a:pt x="407" y="0"/>
                    <a:pt x="38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7918145" y="1948782"/>
              <a:ext cx="108122" cy="51669"/>
            </a:xfrm>
            <a:custGeom>
              <a:avLst/>
              <a:gdLst/>
              <a:ahLst/>
              <a:cxnLst/>
              <a:rect l="l" t="t" r="r" b="b"/>
              <a:pathLst>
                <a:path w="791" h="378" extrusionOk="0">
                  <a:moveTo>
                    <a:pt x="588" y="1"/>
                  </a:moveTo>
                  <a:cubicBezTo>
                    <a:pt x="510" y="1"/>
                    <a:pt x="442" y="19"/>
                    <a:pt x="384" y="49"/>
                  </a:cubicBezTo>
                  <a:cubicBezTo>
                    <a:pt x="250" y="123"/>
                    <a:pt x="153" y="220"/>
                    <a:pt x="38" y="280"/>
                  </a:cubicBezTo>
                  <a:cubicBezTo>
                    <a:pt x="19" y="299"/>
                    <a:pt x="1" y="336"/>
                    <a:pt x="19" y="354"/>
                  </a:cubicBezTo>
                  <a:cubicBezTo>
                    <a:pt x="38" y="377"/>
                    <a:pt x="56" y="377"/>
                    <a:pt x="98" y="377"/>
                  </a:cubicBezTo>
                  <a:cubicBezTo>
                    <a:pt x="213" y="299"/>
                    <a:pt x="310" y="202"/>
                    <a:pt x="426" y="146"/>
                  </a:cubicBezTo>
                  <a:cubicBezTo>
                    <a:pt x="480" y="116"/>
                    <a:pt x="537" y="98"/>
                    <a:pt x="586" y="98"/>
                  </a:cubicBezTo>
                  <a:cubicBezTo>
                    <a:pt x="603" y="98"/>
                    <a:pt x="619" y="100"/>
                    <a:pt x="634" y="105"/>
                  </a:cubicBezTo>
                  <a:cubicBezTo>
                    <a:pt x="675" y="105"/>
                    <a:pt x="694" y="123"/>
                    <a:pt x="712" y="123"/>
                  </a:cubicBezTo>
                  <a:cubicBezTo>
                    <a:pt x="720" y="133"/>
                    <a:pt x="732" y="139"/>
                    <a:pt x="744" y="139"/>
                  </a:cubicBezTo>
                  <a:cubicBezTo>
                    <a:pt x="759" y="139"/>
                    <a:pt x="772" y="129"/>
                    <a:pt x="772" y="105"/>
                  </a:cubicBezTo>
                  <a:cubicBezTo>
                    <a:pt x="791" y="86"/>
                    <a:pt x="772" y="49"/>
                    <a:pt x="749" y="49"/>
                  </a:cubicBezTo>
                  <a:cubicBezTo>
                    <a:pt x="731" y="31"/>
                    <a:pt x="694" y="31"/>
                    <a:pt x="675" y="8"/>
                  </a:cubicBezTo>
                  <a:cubicBezTo>
                    <a:pt x="645" y="3"/>
                    <a:pt x="616" y="1"/>
                    <a:pt x="5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8020526" y="1977897"/>
              <a:ext cx="21597" cy="43331"/>
            </a:xfrm>
            <a:custGeom>
              <a:avLst/>
              <a:gdLst/>
              <a:ahLst/>
              <a:cxnLst/>
              <a:rect l="l" t="t" r="r" b="b"/>
              <a:pathLst>
                <a:path w="158" h="317" extrusionOk="0">
                  <a:moveTo>
                    <a:pt x="59" y="0"/>
                  </a:moveTo>
                  <a:cubicBezTo>
                    <a:pt x="53" y="0"/>
                    <a:pt x="47" y="2"/>
                    <a:pt x="42" y="7"/>
                  </a:cubicBezTo>
                  <a:cubicBezTo>
                    <a:pt x="23" y="7"/>
                    <a:pt x="0" y="49"/>
                    <a:pt x="0" y="67"/>
                  </a:cubicBezTo>
                  <a:cubicBezTo>
                    <a:pt x="23" y="123"/>
                    <a:pt x="42" y="183"/>
                    <a:pt x="60" y="220"/>
                  </a:cubicBezTo>
                  <a:lnTo>
                    <a:pt x="60" y="280"/>
                  </a:lnTo>
                  <a:cubicBezTo>
                    <a:pt x="60" y="298"/>
                    <a:pt x="97" y="317"/>
                    <a:pt x="116" y="317"/>
                  </a:cubicBezTo>
                  <a:cubicBezTo>
                    <a:pt x="157" y="298"/>
                    <a:pt x="157" y="280"/>
                    <a:pt x="157" y="257"/>
                  </a:cubicBezTo>
                  <a:lnTo>
                    <a:pt x="157" y="201"/>
                  </a:lnTo>
                  <a:cubicBezTo>
                    <a:pt x="139" y="141"/>
                    <a:pt x="116" y="86"/>
                    <a:pt x="97" y="49"/>
                  </a:cubicBezTo>
                  <a:cubicBezTo>
                    <a:pt x="97" y="18"/>
                    <a:pt x="77" y="0"/>
                    <a:pt x="5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7999612" y="2048293"/>
              <a:ext cx="29252" cy="68755"/>
            </a:xfrm>
            <a:custGeom>
              <a:avLst/>
              <a:gdLst/>
              <a:ahLst/>
              <a:cxnLst/>
              <a:rect l="l" t="t" r="r" b="b"/>
              <a:pathLst>
                <a:path w="214" h="503" extrusionOk="0">
                  <a:moveTo>
                    <a:pt x="59" y="1"/>
                  </a:moveTo>
                  <a:cubicBezTo>
                    <a:pt x="44" y="1"/>
                    <a:pt x="29" y="5"/>
                    <a:pt x="19" y="14"/>
                  </a:cubicBezTo>
                  <a:cubicBezTo>
                    <a:pt x="1" y="14"/>
                    <a:pt x="1" y="51"/>
                    <a:pt x="19" y="70"/>
                  </a:cubicBezTo>
                  <a:cubicBezTo>
                    <a:pt x="38" y="130"/>
                    <a:pt x="79" y="167"/>
                    <a:pt x="79" y="227"/>
                  </a:cubicBezTo>
                  <a:cubicBezTo>
                    <a:pt x="98" y="282"/>
                    <a:pt x="79" y="361"/>
                    <a:pt x="61" y="435"/>
                  </a:cubicBezTo>
                  <a:cubicBezTo>
                    <a:pt x="61" y="458"/>
                    <a:pt x="61" y="477"/>
                    <a:pt x="98" y="495"/>
                  </a:cubicBezTo>
                  <a:cubicBezTo>
                    <a:pt x="103" y="500"/>
                    <a:pt x="109" y="503"/>
                    <a:pt x="114" y="503"/>
                  </a:cubicBezTo>
                  <a:cubicBezTo>
                    <a:pt x="127" y="503"/>
                    <a:pt x="140" y="490"/>
                    <a:pt x="153" y="477"/>
                  </a:cubicBezTo>
                  <a:cubicBezTo>
                    <a:pt x="195" y="379"/>
                    <a:pt x="213" y="301"/>
                    <a:pt x="195" y="204"/>
                  </a:cubicBezTo>
                  <a:cubicBezTo>
                    <a:pt x="176" y="130"/>
                    <a:pt x="135" y="70"/>
                    <a:pt x="98" y="14"/>
                  </a:cubicBezTo>
                  <a:cubicBezTo>
                    <a:pt x="89" y="5"/>
                    <a:pt x="74" y="1"/>
                    <a:pt x="5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7881512" y="2052667"/>
              <a:ext cx="97460" cy="47568"/>
            </a:xfrm>
            <a:custGeom>
              <a:avLst/>
              <a:gdLst/>
              <a:ahLst/>
              <a:cxnLst/>
              <a:rect l="l" t="t" r="r" b="b"/>
              <a:pathLst>
                <a:path w="713" h="348" extrusionOk="0">
                  <a:moveTo>
                    <a:pt x="634" y="1"/>
                  </a:moveTo>
                  <a:cubicBezTo>
                    <a:pt x="440" y="98"/>
                    <a:pt x="250" y="213"/>
                    <a:pt x="56" y="250"/>
                  </a:cubicBezTo>
                  <a:cubicBezTo>
                    <a:pt x="19" y="250"/>
                    <a:pt x="1" y="287"/>
                    <a:pt x="19" y="311"/>
                  </a:cubicBezTo>
                  <a:cubicBezTo>
                    <a:pt x="19" y="329"/>
                    <a:pt x="38" y="347"/>
                    <a:pt x="75" y="347"/>
                  </a:cubicBezTo>
                  <a:cubicBezTo>
                    <a:pt x="306" y="311"/>
                    <a:pt x="500" y="195"/>
                    <a:pt x="694" y="98"/>
                  </a:cubicBezTo>
                  <a:cubicBezTo>
                    <a:pt x="712" y="79"/>
                    <a:pt x="712" y="56"/>
                    <a:pt x="712" y="19"/>
                  </a:cubicBezTo>
                  <a:cubicBezTo>
                    <a:pt x="694" y="1"/>
                    <a:pt x="671" y="1"/>
                    <a:pt x="63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7854994" y="2186624"/>
              <a:ext cx="89805" cy="24741"/>
            </a:xfrm>
            <a:custGeom>
              <a:avLst/>
              <a:gdLst/>
              <a:ahLst/>
              <a:cxnLst/>
              <a:rect l="l" t="t" r="r" b="b"/>
              <a:pathLst>
                <a:path w="657" h="181" extrusionOk="0">
                  <a:moveTo>
                    <a:pt x="597" y="1"/>
                  </a:moveTo>
                  <a:cubicBezTo>
                    <a:pt x="449" y="36"/>
                    <a:pt x="284" y="83"/>
                    <a:pt x="129" y="83"/>
                  </a:cubicBezTo>
                  <a:cubicBezTo>
                    <a:pt x="104" y="83"/>
                    <a:pt x="80" y="82"/>
                    <a:pt x="56" y="79"/>
                  </a:cubicBezTo>
                  <a:cubicBezTo>
                    <a:pt x="19" y="79"/>
                    <a:pt x="1" y="98"/>
                    <a:pt x="1" y="139"/>
                  </a:cubicBezTo>
                  <a:cubicBezTo>
                    <a:pt x="1" y="158"/>
                    <a:pt x="19" y="176"/>
                    <a:pt x="56" y="176"/>
                  </a:cubicBezTo>
                  <a:cubicBezTo>
                    <a:pt x="90" y="179"/>
                    <a:pt x="124" y="181"/>
                    <a:pt x="158" y="181"/>
                  </a:cubicBezTo>
                  <a:cubicBezTo>
                    <a:pt x="318" y="181"/>
                    <a:pt x="474" y="147"/>
                    <a:pt x="615" y="98"/>
                  </a:cubicBezTo>
                  <a:cubicBezTo>
                    <a:pt x="657" y="98"/>
                    <a:pt x="657" y="79"/>
                    <a:pt x="657" y="42"/>
                  </a:cubicBezTo>
                  <a:cubicBezTo>
                    <a:pt x="657" y="24"/>
                    <a:pt x="615" y="1"/>
                    <a:pt x="5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7962979" y="2160789"/>
              <a:ext cx="63287" cy="40187"/>
            </a:xfrm>
            <a:custGeom>
              <a:avLst/>
              <a:gdLst/>
              <a:ahLst/>
              <a:cxnLst/>
              <a:rect l="l" t="t" r="r" b="b"/>
              <a:pathLst>
                <a:path w="463" h="294" extrusionOk="0">
                  <a:moveTo>
                    <a:pt x="213" y="0"/>
                  </a:moveTo>
                  <a:cubicBezTo>
                    <a:pt x="135" y="0"/>
                    <a:pt x="75" y="37"/>
                    <a:pt x="19" y="56"/>
                  </a:cubicBezTo>
                  <a:cubicBezTo>
                    <a:pt x="1" y="74"/>
                    <a:pt x="1" y="116"/>
                    <a:pt x="19" y="134"/>
                  </a:cubicBezTo>
                  <a:cubicBezTo>
                    <a:pt x="19" y="147"/>
                    <a:pt x="38" y="160"/>
                    <a:pt x="55" y="160"/>
                  </a:cubicBezTo>
                  <a:cubicBezTo>
                    <a:pt x="62" y="160"/>
                    <a:pt x="69" y="158"/>
                    <a:pt x="75" y="153"/>
                  </a:cubicBezTo>
                  <a:cubicBezTo>
                    <a:pt x="135" y="116"/>
                    <a:pt x="172" y="97"/>
                    <a:pt x="213" y="97"/>
                  </a:cubicBezTo>
                  <a:cubicBezTo>
                    <a:pt x="250" y="97"/>
                    <a:pt x="269" y="116"/>
                    <a:pt x="287" y="134"/>
                  </a:cubicBezTo>
                  <a:cubicBezTo>
                    <a:pt x="306" y="153"/>
                    <a:pt x="329" y="213"/>
                    <a:pt x="347" y="250"/>
                  </a:cubicBezTo>
                  <a:cubicBezTo>
                    <a:pt x="361" y="277"/>
                    <a:pt x="374" y="294"/>
                    <a:pt x="395" y="294"/>
                  </a:cubicBezTo>
                  <a:cubicBezTo>
                    <a:pt x="403" y="294"/>
                    <a:pt x="411" y="291"/>
                    <a:pt x="421" y="287"/>
                  </a:cubicBezTo>
                  <a:cubicBezTo>
                    <a:pt x="444" y="287"/>
                    <a:pt x="463" y="250"/>
                    <a:pt x="444" y="231"/>
                  </a:cubicBezTo>
                  <a:cubicBezTo>
                    <a:pt x="421" y="171"/>
                    <a:pt x="403" y="116"/>
                    <a:pt x="366" y="56"/>
                  </a:cubicBezTo>
                  <a:cubicBezTo>
                    <a:pt x="329" y="19"/>
                    <a:pt x="269" y="0"/>
                    <a:pt x="21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7657339" y="1889868"/>
              <a:ext cx="347466" cy="239344"/>
            </a:xfrm>
            <a:custGeom>
              <a:avLst/>
              <a:gdLst/>
              <a:ahLst/>
              <a:cxnLst/>
              <a:rect l="l" t="t" r="r" b="b"/>
              <a:pathLst>
                <a:path w="2542" h="1751" extrusionOk="0">
                  <a:moveTo>
                    <a:pt x="2106" y="1"/>
                  </a:moveTo>
                  <a:cubicBezTo>
                    <a:pt x="1984" y="1"/>
                    <a:pt x="1816" y="91"/>
                    <a:pt x="1484" y="249"/>
                  </a:cubicBezTo>
                  <a:cubicBezTo>
                    <a:pt x="985" y="499"/>
                    <a:pt x="463" y="748"/>
                    <a:pt x="42" y="864"/>
                  </a:cubicBezTo>
                  <a:cubicBezTo>
                    <a:pt x="42" y="864"/>
                    <a:pt x="1" y="1363"/>
                    <a:pt x="176" y="1617"/>
                  </a:cubicBezTo>
                  <a:cubicBezTo>
                    <a:pt x="248" y="1715"/>
                    <a:pt x="304" y="1750"/>
                    <a:pt x="372" y="1750"/>
                  </a:cubicBezTo>
                  <a:cubicBezTo>
                    <a:pt x="465" y="1750"/>
                    <a:pt x="580" y="1684"/>
                    <a:pt x="791" y="1617"/>
                  </a:cubicBezTo>
                  <a:cubicBezTo>
                    <a:pt x="1156" y="1502"/>
                    <a:pt x="2426" y="924"/>
                    <a:pt x="2486" y="693"/>
                  </a:cubicBezTo>
                  <a:cubicBezTo>
                    <a:pt x="2542" y="462"/>
                    <a:pt x="2468" y="249"/>
                    <a:pt x="2292" y="92"/>
                  </a:cubicBezTo>
                  <a:cubicBezTo>
                    <a:pt x="2230" y="30"/>
                    <a:pt x="2175" y="1"/>
                    <a:pt x="2106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7657339" y="1883034"/>
              <a:ext cx="355667" cy="240574"/>
            </a:xfrm>
            <a:custGeom>
              <a:avLst/>
              <a:gdLst/>
              <a:ahLst/>
              <a:cxnLst/>
              <a:rect l="l" t="t" r="r" b="b"/>
              <a:pathLst>
                <a:path w="2602" h="1760" extrusionOk="0">
                  <a:moveTo>
                    <a:pt x="2067" y="0"/>
                  </a:moveTo>
                  <a:cubicBezTo>
                    <a:pt x="2047" y="0"/>
                    <a:pt x="2030" y="8"/>
                    <a:pt x="2006" y="8"/>
                  </a:cubicBezTo>
                  <a:cubicBezTo>
                    <a:pt x="1890" y="50"/>
                    <a:pt x="1715" y="124"/>
                    <a:pt x="1465" y="239"/>
                  </a:cubicBezTo>
                  <a:cubicBezTo>
                    <a:pt x="966" y="489"/>
                    <a:pt x="444" y="743"/>
                    <a:pt x="42" y="858"/>
                  </a:cubicBezTo>
                  <a:lnTo>
                    <a:pt x="98" y="914"/>
                  </a:lnTo>
                  <a:lnTo>
                    <a:pt x="1" y="914"/>
                  </a:lnTo>
                  <a:lnTo>
                    <a:pt x="1" y="932"/>
                  </a:lnTo>
                  <a:lnTo>
                    <a:pt x="116" y="932"/>
                  </a:lnTo>
                  <a:cubicBezTo>
                    <a:pt x="541" y="817"/>
                    <a:pt x="1022" y="586"/>
                    <a:pt x="1502" y="336"/>
                  </a:cubicBezTo>
                  <a:cubicBezTo>
                    <a:pt x="1775" y="221"/>
                    <a:pt x="1927" y="142"/>
                    <a:pt x="2024" y="105"/>
                  </a:cubicBezTo>
                  <a:cubicBezTo>
                    <a:pt x="2051" y="101"/>
                    <a:pt x="2074" y="99"/>
                    <a:pt x="2094" y="99"/>
                  </a:cubicBezTo>
                  <a:cubicBezTo>
                    <a:pt x="2159" y="99"/>
                    <a:pt x="2195" y="124"/>
                    <a:pt x="2255" y="184"/>
                  </a:cubicBezTo>
                  <a:cubicBezTo>
                    <a:pt x="2426" y="336"/>
                    <a:pt x="2486" y="512"/>
                    <a:pt x="2449" y="720"/>
                  </a:cubicBezTo>
                  <a:cubicBezTo>
                    <a:pt x="2426" y="743"/>
                    <a:pt x="2426" y="780"/>
                    <a:pt x="2389" y="798"/>
                  </a:cubicBezTo>
                  <a:cubicBezTo>
                    <a:pt x="2352" y="835"/>
                    <a:pt x="2292" y="877"/>
                    <a:pt x="2218" y="932"/>
                  </a:cubicBezTo>
                  <a:cubicBezTo>
                    <a:pt x="2103" y="1011"/>
                    <a:pt x="1909" y="1108"/>
                    <a:pt x="1733" y="1205"/>
                  </a:cubicBezTo>
                  <a:cubicBezTo>
                    <a:pt x="1350" y="1394"/>
                    <a:pt x="948" y="1570"/>
                    <a:pt x="772" y="1625"/>
                  </a:cubicBezTo>
                  <a:cubicBezTo>
                    <a:pt x="735" y="1625"/>
                    <a:pt x="694" y="1644"/>
                    <a:pt x="657" y="1667"/>
                  </a:cubicBezTo>
                  <a:cubicBezTo>
                    <a:pt x="657" y="1686"/>
                    <a:pt x="675" y="1722"/>
                    <a:pt x="675" y="1759"/>
                  </a:cubicBezTo>
                  <a:cubicBezTo>
                    <a:pt x="717" y="1741"/>
                    <a:pt x="754" y="1722"/>
                    <a:pt x="809" y="1722"/>
                  </a:cubicBezTo>
                  <a:cubicBezTo>
                    <a:pt x="985" y="1644"/>
                    <a:pt x="1410" y="1491"/>
                    <a:pt x="1775" y="1297"/>
                  </a:cubicBezTo>
                  <a:cubicBezTo>
                    <a:pt x="1964" y="1205"/>
                    <a:pt x="2140" y="1108"/>
                    <a:pt x="2274" y="1011"/>
                  </a:cubicBezTo>
                  <a:cubicBezTo>
                    <a:pt x="2352" y="974"/>
                    <a:pt x="2408" y="932"/>
                    <a:pt x="2449" y="877"/>
                  </a:cubicBezTo>
                  <a:cubicBezTo>
                    <a:pt x="2505" y="835"/>
                    <a:pt x="2523" y="798"/>
                    <a:pt x="2542" y="761"/>
                  </a:cubicBezTo>
                  <a:cubicBezTo>
                    <a:pt x="2602" y="512"/>
                    <a:pt x="2505" y="281"/>
                    <a:pt x="2334" y="105"/>
                  </a:cubicBezTo>
                  <a:cubicBezTo>
                    <a:pt x="2255" y="50"/>
                    <a:pt x="2177" y="8"/>
                    <a:pt x="2103" y="8"/>
                  </a:cubicBezTo>
                  <a:cubicBezTo>
                    <a:pt x="2089" y="2"/>
                    <a:pt x="2078" y="0"/>
                    <a:pt x="206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7699713" y="1925134"/>
              <a:ext cx="368243" cy="255747"/>
            </a:xfrm>
            <a:custGeom>
              <a:avLst/>
              <a:gdLst/>
              <a:ahLst/>
              <a:cxnLst/>
              <a:rect l="l" t="t" r="r" b="b"/>
              <a:pathLst>
                <a:path w="2694" h="1871" extrusionOk="0">
                  <a:moveTo>
                    <a:pt x="2298" y="0"/>
                  </a:moveTo>
                  <a:cubicBezTo>
                    <a:pt x="2159" y="0"/>
                    <a:pt x="1959" y="117"/>
                    <a:pt x="1636" y="338"/>
                  </a:cubicBezTo>
                  <a:cubicBezTo>
                    <a:pt x="1040" y="758"/>
                    <a:pt x="116" y="837"/>
                    <a:pt x="116" y="837"/>
                  </a:cubicBezTo>
                  <a:cubicBezTo>
                    <a:pt x="116" y="837"/>
                    <a:pt x="0" y="1146"/>
                    <a:pt x="19" y="1567"/>
                  </a:cubicBezTo>
                  <a:cubicBezTo>
                    <a:pt x="41" y="1800"/>
                    <a:pt x="68" y="1871"/>
                    <a:pt x="168" y="1871"/>
                  </a:cubicBezTo>
                  <a:cubicBezTo>
                    <a:pt x="249" y="1871"/>
                    <a:pt x="379" y="1823"/>
                    <a:pt x="596" y="1780"/>
                  </a:cubicBezTo>
                  <a:cubicBezTo>
                    <a:pt x="1100" y="1682"/>
                    <a:pt x="2389" y="1165"/>
                    <a:pt x="2541" y="989"/>
                  </a:cubicBezTo>
                  <a:cubicBezTo>
                    <a:pt x="2675" y="800"/>
                    <a:pt x="2694" y="643"/>
                    <a:pt x="2560" y="259"/>
                  </a:cubicBezTo>
                  <a:cubicBezTo>
                    <a:pt x="2490" y="84"/>
                    <a:pt x="2415" y="0"/>
                    <a:pt x="2298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7731289" y="1917616"/>
              <a:ext cx="339811" cy="264085"/>
            </a:xfrm>
            <a:custGeom>
              <a:avLst/>
              <a:gdLst/>
              <a:ahLst/>
              <a:cxnLst/>
              <a:rect l="l" t="t" r="r" b="b"/>
              <a:pathLst>
                <a:path w="2486" h="1932" extrusionOk="0">
                  <a:moveTo>
                    <a:pt x="2091" y="0"/>
                  </a:moveTo>
                  <a:cubicBezTo>
                    <a:pt x="2080" y="0"/>
                    <a:pt x="2070" y="2"/>
                    <a:pt x="2061" y="5"/>
                  </a:cubicBezTo>
                  <a:lnTo>
                    <a:pt x="2024" y="5"/>
                  </a:lnTo>
                  <a:cubicBezTo>
                    <a:pt x="1867" y="28"/>
                    <a:pt x="1677" y="143"/>
                    <a:pt x="1368" y="351"/>
                  </a:cubicBezTo>
                  <a:cubicBezTo>
                    <a:pt x="924" y="661"/>
                    <a:pt x="250" y="795"/>
                    <a:pt x="0" y="836"/>
                  </a:cubicBezTo>
                  <a:cubicBezTo>
                    <a:pt x="0" y="855"/>
                    <a:pt x="19" y="892"/>
                    <a:pt x="37" y="929"/>
                  </a:cubicBezTo>
                  <a:cubicBezTo>
                    <a:pt x="310" y="892"/>
                    <a:pt x="961" y="776"/>
                    <a:pt x="1423" y="430"/>
                  </a:cubicBezTo>
                  <a:cubicBezTo>
                    <a:pt x="1733" y="236"/>
                    <a:pt x="1927" y="120"/>
                    <a:pt x="2042" y="102"/>
                  </a:cubicBezTo>
                  <a:cubicBezTo>
                    <a:pt x="2098" y="102"/>
                    <a:pt x="2139" y="102"/>
                    <a:pt x="2176" y="143"/>
                  </a:cubicBezTo>
                  <a:cubicBezTo>
                    <a:pt x="2213" y="180"/>
                    <a:pt x="2232" y="236"/>
                    <a:pt x="2273" y="333"/>
                  </a:cubicBezTo>
                  <a:cubicBezTo>
                    <a:pt x="2347" y="527"/>
                    <a:pt x="2370" y="661"/>
                    <a:pt x="2370" y="758"/>
                  </a:cubicBezTo>
                  <a:cubicBezTo>
                    <a:pt x="2370" y="855"/>
                    <a:pt x="2329" y="929"/>
                    <a:pt x="2255" y="1007"/>
                  </a:cubicBezTo>
                  <a:cubicBezTo>
                    <a:pt x="2255" y="1026"/>
                    <a:pt x="2213" y="1044"/>
                    <a:pt x="2176" y="1086"/>
                  </a:cubicBezTo>
                  <a:cubicBezTo>
                    <a:pt x="2116" y="1104"/>
                    <a:pt x="2061" y="1141"/>
                    <a:pt x="1982" y="1183"/>
                  </a:cubicBezTo>
                  <a:cubicBezTo>
                    <a:pt x="1848" y="1257"/>
                    <a:pt x="1654" y="1335"/>
                    <a:pt x="1446" y="1414"/>
                  </a:cubicBezTo>
                  <a:cubicBezTo>
                    <a:pt x="1058" y="1585"/>
                    <a:pt x="596" y="1737"/>
                    <a:pt x="365" y="1779"/>
                  </a:cubicBezTo>
                  <a:cubicBezTo>
                    <a:pt x="291" y="1798"/>
                    <a:pt x="231" y="1816"/>
                    <a:pt x="176" y="1816"/>
                  </a:cubicBezTo>
                  <a:lnTo>
                    <a:pt x="176" y="1835"/>
                  </a:lnTo>
                  <a:cubicBezTo>
                    <a:pt x="176" y="1853"/>
                    <a:pt x="176" y="1895"/>
                    <a:pt x="194" y="1932"/>
                  </a:cubicBezTo>
                  <a:cubicBezTo>
                    <a:pt x="250" y="1913"/>
                    <a:pt x="310" y="1895"/>
                    <a:pt x="384" y="1876"/>
                  </a:cubicBezTo>
                  <a:cubicBezTo>
                    <a:pt x="638" y="1835"/>
                    <a:pt x="1077" y="1682"/>
                    <a:pt x="1483" y="1530"/>
                  </a:cubicBezTo>
                  <a:cubicBezTo>
                    <a:pt x="1696" y="1433"/>
                    <a:pt x="1885" y="1354"/>
                    <a:pt x="2042" y="1275"/>
                  </a:cubicBezTo>
                  <a:cubicBezTo>
                    <a:pt x="2116" y="1238"/>
                    <a:pt x="2176" y="1201"/>
                    <a:pt x="2232" y="1183"/>
                  </a:cubicBezTo>
                  <a:cubicBezTo>
                    <a:pt x="2273" y="1141"/>
                    <a:pt x="2310" y="1104"/>
                    <a:pt x="2347" y="1086"/>
                  </a:cubicBezTo>
                  <a:cubicBezTo>
                    <a:pt x="2426" y="989"/>
                    <a:pt x="2463" y="892"/>
                    <a:pt x="2463" y="758"/>
                  </a:cubicBezTo>
                  <a:cubicBezTo>
                    <a:pt x="2486" y="642"/>
                    <a:pt x="2444" y="490"/>
                    <a:pt x="2370" y="296"/>
                  </a:cubicBezTo>
                  <a:cubicBezTo>
                    <a:pt x="2329" y="199"/>
                    <a:pt x="2292" y="120"/>
                    <a:pt x="2232" y="65"/>
                  </a:cubicBezTo>
                  <a:cubicBezTo>
                    <a:pt x="2201" y="34"/>
                    <a:pt x="2142" y="0"/>
                    <a:pt x="209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7715433" y="2016854"/>
              <a:ext cx="352524" cy="241668"/>
            </a:xfrm>
            <a:custGeom>
              <a:avLst/>
              <a:gdLst/>
              <a:ahLst/>
              <a:cxnLst/>
              <a:rect l="l" t="t" r="r" b="b"/>
              <a:pathLst>
                <a:path w="2579" h="1768" extrusionOk="0">
                  <a:moveTo>
                    <a:pt x="2230" y="0"/>
                  </a:moveTo>
                  <a:cubicBezTo>
                    <a:pt x="2113" y="0"/>
                    <a:pt x="1929" y="92"/>
                    <a:pt x="1599" y="263"/>
                  </a:cubicBezTo>
                  <a:cubicBezTo>
                    <a:pt x="985" y="573"/>
                    <a:pt x="1" y="804"/>
                    <a:pt x="1" y="804"/>
                  </a:cubicBezTo>
                  <a:cubicBezTo>
                    <a:pt x="1" y="804"/>
                    <a:pt x="38" y="1109"/>
                    <a:pt x="38" y="1303"/>
                  </a:cubicBezTo>
                  <a:cubicBezTo>
                    <a:pt x="38" y="1486"/>
                    <a:pt x="91" y="1768"/>
                    <a:pt x="322" y="1768"/>
                  </a:cubicBezTo>
                  <a:cubicBezTo>
                    <a:pt x="336" y="1768"/>
                    <a:pt x="351" y="1767"/>
                    <a:pt x="366" y="1765"/>
                  </a:cubicBezTo>
                  <a:cubicBezTo>
                    <a:pt x="615" y="1728"/>
                    <a:pt x="1964" y="1266"/>
                    <a:pt x="2214" y="1072"/>
                  </a:cubicBezTo>
                  <a:cubicBezTo>
                    <a:pt x="2486" y="859"/>
                    <a:pt x="2579" y="591"/>
                    <a:pt x="2445" y="244"/>
                  </a:cubicBezTo>
                  <a:cubicBezTo>
                    <a:pt x="2390" y="78"/>
                    <a:pt x="2338" y="0"/>
                    <a:pt x="2230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7747008" y="2010429"/>
              <a:ext cx="320948" cy="252740"/>
            </a:xfrm>
            <a:custGeom>
              <a:avLst/>
              <a:gdLst/>
              <a:ahLst/>
              <a:cxnLst/>
              <a:rect l="l" t="t" r="r" b="b"/>
              <a:pathLst>
                <a:path w="2348" h="1849" extrusionOk="0">
                  <a:moveTo>
                    <a:pt x="1983" y="0"/>
                  </a:moveTo>
                  <a:cubicBezTo>
                    <a:pt x="1849" y="0"/>
                    <a:pt x="1655" y="97"/>
                    <a:pt x="1350" y="273"/>
                  </a:cubicBezTo>
                  <a:cubicBezTo>
                    <a:pt x="925" y="481"/>
                    <a:pt x="347" y="656"/>
                    <a:pt x="1" y="735"/>
                  </a:cubicBezTo>
                  <a:cubicBezTo>
                    <a:pt x="19" y="772"/>
                    <a:pt x="19" y="809"/>
                    <a:pt x="19" y="851"/>
                  </a:cubicBezTo>
                  <a:cubicBezTo>
                    <a:pt x="329" y="754"/>
                    <a:pt x="943" y="578"/>
                    <a:pt x="1405" y="347"/>
                  </a:cubicBezTo>
                  <a:cubicBezTo>
                    <a:pt x="1715" y="194"/>
                    <a:pt x="1886" y="116"/>
                    <a:pt x="1983" y="97"/>
                  </a:cubicBezTo>
                  <a:cubicBezTo>
                    <a:pt x="2043" y="97"/>
                    <a:pt x="2061" y="116"/>
                    <a:pt x="2080" y="134"/>
                  </a:cubicBezTo>
                  <a:cubicBezTo>
                    <a:pt x="2117" y="176"/>
                    <a:pt x="2140" y="231"/>
                    <a:pt x="2177" y="310"/>
                  </a:cubicBezTo>
                  <a:cubicBezTo>
                    <a:pt x="2232" y="481"/>
                    <a:pt x="2232" y="620"/>
                    <a:pt x="2195" y="735"/>
                  </a:cubicBezTo>
                  <a:cubicBezTo>
                    <a:pt x="2158" y="869"/>
                    <a:pt x="2080" y="966"/>
                    <a:pt x="1964" y="1058"/>
                  </a:cubicBezTo>
                  <a:cubicBezTo>
                    <a:pt x="1909" y="1119"/>
                    <a:pt x="1770" y="1174"/>
                    <a:pt x="1599" y="1253"/>
                  </a:cubicBezTo>
                  <a:cubicBezTo>
                    <a:pt x="1447" y="1331"/>
                    <a:pt x="1234" y="1405"/>
                    <a:pt x="1040" y="1484"/>
                  </a:cubicBezTo>
                  <a:cubicBezTo>
                    <a:pt x="846" y="1544"/>
                    <a:pt x="638" y="1618"/>
                    <a:pt x="481" y="1678"/>
                  </a:cubicBezTo>
                  <a:cubicBezTo>
                    <a:pt x="366" y="1715"/>
                    <a:pt x="269" y="1733"/>
                    <a:pt x="195" y="1752"/>
                  </a:cubicBezTo>
                  <a:cubicBezTo>
                    <a:pt x="213" y="1793"/>
                    <a:pt x="213" y="1812"/>
                    <a:pt x="213" y="1849"/>
                  </a:cubicBezTo>
                  <a:cubicBezTo>
                    <a:pt x="292" y="1830"/>
                    <a:pt x="384" y="1812"/>
                    <a:pt x="500" y="1775"/>
                  </a:cubicBezTo>
                  <a:cubicBezTo>
                    <a:pt x="675" y="1715"/>
                    <a:pt x="869" y="1659"/>
                    <a:pt x="1077" y="1581"/>
                  </a:cubicBezTo>
                  <a:cubicBezTo>
                    <a:pt x="1271" y="1502"/>
                    <a:pt x="1484" y="1428"/>
                    <a:pt x="1636" y="1350"/>
                  </a:cubicBezTo>
                  <a:cubicBezTo>
                    <a:pt x="1812" y="1271"/>
                    <a:pt x="1946" y="1216"/>
                    <a:pt x="2024" y="1156"/>
                  </a:cubicBezTo>
                  <a:cubicBezTo>
                    <a:pt x="2158" y="1040"/>
                    <a:pt x="2255" y="924"/>
                    <a:pt x="2311" y="772"/>
                  </a:cubicBezTo>
                  <a:cubicBezTo>
                    <a:pt x="2348" y="620"/>
                    <a:pt x="2329" y="462"/>
                    <a:pt x="2274" y="273"/>
                  </a:cubicBezTo>
                  <a:cubicBezTo>
                    <a:pt x="2232" y="194"/>
                    <a:pt x="2214" y="116"/>
                    <a:pt x="2158" y="60"/>
                  </a:cubicBezTo>
                  <a:cubicBezTo>
                    <a:pt x="2117" y="19"/>
                    <a:pt x="2061" y="0"/>
                    <a:pt x="200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7741951" y="2127027"/>
              <a:ext cx="334207" cy="207495"/>
            </a:xfrm>
            <a:custGeom>
              <a:avLst/>
              <a:gdLst/>
              <a:ahLst/>
              <a:cxnLst/>
              <a:rect l="l" t="t" r="r" b="b"/>
              <a:pathLst>
                <a:path w="2445" h="1518" extrusionOk="0">
                  <a:moveTo>
                    <a:pt x="1883" y="0"/>
                  </a:moveTo>
                  <a:cubicBezTo>
                    <a:pt x="1663" y="0"/>
                    <a:pt x="1437" y="317"/>
                    <a:pt x="906" y="437"/>
                  </a:cubicBezTo>
                  <a:cubicBezTo>
                    <a:pt x="329" y="552"/>
                    <a:pt x="1" y="552"/>
                    <a:pt x="1" y="552"/>
                  </a:cubicBezTo>
                  <a:lnTo>
                    <a:pt x="19" y="1458"/>
                  </a:lnTo>
                  <a:lnTo>
                    <a:pt x="56" y="1518"/>
                  </a:lnTo>
                  <a:cubicBezTo>
                    <a:pt x="56" y="1518"/>
                    <a:pt x="865" y="1499"/>
                    <a:pt x="1655" y="1111"/>
                  </a:cubicBezTo>
                  <a:cubicBezTo>
                    <a:pt x="2445" y="728"/>
                    <a:pt x="2214" y="132"/>
                    <a:pt x="1964" y="16"/>
                  </a:cubicBezTo>
                  <a:cubicBezTo>
                    <a:pt x="1937" y="5"/>
                    <a:pt x="1910" y="0"/>
                    <a:pt x="1883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7739490" y="2120876"/>
              <a:ext cx="344322" cy="221301"/>
            </a:xfrm>
            <a:custGeom>
              <a:avLst/>
              <a:gdLst/>
              <a:ahLst/>
              <a:cxnLst/>
              <a:rect l="l" t="t" r="r" b="b"/>
              <a:pathLst>
                <a:path w="2519" h="1619" extrusionOk="0">
                  <a:moveTo>
                    <a:pt x="1904" y="1"/>
                  </a:moveTo>
                  <a:cubicBezTo>
                    <a:pt x="1867" y="1"/>
                    <a:pt x="1825" y="1"/>
                    <a:pt x="1788" y="19"/>
                  </a:cubicBezTo>
                  <a:cubicBezTo>
                    <a:pt x="1710" y="43"/>
                    <a:pt x="1636" y="98"/>
                    <a:pt x="1557" y="135"/>
                  </a:cubicBezTo>
                  <a:cubicBezTo>
                    <a:pt x="1405" y="232"/>
                    <a:pt x="1211" y="366"/>
                    <a:pt x="924" y="426"/>
                  </a:cubicBezTo>
                  <a:cubicBezTo>
                    <a:pt x="555" y="505"/>
                    <a:pt x="287" y="523"/>
                    <a:pt x="153" y="542"/>
                  </a:cubicBezTo>
                  <a:cubicBezTo>
                    <a:pt x="153" y="579"/>
                    <a:pt x="171" y="597"/>
                    <a:pt x="171" y="639"/>
                  </a:cubicBezTo>
                  <a:cubicBezTo>
                    <a:pt x="305" y="639"/>
                    <a:pt x="555" y="597"/>
                    <a:pt x="943" y="523"/>
                  </a:cubicBezTo>
                  <a:cubicBezTo>
                    <a:pt x="1248" y="463"/>
                    <a:pt x="1460" y="329"/>
                    <a:pt x="1617" y="232"/>
                  </a:cubicBezTo>
                  <a:cubicBezTo>
                    <a:pt x="1691" y="177"/>
                    <a:pt x="1770" y="135"/>
                    <a:pt x="1807" y="116"/>
                  </a:cubicBezTo>
                  <a:cubicBezTo>
                    <a:pt x="1837" y="107"/>
                    <a:pt x="1866" y="103"/>
                    <a:pt x="1892" y="103"/>
                  </a:cubicBezTo>
                  <a:cubicBezTo>
                    <a:pt x="1919" y="103"/>
                    <a:pt x="1943" y="107"/>
                    <a:pt x="1964" y="116"/>
                  </a:cubicBezTo>
                  <a:cubicBezTo>
                    <a:pt x="2153" y="195"/>
                    <a:pt x="2426" y="754"/>
                    <a:pt x="1654" y="1119"/>
                  </a:cubicBezTo>
                  <a:cubicBezTo>
                    <a:pt x="998" y="1429"/>
                    <a:pt x="365" y="1484"/>
                    <a:pt x="171" y="1503"/>
                  </a:cubicBezTo>
                  <a:cubicBezTo>
                    <a:pt x="116" y="1503"/>
                    <a:pt x="56" y="1521"/>
                    <a:pt x="0" y="1521"/>
                  </a:cubicBezTo>
                  <a:lnTo>
                    <a:pt x="56" y="1618"/>
                  </a:lnTo>
                  <a:lnTo>
                    <a:pt x="74" y="1618"/>
                  </a:lnTo>
                  <a:cubicBezTo>
                    <a:pt x="74" y="1618"/>
                    <a:pt x="901" y="1581"/>
                    <a:pt x="1691" y="1198"/>
                  </a:cubicBezTo>
                  <a:cubicBezTo>
                    <a:pt x="2518" y="810"/>
                    <a:pt x="2310" y="135"/>
                    <a:pt x="2001" y="19"/>
                  </a:cubicBezTo>
                  <a:cubicBezTo>
                    <a:pt x="1982" y="1"/>
                    <a:pt x="1941" y="1"/>
                    <a:pt x="190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6607694" y="3218092"/>
              <a:ext cx="752889" cy="1662150"/>
            </a:xfrm>
            <a:custGeom>
              <a:avLst/>
              <a:gdLst/>
              <a:ahLst/>
              <a:cxnLst/>
              <a:rect l="l" t="t" r="r" b="b"/>
              <a:pathLst>
                <a:path w="5508" h="12160" extrusionOk="0">
                  <a:moveTo>
                    <a:pt x="3757" y="0"/>
                  </a:moveTo>
                  <a:cubicBezTo>
                    <a:pt x="3730" y="0"/>
                    <a:pt x="3715" y="5"/>
                    <a:pt x="3715" y="5"/>
                  </a:cubicBezTo>
                  <a:lnTo>
                    <a:pt x="633" y="448"/>
                  </a:lnTo>
                  <a:lnTo>
                    <a:pt x="0" y="4431"/>
                  </a:lnTo>
                  <a:lnTo>
                    <a:pt x="97" y="11630"/>
                  </a:lnTo>
                  <a:cubicBezTo>
                    <a:pt x="97" y="11630"/>
                    <a:pt x="1538" y="12159"/>
                    <a:pt x="2605" y="12159"/>
                  </a:cubicBezTo>
                  <a:cubicBezTo>
                    <a:pt x="2675" y="12159"/>
                    <a:pt x="2743" y="12157"/>
                    <a:pt x="2809" y="12152"/>
                  </a:cubicBezTo>
                  <a:cubicBezTo>
                    <a:pt x="3891" y="12092"/>
                    <a:pt x="5411" y="11611"/>
                    <a:pt x="5411" y="11611"/>
                  </a:cubicBezTo>
                  <a:cubicBezTo>
                    <a:pt x="5411" y="11611"/>
                    <a:pt x="5508" y="7610"/>
                    <a:pt x="5101" y="3659"/>
                  </a:cubicBezTo>
                  <a:cubicBezTo>
                    <a:pt x="4764" y="211"/>
                    <a:pt x="3950" y="0"/>
                    <a:pt x="3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6602636" y="3210437"/>
              <a:ext cx="765601" cy="1677460"/>
            </a:xfrm>
            <a:custGeom>
              <a:avLst/>
              <a:gdLst/>
              <a:ahLst/>
              <a:cxnLst/>
              <a:rect l="l" t="t" r="r" b="b"/>
              <a:pathLst>
                <a:path w="5601" h="12272" extrusionOk="0">
                  <a:moveTo>
                    <a:pt x="3789" y="97"/>
                  </a:moveTo>
                  <a:cubicBezTo>
                    <a:pt x="3831" y="97"/>
                    <a:pt x="3849" y="116"/>
                    <a:pt x="3905" y="116"/>
                  </a:cubicBezTo>
                  <a:cubicBezTo>
                    <a:pt x="3983" y="158"/>
                    <a:pt x="4117" y="231"/>
                    <a:pt x="4251" y="444"/>
                  </a:cubicBezTo>
                  <a:cubicBezTo>
                    <a:pt x="4542" y="869"/>
                    <a:pt x="4907" y="1775"/>
                    <a:pt x="5101" y="3738"/>
                  </a:cubicBezTo>
                  <a:cubicBezTo>
                    <a:pt x="5485" y="7624"/>
                    <a:pt x="5388" y="11552"/>
                    <a:pt x="5388" y="11630"/>
                  </a:cubicBezTo>
                  <a:cubicBezTo>
                    <a:pt x="5332" y="11649"/>
                    <a:pt x="3886" y="12092"/>
                    <a:pt x="2846" y="12171"/>
                  </a:cubicBezTo>
                  <a:cubicBezTo>
                    <a:pt x="2809" y="12172"/>
                    <a:pt x="2770" y="12173"/>
                    <a:pt x="2731" y="12173"/>
                  </a:cubicBezTo>
                  <a:cubicBezTo>
                    <a:pt x="2216" y="12173"/>
                    <a:pt x="1598" y="12063"/>
                    <a:pt x="1095" y="11917"/>
                  </a:cubicBezTo>
                  <a:cubicBezTo>
                    <a:pt x="578" y="11783"/>
                    <a:pt x="231" y="11649"/>
                    <a:pt x="190" y="11649"/>
                  </a:cubicBezTo>
                  <a:lnTo>
                    <a:pt x="93" y="4487"/>
                  </a:lnTo>
                  <a:lnTo>
                    <a:pt x="730" y="560"/>
                  </a:lnTo>
                  <a:lnTo>
                    <a:pt x="3771" y="97"/>
                  </a:lnTo>
                  <a:close/>
                  <a:moveTo>
                    <a:pt x="3734" y="0"/>
                  </a:moveTo>
                  <a:lnTo>
                    <a:pt x="633" y="463"/>
                  </a:lnTo>
                  <a:lnTo>
                    <a:pt x="0" y="4487"/>
                  </a:lnTo>
                  <a:lnTo>
                    <a:pt x="93" y="11727"/>
                  </a:lnTo>
                  <a:lnTo>
                    <a:pt x="134" y="11727"/>
                  </a:lnTo>
                  <a:cubicBezTo>
                    <a:pt x="134" y="11727"/>
                    <a:pt x="536" y="11880"/>
                    <a:pt x="1077" y="12032"/>
                  </a:cubicBezTo>
                  <a:cubicBezTo>
                    <a:pt x="1549" y="12154"/>
                    <a:pt x="2120" y="12271"/>
                    <a:pt x="2630" y="12271"/>
                  </a:cubicBezTo>
                  <a:cubicBezTo>
                    <a:pt x="2704" y="12271"/>
                    <a:pt x="2776" y="12269"/>
                    <a:pt x="2846" y="12263"/>
                  </a:cubicBezTo>
                  <a:cubicBezTo>
                    <a:pt x="3928" y="12208"/>
                    <a:pt x="5466" y="11709"/>
                    <a:pt x="5466" y="11709"/>
                  </a:cubicBezTo>
                  <a:lnTo>
                    <a:pt x="5503" y="11709"/>
                  </a:lnTo>
                  <a:lnTo>
                    <a:pt x="5503" y="11667"/>
                  </a:lnTo>
                  <a:cubicBezTo>
                    <a:pt x="5503" y="11667"/>
                    <a:pt x="5600" y="7643"/>
                    <a:pt x="5198" y="3715"/>
                  </a:cubicBezTo>
                  <a:cubicBezTo>
                    <a:pt x="5004" y="1752"/>
                    <a:pt x="4658" y="828"/>
                    <a:pt x="4348" y="389"/>
                  </a:cubicBezTo>
                  <a:cubicBezTo>
                    <a:pt x="4196" y="176"/>
                    <a:pt x="4043" y="79"/>
                    <a:pt x="3946" y="19"/>
                  </a:cubicBezTo>
                  <a:cubicBezTo>
                    <a:pt x="3886" y="0"/>
                    <a:pt x="3831" y="0"/>
                    <a:pt x="37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6007623" y="3286847"/>
              <a:ext cx="910902" cy="1547741"/>
            </a:xfrm>
            <a:custGeom>
              <a:avLst/>
              <a:gdLst/>
              <a:ahLst/>
              <a:cxnLst/>
              <a:rect l="l" t="t" r="r" b="b"/>
              <a:pathLst>
                <a:path w="6664" h="11323" extrusionOk="0">
                  <a:moveTo>
                    <a:pt x="925" y="1"/>
                  </a:moveTo>
                  <a:cubicBezTo>
                    <a:pt x="925" y="1"/>
                    <a:pt x="597" y="712"/>
                    <a:pt x="597" y="1271"/>
                  </a:cubicBezTo>
                  <a:cubicBezTo>
                    <a:pt x="578" y="1812"/>
                    <a:pt x="634" y="2292"/>
                    <a:pt x="634" y="2292"/>
                  </a:cubicBezTo>
                  <a:lnTo>
                    <a:pt x="1" y="10609"/>
                  </a:lnTo>
                  <a:cubicBezTo>
                    <a:pt x="1" y="10609"/>
                    <a:pt x="1234" y="11302"/>
                    <a:pt x="2791" y="11321"/>
                  </a:cubicBezTo>
                  <a:cubicBezTo>
                    <a:pt x="2856" y="11322"/>
                    <a:pt x="2921" y="11322"/>
                    <a:pt x="2985" y="11322"/>
                  </a:cubicBezTo>
                  <a:cubicBezTo>
                    <a:pt x="4452" y="11322"/>
                    <a:pt x="5564" y="11127"/>
                    <a:pt x="5564" y="11127"/>
                  </a:cubicBezTo>
                  <a:lnTo>
                    <a:pt x="5947" y="4353"/>
                  </a:lnTo>
                  <a:lnTo>
                    <a:pt x="6663" y="3928"/>
                  </a:lnTo>
                  <a:cubicBezTo>
                    <a:pt x="6663" y="3928"/>
                    <a:pt x="6525" y="2195"/>
                    <a:pt x="6525" y="1387"/>
                  </a:cubicBezTo>
                  <a:cubicBezTo>
                    <a:pt x="6525" y="560"/>
                    <a:pt x="6391" y="37"/>
                    <a:pt x="6391" y="37"/>
                  </a:cubicBezTo>
                  <a:cubicBezTo>
                    <a:pt x="6391" y="37"/>
                    <a:pt x="4973" y="525"/>
                    <a:pt x="3627" y="525"/>
                  </a:cubicBezTo>
                  <a:cubicBezTo>
                    <a:pt x="3579" y="525"/>
                    <a:pt x="3532" y="524"/>
                    <a:pt x="3484" y="523"/>
                  </a:cubicBezTo>
                  <a:cubicBezTo>
                    <a:pt x="2098" y="481"/>
                    <a:pt x="925" y="1"/>
                    <a:pt x="9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5999422" y="3276049"/>
              <a:ext cx="926622" cy="1566741"/>
            </a:xfrm>
            <a:custGeom>
              <a:avLst/>
              <a:gdLst/>
              <a:ahLst/>
              <a:cxnLst/>
              <a:rect l="l" t="t" r="r" b="b"/>
              <a:pathLst>
                <a:path w="6779" h="11462" extrusionOk="0">
                  <a:moveTo>
                    <a:pt x="1003" y="140"/>
                  </a:moveTo>
                  <a:cubicBezTo>
                    <a:pt x="1082" y="177"/>
                    <a:pt x="2177" y="620"/>
                    <a:pt x="3544" y="639"/>
                  </a:cubicBezTo>
                  <a:cubicBezTo>
                    <a:pt x="3596" y="640"/>
                    <a:pt x="3648" y="641"/>
                    <a:pt x="3700" y="641"/>
                  </a:cubicBezTo>
                  <a:cubicBezTo>
                    <a:pt x="5001" y="641"/>
                    <a:pt x="6321" y="213"/>
                    <a:pt x="6414" y="195"/>
                  </a:cubicBezTo>
                  <a:cubicBezTo>
                    <a:pt x="6414" y="232"/>
                    <a:pt x="6548" y="676"/>
                    <a:pt x="6529" y="1466"/>
                  </a:cubicBezTo>
                  <a:cubicBezTo>
                    <a:pt x="6529" y="2274"/>
                    <a:pt x="6663" y="3952"/>
                    <a:pt x="6663" y="3989"/>
                  </a:cubicBezTo>
                  <a:lnTo>
                    <a:pt x="5952" y="4414"/>
                  </a:lnTo>
                  <a:lnTo>
                    <a:pt x="5587" y="11150"/>
                  </a:lnTo>
                  <a:cubicBezTo>
                    <a:pt x="5529" y="11168"/>
                    <a:pt x="4474" y="11346"/>
                    <a:pt x="3056" y="11346"/>
                  </a:cubicBezTo>
                  <a:cubicBezTo>
                    <a:pt x="2989" y="11346"/>
                    <a:pt x="2920" y="11345"/>
                    <a:pt x="2851" y="11344"/>
                  </a:cubicBezTo>
                  <a:cubicBezTo>
                    <a:pt x="1331" y="11321"/>
                    <a:pt x="158" y="10688"/>
                    <a:pt x="116" y="10651"/>
                  </a:cubicBezTo>
                  <a:lnTo>
                    <a:pt x="735" y="2371"/>
                  </a:lnTo>
                  <a:cubicBezTo>
                    <a:pt x="735" y="2371"/>
                    <a:pt x="675" y="1891"/>
                    <a:pt x="694" y="1350"/>
                  </a:cubicBezTo>
                  <a:cubicBezTo>
                    <a:pt x="717" y="851"/>
                    <a:pt x="985" y="214"/>
                    <a:pt x="1003" y="140"/>
                  </a:cubicBezTo>
                  <a:close/>
                  <a:moveTo>
                    <a:pt x="948" y="1"/>
                  </a:moveTo>
                  <a:lnTo>
                    <a:pt x="925" y="61"/>
                  </a:lnTo>
                  <a:cubicBezTo>
                    <a:pt x="925" y="61"/>
                    <a:pt x="620" y="773"/>
                    <a:pt x="601" y="1332"/>
                  </a:cubicBezTo>
                  <a:cubicBezTo>
                    <a:pt x="578" y="1891"/>
                    <a:pt x="638" y="2353"/>
                    <a:pt x="638" y="2371"/>
                  </a:cubicBezTo>
                  <a:lnTo>
                    <a:pt x="1" y="10707"/>
                  </a:lnTo>
                  <a:lnTo>
                    <a:pt x="42" y="10725"/>
                  </a:lnTo>
                  <a:cubicBezTo>
                    <a:pt x="42" y="10725"/>
                    <a:pt x="1271" y="11437"/>
                    <a:pt x="2851" y="11460"/>
                  </a:cubicBezTo>
                  <a:cubicBezTo>
                    <a:pt x="2911" y="11461"/>
                    <a:pt x="2971" y="11461"/>
                    <a:pt x="3030" y="11461"/>
                  </a:cubicBezTo>
                  <a:cubicBezTo>
                    <a:pt x="4506" y="11461"/>
                    <a:pt x="5642" y="11247"/>
                    <a:pt x="5642" y="11247"/>
                  </a:cubicBezTo>
                  <a:lnTo>
                    <a:pt x="5684" y="11247"/>
                  </a:lnTo>
                  <a:lnTo>
                    <a:pt x="6049" y="4469"/>
                  </a:lnTo>
                  <a:lnTo>
                    <a:pt x="6779" y="4044"/>
                  </a:lnTo>
                  <a:lnTo>
                    <a:pt x="6779" y="4007"/>
                  </a:lnTo>
                  <a:cubicBezTo>
                    <a:pt x="6779" y="4007"/>
                    <a:pt x="6645" y="2274"/>
                    <a:pt x="6645" y="1466"/>
                  </a:cubicBezTo>
                  <a:cubicBezTo>
                    <a:pt x="6645" y="639"/>
                    <a:pt x="6511" y="116"/>
                    <a:pt x="6511" y="116"/>
                  </a:cubicBezTo>
                  <a:lnTo>
                    <a:pt x="6492" y="61"/>
                  </a:lnTo>
                  <a:lnTo>
                    <a:pt x="6432" y="80"/>
                  </a:lnTo>
                  <a:cubicBezTo>
                    <a:pt x="6432" y="80"/>
                    <a:pt x="5036" y="544"/>
                    <a:pt x="3693" y="544"/>
                  </a:cubicBezTo>
                  <a:cubicBezTo>
                    <a:pt x="3644" y="544"/>
                    <a:pt x="3594" y="543"/>
                    <a:pt x="3544" y="542"/>
                  </a:cubicBezTo>
                  <a:cubicBezTo>
                    <a:pt x="2158" y="505"/>
                    <a:pt x="1003" y="24"/>
                    <a:pt x="1003" y="24"/>
                  </a:cubicBezTo>
                  <a:lnTo>
                    <a:pt x="948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6110004" y="2110897"/>
              <a:ext cx="1005628" cy="1175671"/>
            </a:xfrm>
            <a:custGeom>
              <a:avLst/>
              <a:gdLst/>
              <a:ahLst/>
              <a:cxnLst/>
              <a:rect l="l" t="t" r="r" b="b"/>
              <a:pathLst>
                <a:path w="7357" h="8601" extrusionOk="0">
                  <a:moveTo>
                    <a:pt x="5124" y="0"/>
                  </a:moveTo>
                  <a:cubicBezTo>
                    <a:pt x="5124" y="0"/>
                    <a:pt x="1331" y="323"/>
                    <a:pt x="1021" y="439"/>
                  </a:cubicBezTo>
                  <a:cubicBezTo>
                    <a:pt x="1021" y="439"/>
                    <a:pt x="619" y="536"/>
                    <a:pt x="328" y="615"/>
                  </a:cubicBezTo>
                  <a:cubicBezTo>
                    <a:pt x="42" y="712"/>
                    <a:pt x="0" y="827"/>
                    <a:pt x="0" y="827"/>
                  </a:cubicBezTo>
                  <a:cubicBezTo>
                    <a:pt x="0" y="827"/>
                    <a:pt x="1063" y="4177"/>
                    <a:pt x="1081" y="5217"/>
                  </a:cubicBezTo>
                  <a:cubicBezTo>
                    <a:pt x="1081" y="6238"/>
                    <a:pt x="869" y="8239"/>
                    <a:pt x="869" y="8239"/>
                  </a:cubicBezTo>
                  <a:cubicBezTo>
                    <a:pt x="869" y="8239"/>
                    <a:pt x="1459" y="8600"/>
                    <a:pt x="2729" y="8600"/>
                  </a:cubicBezTo>
                  <a:cubicBezTo>
                    <a:pt x="3263" y="8600"/>
                    <a:pt x="3918" y="8536"/>
                    <a:pt x="4699" y="8354"/>
                  </a:cubicBezTo>
                  <a:cubicBezTo>
                    <a:pt x="7356" y="7739"/>
                    <a:pt x="7259" y="7351"/>
                    <a:pt x="7259" y="7351"/>
                  </a:cubicBezTo>
                  <a:cubicBezTo>
                    <a:pt x="7259" y="7351"/>
                    <a:pt x="6778" y="6159"/>
                    <a:pt x="6681" y="5332"/>
                  </a:cubicBezTo>
                  <a:cubicBezTo>
                    <a:pt x="6608" y="4524"/>
                    <a:pt x="6608" y="3599"/>
                    <a:pt x="6529" y="2809"/>
                  </a:cubicBezTo>
                  <a:cubicBezTo>
                    <a:pt x="6432" y="2019"/>
                    <a:pt x="5757" y="555"/>
                    <a:pt x="5642" y="347"/>
                  </a:cubicBezTo>
                  <a:cubicBezTo>
                    <a:pt x="5545" y="134"/>
                    <a:pt x="5124" y="0"/>
                    <a:pt x="5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6102350" y="2105156"/>
              <a:ext cx="1005628" cy="1188793"/>
            </a:xfrm>
            <a:custGeom>
              <a:avLst/>
              <a:gdLst/>
              <a:ahLst/>
              <a:cxnLst/>
              <a:rect l="l" t="t" r="r" b="b"/>
              <a:pathLst>
                <a:path w="7357" h="8697" extrusionOk="0">
                  <a:moveTo>
                    <a:pt x="5180" y="97"/>
                  </a:moveTo>
                  <a:cubicBezTo>
                    <a:pt x="5180" y="97"/>
                    <a:pt x="5277" y="134"/>
                    <a:pt x="5370" y="176"/>
                  </a:cubicBezTo>
                  <a:cubicBezTo>
                    <a:pt x="5485" y="231"/>
                    <a:pt x="5624" y="329"/>
                    <a:pt x="5661" y="407"/>
                  </a:cubicBezTo>
                  <a:cubicBezTo>
                    <a:pt x="5776" y="620"/>
                    <a:pt x="6433" y="2080"/>
                    <a:pt x="6525" y="2851"/>
                  </a:cubicBezTo>
                  <a:cubicBezTo>
                    <a:pt x="6622" y="3641"/>
                    <a:pt x="6603" y="4566"/>
                    <a:pt x="6700" y="5393"/>
                  </a:cubicBezTo>
                  <a:cubicBezTo>
                    <a:pt x="6779" y="6220"/>
                    <a:pt x="7260" y="7375"/>
                    <a:pt x="7260" y="7393"/>
                  </a:cubicBezTo>
                  <a:cubicBezTo>
                    <a:pt x="7260" y="7393"/>
                    <a:pt x="7260" y="7412"/>
                    <a:pt x="7241" y="7435"/>
                  </a:cubicBezTo>
                  <a:cubicBezTo>
                    <a:pt x="7218" y="7472"/>
                    <a:pt x="7144" y="7527"/>
                    <a:pt x="7010" y="7624"/>
                  </a:cubicBezTo>
                  <a:cubicBezTo>
                    <a:pt x="6700" y="7781"/>
                    <a:pt x="6063" y="8049"/>
                    <a:pt x="4755" y="8359"/>
                  </a:cubicBezTo>
                  <a:cubicBezTo>
                    <a:pt x="3997" y="8533"/>
                    <a:pt x="3362" y="8596"/>
                    <a:pt x="2843" y="8596"/>
                  </a:cubicBezTo>
                  <a:cubicBezTo>
                    <a:pt x="2454" y="8596"/>
                    <a:pt x="2130" y="8561"/>
                    <a:pt x="1867" y="8512"/>
                  </a:cubicBezTo>
                  <a:cubicBezTo>
                    <a:pt x="1253" y="8415"/>
                    <a:pt x="1003" y="8244"/>
                    <a:pt x="980" y="8244"/>
                  </a:cubicBezTo>
                  <a:cubicBezTo>
                    <a:pt x="980" y="8183"/>
                    <a:pt x="1193" y="6280"/>
                    <a:pt x="1174" y="5259"/>
                  </a:cubicBezTo>
                  <a:cubicBezTo>
                    <a:pt x="1174" y="4718"/>
                    <a:pt x="906" y="3623"/>
                    <a:pt x="634" y="2657"/>
                  </a:cubicBezTo>
                  <a:cubicBezTo>
                    <a:pt x="384" y="1696"/>
                    <a:pt x="116" y="888"/>
                    <a:pt x="116" y="869"/>
                  </a:cubicBezTo>
                  <a:lnTo>
                    <a:pt x="153" y="828"/>
                  </a:lnTo>
                  <a:cubicBezTo>
                    <a:pt x="195" y="791"/>
                    <a:pt x="269" y="754"/>
                    <a:pt x="403" y="712"/>
                  </a:cubicBezTo>
                  <a:cubicBezTo>
                    <a:pt x="675" y="620"/>
                    <a:pt x="1077" y="523"/>
                    <a:pt x="1077" y="523"/>
                  </a:cubicBezTo>
                  <a:lnTo>
                    <a:pt x="1096" y="523"/>
                  </a:lnTo>
                  <a:cubicBezTo>
                    <a:pt x="1119" y="523"/>
                    <a:pt x="1211" y="504"/>
                    <a:pt x="1350" y="481"/>
                  </a:cubicBezTo>
                  <a:cubicBezTo>
                    <a:pt x="1484" y="463"/>
                    <a:pt x="1655" y="444"/>
                    <a:pt x="1849" y="407"/>
                  </a:cubicBezTo>
                  <a:cubicBezTo>
                    <a:pt x="2251" y="365"/>
                    <a:pt x="2755" y="310"/>
                    <a:pt x="3254" y="273"/>
                  </a:cubicBezTo>
                  <a:cubicBezTo>
                    <a:pt x="4238" y="176"/>
                    <a:pt x="5162" y="97"/>
                    <a:pt x="5180" y="97"/>
                  </a:cubicBezTo>
                  <a:close/>
                  <a:moveTo>
                    <a:pt x="5180" y="0"/>
                  </a:moveTo>
                  <a:cubicBezTo>
                    <a:pt x="5180" y="0"/>
                    <a:pt x="4238" y="79"/>
                    <a:pt x="3254" y="176"/>
                  </a:cubicBezTo>
                  <a:cubicBezTo>
                    <a:pt x="2755" y="213"/>
                    <a:pt x="2251" y="273"/>
                    <a:pt x="1849" y="310"/>
                  </a:cubicBezTo>
                  <a:cubicBezTo>
                    <a:pt x="1636" y="329"/>
                    <a:pt x="1465" y="347"/>
                    <a:pt x="1327" y="365"/>
                  </a:cubicBezTo>
                  <a:cubicBezTo>
                    <a:pt x="1211" y="389"/>
                    <a:pt x="1119" y="407"/>
                    <a:pt x="1059" y="426"/>
                  </a:cubicBezTo>
                  <a:cubicBezTo>
                    <a:pt x="1059" y="426"/>
                    <a:pt x="657" y="523"/>
                    <a:pt x="366" y="597"/>
                  </a:cubicBezTo>
                  <a:cubicBezTo>
                    <a:pt x="213" y="657"/>
                    <a:pt x="135" y="712"/>
                    <a:pt x="79" y="754"/>
                  </a:cubicBezTo>
                  <a:cubicBezTo>
                    <a:pt x="56" y="791"/>
                    <a:pt x="38" y="809"/>
                    <a:pt x="19" y="828"/>
                  </a:cubicBezTo>
                  <a:lnTo>
                    <a:pt x="19" y="851"/>
                  </a:lnTo>
                  <a:lnTo>
                    <a:pt x="1" y="869"/>
                  </a:lnTo>
                  <a:lnTo>
                    <a:pt x="19" y="888"/>
                  </a:lnTo>
                  <a:cubicBezTo>
                    <a:pt x="19" y="888"/>
                    <a:pt x="269" y="1715"/>
                    <a:pt x="541" y="2699"/>
                  </a:cubicBezTo>
                  <a:cubicBezTo>
                    <a:pt x="809" y="3660"/>
                    <a:pt x="1059" y="4755"/>
                    <a:pt x="1077" y="5259"/>
                  </a:cubicBezTo>
                  <a:cubicBezTo>
                    <a:pt x="1096" y="6280"/>
                    <a:pt x="865" y="8262"/>
                    <a:pt x="865" y="8262"/>
                  </a:cubicBezTo>
                  <a:lnTo>
                    <a:pt x="865" y="8299"/>
                  </a:lnTo>
                  <a:lnTo>
                    <a:pt x="906" y="8317"/>
                  </a:lnTo>
                  <a:cubicBezTo>
                    <a:pt x="906" y="8317"/>
                    <a:pt x="1211" y="8512"/>
                    <a:pt x="1849" y="8627"/>
                  </a:cubicBezTo>
                  <a:cubicBezTo>
                    <a:pt x="2108" y="8667"/>
                    <a:pt x="2422" y="8696"/>
                    <a:pt x="2794" y="8696"/>
                  </a:cubicBezTo>
                  <a:cubicBezTo>
                    <a:pt x="3332" y="8696"/>
                    <a:pt x="3990" y="8634"/>
                    <a:pt x="4774" y="8451"/>
                  </a:cubicBezTo>
                  <a:cubicBezTo>
                    <a:pt x="6104" y="8147"/>
                    <a:pt x="6737" y="7897"/>
                    <a:pt x="7047" y="7703"/>
                  </a:cubicBezTo>
                  <a:cubicBezTo>
                    <a:pt x="7218" y="7624"/>
                    <a:pt x="7297" y="7550"/>
                    <a:pt x="7334" y="7490"/>
                  </a:cubicBezTo>
                  <a:cubicBezTo>
                    <a:pt x="7357" y="7453"/>
                    <a:pt x="7357" y="7435"/>
                    <a:pt x="7357" y="7412"/>
                  </a:cubicBezTo>
                  <a:lnTo>
                    <a:pt x="7357" y="7393"/>
                  </a:lnTo>
                  <a:lnTo>
                    <a:pt x="7357" y="7375"/>
                  </a:lnTo>
                  <a:cubicBezTo>
                    <a:pt x="7357" y="7375"/>
                    <a:pt x="6895" y="6183"/>
                    <a:pt x="6798" y="5374"/>
                  </a:cubicBezTo>
                  <a:cubicBezTo>
                    <a:pt x="6700" y="4566"/>
                    <a:pt x="6719" y="3641"/>
                    <a:pt x="6622" y="2851"/>
                  </a:cubicBezTo>
                  <a:cubicBezTo>
                    <a:pt x="6525" y="2043"/>
                    <a:pt x="5873" y="578"/>
                    <a:pt x="5758" y="365"/>
                  </a:cubicBezTo>
                  <a:cubicBezTo>
                    <a:pt x="5679" y="231"/>
                    <a:pt x="5545" y="158"/>
                    <a:pt x="5430" y="97"/>
                  </a:cubicBezTo>
                  <a:cubicBezTo>
                    <a:pt x="5314" y="19"/>
                    <a:pt x="5199" y="0"/>
                    <a:pt x="519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6260227" y="1815919"/>
              <a:ext cx="510537" cy="446566"/>
            </a:xfrm>
            <a:custGeom>
              <a:avLst/>
              <a:gdLst/>
              <a:ahLst/>
              <a:cxnLst/>
              <a:rect l="l" t="t" r="r" b="b"/>
              <a:pathLst>
                <a:path w="3735" h="3267" extrusionOk="0">
                  <a:moveTo>
                    <a:pt x="1022" y="0"/>
                  </a:moveTo>
                  <a:cubicBezTo>
                    <a:pt x="1022" y="0"/>
                    <a:pt x="943" y="1539"/>
                    <a:pt x="749" y="1927"/>
                  </a:cubicBezTo>
                  <a:cubicBezTo>
                    <a:pt x="634" y="2177"/>
                    <a:pt x="250" y="2366"/>
                    <a:pt x="1" y="2463"/>
                  </a:cubicBezTo>
                  <a:cubicBezTo>
                    <a:pt x="331" y="2865"/>
                    <a:pt x="852" y="3267"/>
                    <a:pt x="1592" y="3267"/>
                  </a:cubicBezTo>
                  <a:cubicBezTo>
                    <a:pt x="1669" y="3267"/>
                    <a:pt x="1749" y="3262"/>
                    <a:pt x="1831" y="3253"/>
                  </a:cubicBezTo>
                  <a:cubicBezTo>
                    <a:pt x="2810" y="3138"/>
                    <a:pt x="3406" y="2579"/>
                    <a:pt x="3734" y="2158"/>
                  </a:cubicBezTo>
                  <a:cubicBezTo>
                    <a:pt x="3697" y="2116"/>
                    <a:pt x="3637" y="2098"/>
                    <a:pt x="3582" y="2061"/>
                  </a:cubicBezTo>
                  <a:cubicBezTo>
                    <a:pt x="3235" y="1867"/>
                    <a:pt x="2907" y="1617"/>
                    <a:pt x="2810" y="1386"/>
                  </a:cubicBezTo>
                  <a:cubicBezTo>
                    <a:pt x="2736" y="1137"/>
                    <a:pt x="2773" y="0"/>
                    <a:pt x="2773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6246968" y="1807717"/>
              <a:ext cx="534458" cy="462832"/>
            </a:xfrm>
            <a:custGeom>
              <a:avLst/>
              <a:gdLst/>
              <a:ahLst/>
              <a:cxnLst/>
              <a:rect l="l" t="t" r="r" b="b"/>
              <a:pathLst>
                <a:path w="3910" h="3386" extrusionOk="0">
                  <a:moveTo>
                    <a:pt x="1174" y="97"/>
                  </a:moveTo>
                  <a:lnTo>
                    <a:pt x="2810" y="116"/>
                  </a:lnTo>
                  <a:lnTo>
                    <a:pt x="2810" y="656"/>
                  </a:lnTo>
                  <a:lnTo>
                    <a:pt x="2810" y="1118"/>
                  </a:lnTo>
                  <a:cubicBezTo>
                    <a:pt x="2833" y="1271"/>
                    <a:pt x="2833" y="1386"/>
                    <a:pt x="2870" y="1446"/>
                  </a:cubicBezTo>
                  <a:cubicBezTo>
                    <a:pt x="2949" y="1714"/>
                    <a:pt x="3295" y="1987"/>
                    <a:pt x="3642" y="2158"/>
                  </a:cubicBezTo>
                  <a:cubicBezTo>
                    <a:pt x="3679" y="2176"/>
                    <a:pt x="3716" y="2195"/>
                    <a:pt x="3757" y="2218"/>
                  </a:cubicBezTo>
                  <a:cubicBezTo>
                    <a:pt x="3429" y="2639"/>
                    <a:pt x="2852" y="3161"/>
                    <a:pt x="1928" y="3258"/>
                  </a:cubicBezTo>
                  <a:cubicBezTo>
                    <a:pt x="1848" y="3267"/>
                    <a:pt x="1771" y="3271"/>
                    <a:pt x="1696" y="3271"/>
                  </a:cubicBezTo>
                  <a:cubicBezTo>
                    <a:pt x="1008" y="3271"/>
                    <a:pt x="506" y="2908"/>
                    <a:pt x="176" y="2541"/>
                  </a:cubicBezTo>
                  <a:cubicBezTo>
                    <a:pt x="292" y="2486"/>
                    <a:pt x="426" y="2426"/>
                    <a:pt x="560" y="2352"/>
                  </a:cubicBezTo>
                  <a:cubicBezTo>
                    <a:pt x="694" y="2255"/>
                    <a:pt x="828" y="2139"/>
                    <a:pt x="906" y="2005"/>
                  </a:cubicBezTo>
                  <a:cubicBezTo>
                    <a:pt x="943" y="1908"/>
                    <a:pt x="985" y="1733"/>
                    <a:pt x="1022" y="1525"/>
                  </a:cubicBezTo>
                  <a:cubicBezTo>
                    <a:pt x="1059" y="1331"/>
                    <a:pt x="1077" y="1100"/>
                    <a:pt x="1100" y="887"/>
                  </a:cubicBezTo>
                  <a:cubicBezTo>
                    <a:pt x="1156" y="462"/>
                    <a:pt x="1174" y="157"/>
                    <a:pt x="1174" y="97"/>
                  </a:cubicBezTo>
                  <a:close/>
                  <a:moveTo>
                    <a:pt x="1077" y="0"/>
                  </a:moveTo>
                  <a:lnTo>
                    <a:pt x="1077" y="60"/>
                  </a:lnTo>
                  <a:cubicBezTo>
                    <a:pt x="1077" y="60"/>
                    <a:pt x="1040" y="444"/>
                    <a:pt x="1003" y="869"/>
                  </a:cubicBezTo>
                  <a:cubicBezTo>
                    <a:pt x="985" y="1081"/>
                    <a:pt x="943" y="1312"/>
                    <a:pt x="925" y="1525"/>
                  </a:cubicBezTo>
                  <a:cubicBezTo>
                    <a:pt x="888" y="1714"/>
                    <a:pt x="846" y="1871"/>
                    <a:pt x="809" y="1964"/>
                  </a:cubicBezTo>
                  <a:cubicBezTo>
                    <a:pt x="754" y="2061"/>
                    <a:pt x="638" y="2176"/>
                    <a:pt x="500" y="2255"/>
                  </a:cubicBezTo>
                  <a:cubicBezTo>
                    <a:pt x="366" y="2352"/>
                    <a:pt x="195" y="2426"/>
                    <a:pt x="79" y="2486"/>
                  </a:cubicBezTo>
                  <a:lnTo>
                    <a:pt x="1" y="2505"/>
                  </a:lnTo>
                  <a:lnTo>
                    <a:pt x="61" y="2565"/>
                  </a:lnTo>
                  <a:cubicBezTo>
                    <a:pt x="394" y="2965"/>
                    <a:pt x="950" y="3385"/>
                    <a:pt x="1720" y="3385"/>
                  </a:cubicBezTo>
                  <a:cubicBezTo>
                    <a:pt x="1793" y="3385"/>
                    <a:pt x="1869" y="3381"/>
                    <a:pt x="1946" y="3373"/>
                  </a:cubicBezTo>
                  <a:cubicBezTo>
                    <a:pt x="2949" y="3258"/>
                    <a:pt x="3545" y="2680"/>
                    <a:pt x="3891" y="2237"/>
                  </a:cubicBezTo>
                  <a:lnTo>
                    <a:pt x="3910" y="2195"/>
                  </a:lnTo>
                  <a:lnTo>
                    <a:pt x="3873" y="2158"/>
                  </a:lnTo>
                  <a:cubicBezTo>
                    <a:pt x="3813" y="2139"/>
                    <a:pt x="3757" y="2103"/>
                    <a:pt x="3697" y="2079"/>
                  </a:cubicBezTo>
                  <a:cubicBezTo>
                    <a:pt x="3351" y="1890"/>
                    <a:pt x="3041" y="1640"/>
                    <a:pt x="2967" y="1428"/>
                  </a:cubicBezTo>
                  <a:cubicBezTo>
                    <a:pt x="2949" y="1368"/>
                    <a:pt x="2926" y="1252"/>
                    <a:pt x="2926" y="1118"/>
                  </a:cubicBezTo>
                  <a:cubicBezTo>
                    <a:pt x="2907" y="984"/>
                    <a:pt x="2907" y="809"/>
                    <a:pt x="2907" y="656"/>
                  </a:cubicBezTo>
                  <a:cubicBezTo>
                    <a:pt x="2907" y="347"/>
                    <a:pt x="2926" y="60"/>
                    <a:pt x="2926" y="60"/>
                  </a:cubicBezTo>
                  <a:lnTo>
                    <a:pt x="2926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6183817" y="2042005"/>
              <a:ext cx="681673" cy="307963"/>
            </a:xfrm>
            <a:custGeom>
              <a:avLst/>
              <a:gdLst/>
              <a:ahLst/>
              <a:cxnLst/>
              <a:rect l="l" t="t" r="r" b="b"/>
              <a:pathLst>
                <a:path w="4987" h="2253" extrusionOk="0">
                  <a:moveTo>
                    <a:pt x="3776" y="0"/>
                  </a:moveTo>
                  <a:cubicBezTo>
                    <a:pt x="3697" y="0"/>
                    <a:pt x="3776" y="925"/>
                    <a:pt x="2755" y="1082"/>
                  </a:cubicBezTo>
                  <a:cubicBezTo>
                    <a:pt x="2685" y="1092"/>
                    <a:pt x="2617" y="1097"/>
                    <a:pt x="2553" y="1097"/>
                  </a:cubicBezTo>
                  <a:cubicBezTo>
                    <a:pt x="1668" y="1097"/>
                    <a:pt x="1234" y="194"/>
                    <a:pt x="1234" y="194"/>
                  </a:cubicBezTo>
                  <a:cubicBezTo>
                    <a:pt x="1234" y="194"/>
                    <a:pt x="1191" y="151"/>
                    <a:pt x="1111" y="151"/>
                  </a:cubicBezTo>
                  <a:cubicBezTo>
                    <a:pt x="1070" y="151"/>
                    <a:pt x="1020" y="162"/>
                    <a:pt x="962" y="194"/>
                  </a:cubicBezTo>
                  <a:cubicBezTo>
                    <a:pt x="791" y="291"/>
                    <a:pt x="694" y="462"/>
                    <a:pt x="347" y="559"/>
                  </a:cubicBezTo>
                  <a:cubicBezTo>
                    <a:pt x="1" y="657"/>
                    <a:pt x="79" y="675"/>
                    <a:pt x="310" y="906"/>
                  </a:cubicBezTo>
                  <a:cubicBezTo>
                    <a:pt x="496" y="1092"/>
                    <a:pt x="1434" y="2253"/>
                    <a:pt x="2763" y="2253"/>
                  </a:cubicBezTo>
                  <a:cubicBezTo>
                    <a:pt x="2951" y="2253"/>
                    <a:pt x="3147" y="2229"/>
                    <a:pt x="3351" y="2177"/>
                  </a:cubicBezTo>
                  <a:cubicBezTo>
                    <a:pt x="4986" y="1775"/>
                    <a:pt x="4797" y="523"/>
                    <a:pt x="4737" y="444"/>
                  </a:cubicBezTo>
                  <a:cubicBezTo>
                    <a:pt x="4700" y="389"/>
                    <a:pt x="3873" y="0"/>
                    <a:pt x="37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6192018" y="2034350"/>
              <a:ext cx="652558" cy="323409"/>
            </a:xfrm>
            <a:custGeom>
              <a:avLst/>
              <a:gdLst/>
              <a:ahLst/>
              <a:cxnLst/>
              <a:rect l="l" t="t" r="r" b="b"/>
              <a:pathLst>
                <a:path w="4774" h="2366" extrusionOk="0">
                  <a:moveTo>
                    <a:pt x="3771" y="116"/>
                  </a:moveTo>
                  <a:cubicBezTo>
                    <a:pt x="3790" y="135"/>
                    <a:pt x="3831" y="153"/>
                    <a:pt x="3868" y="153"/>
                  </a:cubicBezTo>
                  <a:cubicBezTo>
                    <a:pt x="3965" y="190"/>
                    <a:pt x="4081" y="250"/>
                    <a:pt x="4196" y="306"/>
                  </a:cubicBezTo>
                  <a:cubicBezTo>
                    <a:pt x="4293" y="347"/>
                    <a:pt x="4409" y="403"/>
                    <a:pt x="4506" y="445"/>
                  </a:cubicBezTo>
                  <a:cubicBezTo>
                    <a:pt x="4543" y="481"/>
                    <a:pt x="4580" y="500"/>
                    <a:pt x="4598" y="500"/>
                  </a:cubicBezTo>
                  <a:cubicBezTo>
                    <a:pt x="4621" y="518"/>
                    <a:pt x="4640" y="537"/>
                    <a:pt x="4640" y="537"/>
                  </a:cubicBezTo>
                  <a:cubicBezTo>
                    <a:pt x="4640" y="560"/>
                    <a:pt x="4658" y="579"/>
                    <a:pt x="4658" y="597"/>
                  </a:cubicBezTo>
                  <a:lnTo>
                    <a:pt x="4658" y="749"/>
                  </a:lnTo>
                  <a:cubicBezTo>
                    <a:pt x="4658" y="865"/>
                    <a:pt x="4640" y="1041"/>
                    <a:pt x="4580" y="1230"/>
                  </a:cubicBezTo>
                  <a:cubicBezTo>
                    <a:pt x="4427" y="1577"/>
                    <a:pt x="4081" y="1983"/>
                    <a:pt x="3291" y="2196"/>
                  </a:cubicBezTo>
                  <a:cubicBezTo>
                    <a:pt x="3098" y="2241"/>
                    <a:pt x="2913" y="2261"/>
                    <a:pt x="2734" y="2261"/>
                  </a:cubicBezTo>
                  <a:cubicBezTo>
                    <a:pt x="2162" y="2261"/>
                    <a:pt x="1666" y="2053"/>
                    <a:pt x="1271" y="1789"/>
                  </a:cubicBezTo>
                  <a:cubicBezTo>
                    <a:pt x="999" y="1618"/>
                    <a:pt x="786" y="1424"/>
                    <a:pt x="615" y="1272"/>
                  </a:cubicBezTo>
                  <a:cubicBezTo>
                    <a:pt x="463" y="1096"/>
                    <a:pt x="347" y="981"/>
                    <a:pt x="287" y="925"/>
                  </a:cubicBezTo>
                  <a:cubicBezTo>
                    <a:pt x="232" y="865"/>
                    <a:pt x="172" y="828"/>
                    <a:pt x="153" y="791"/>
                  </a:cubicBezTo>
                  <a:lnTo>
                    <a:pt x="116" y="749"/>
                  </a:lnTo>
                  <a:cubicBezTo>
                    <a:pt x="116" y="731"/>
                    <a:pt x="116" y="731"/>
                    <a:pt x="135" y="731"/>
                  </a:cubicBezTo>
                  <a:cubicBezTo>
                    <a:pt x="153" y="713"/>
                    <a:pt x="209" y="694"/>
                    <a:pt x="306" y="676"/>
                  </a:cubicBezTo>
                  <a:cubicBezTo>
                    <a:pt x="671" y="579"/>
                    <a:pt x="786" y="384"/>
                    <a:pt x="943" y="287"/>
                  </a:cubicBezTo>
                  <a:cubicBezTo>
                    <a:pt x="976" y="266"/>
                    <a:pt x="1010" y="257"/>
                    <a:pt x="1040" y="257"/>
                  </a:cubicBezTo>
                  <a:cubicBezTo>
                    <a:pt x="1061" y="257"/>
                    <a:pt x="1081" y="261"/>
                    <a:pt x="1096" y="269"/>
                  </a:cubicBezTo>
                  <a:cubicBezTo>
                    <a:pt x="1133" y="269"/>
                    <a:pt x="1133" y="287"/>
                    <a:pt x="1133" y="287"/>
                  </a:cubicBezTo>
                  <a:cubicBezTo>
                    <a:pt x="1156" y="306"/>
                    <a:pt x="1271" y="537"/>
                    <a:pt x="1521" y="791"/>
                  </a:cubicBezTo>
                  <a:cubicBezTo>
                    <a:pt x="1731" y="1001"/>
                    <a:pt x="2048" y="1197"/>
                    <a:pt x="2453" y="1197"/>
                  </a:cubicBezTo>
                  <a:cubicBezTo>
                    <a:pt x="2531" y="1197"/>
                    <a:pt x="2611" y="1190"/>
                    <a:pt x="2695" y="1175"/>
                  </a:cubicBezTo>
                  <a:cubicBezTo>
                    <a:pt x="3235" y="1096"/>
                    <a:pt x="3485" y="828"/>
                    <a:pt x="3600" y="560"/>
                  </a:cubicBezTo>
                  <a:cubicBezTo>
                    <a:pt x="3656" y="421"/>
                    <a:pt x="3697" y="306"/>
                    <a:pt x="3716" y="213"/>
                  </a:cubicBezTo>
                  <a:cubicBezTo>
                    <a:pt x="3734" y="172"/>
                    <a:pt x="3734" y="135"/>
                    <a:pt x="3734" y="116"/>
                  </a:cubicBezTo>
                  <a:close/>
                  <a:moveTo>
                    <a:pt x="3716" y="1"/>
                  </a:moveTo>
                  <a:cubicBezTo>
                    <a:pt x="3697" y="1"/>
                    <a:pt x="3674" y="19"/>
                    <a:pt x="3656" y="38"/>
                  </a:cubicBezTo>
                  <a:cubicBezTo>
                    <a:pt x="3656" y="56"/>
                    <a:pt x="3637" y="56"/>
                    <a:pt x="3637" y="75"/>
                  </a:cubicBezTo>
                  <a:cubicBezTo>
                    <a:pt x="3637" y="116"/>
                    <a:pt x="3619" y="135"/>
                    <a:pt x="3619" y="190"/>
                  </a:cubicBezTo>
                  <a:cubicBezTo>
                    <a:pt x="3600" y="269"/>
                    <a:pt x="3559" y="384"/>
                    <a:pt x="3503" y="518"/>
                  </a:cubicBezTo>
                  <a:cubicBezTo>
                    <a:pt x="3406" y="749"/>
                    <a:pt x="3175" y="999"/>
                    <a:pt x="2695" y="1078"/>
                  </a:cubicBezTo>
                  <a:cubicBezTo>
                    <a:pt x="2622" y="1089"/>
                    <a:pt x="2553" y="1094"/>
                    <a:pt x="2486" y="1094"/>
                  </a:cubicBezTo>
                  <a:cubicBezTo>
                    <a:pt x="2091" y="1094"/>
                    <a:pt x="1792" y="910"/>
                    <a:pt x="1595" y="713"/>
                  </a:cubicBezTo>
                  <a:cubicBezTo>
                    <a:pt x="1345" y="481"/>
                    <a:pt x="1230" y="232"/>
                    <a:pt x="1230" y="232"/>
                  </a:cubicBezTo>
                  <a:lnTo>
                    <a:pt x="1211" y="213"/>
                  </a:lnTo>
                  <a:cubicBezTo>
                    <a:pt x="1211" y="213"/>
                    <a:pt x="1174" y="172"/>
                    <a:pt x="1114" y="153"/>
                  </a:cubicBezTo>
                  <a:cubicBezTo>
                    <a:pt x="1059" y="153"/>
                    <a:pt x="980" y="153"/>
                    <a:pt x="883" y="213"/>
                  </a:cubicBezTo>
                  <a:cubicBezTo>
                    <a:pt x="694" y="306"/>
                    <a:pt x="615" y="481"/>
                    <a:pt x="269" y="579"/>
                  </a:cubicBezTo>
                  <a:cubicBezTo>
                    <a:pt x="190" y="597"/>
                    <a:pt x="135" y="615"/>
                    <a:pt x="75" y="634"/>
                  </a:cubicBezTo>
                  <a:cubicBezTo>
                    <a:pt x="56" y="652"/>
                    <a:pt x="38" y="652"/>
                    <a:pt x="19" y="676"/>
                  </a:cubicBezTo>
                  <a:cubicBezTo>
                    <a:pt x="1" y="694"/>
                    <a:pt x="1" y="731"/>
                    <a:pt x="1" y="749"/>
                  </a:cubicBezTo>
                  <a:cubicBezTo>
                    <a:pt x="1" y="791"/>
                    <a:pt x="38" y="828"/>
                    <a:pt x="75" y="865"/>
                  </a:cubicBezTo>
                  <a:lnTo>
                    <a:pt x="209" y="999"/>
                  </a:lnTo>
                  <a:cubicBezTo>
                    <a:pt x="269" y="1041"/>
                    <a:pt x="384" y="1175"/>
                    <a:pt x="555" y="1346"/>
                  </a:cubicBezTo>
                  <a:cubicBezTo>
                    <a:pt x="712" y="1503"/>
                    <a:pt x="943" y="1692"/>
                    <a:pt x="1211" y="1886"/>
                  </a:cubicBezTo>
                  <a:cubicBezTo>
                    <a:pt x="1621" y="2148"/>
                    <a:pt x="2138" y="2366"/>
                    <a:pt x="2724" y="2366"/>
                  </a:cubicBezTo>
                  <a:cubicBezTo>
                    <a:pt x="2913" y="2366"/>
                    <a:pt x="3108" y="2343"/>
                    <a:pt x="3309" y="2293"/>
                  </a:cubicBezTo>
                  <a:cubicBezTo>
                    <a:pt x="4136" y="2080"/>
                    <a:pt x="4524" y="1655"/>
                    <a:pt x="4677" y="1272"/>
                  </a:cubicBezTo>
                  <a:cubicBezTo>
                    <a:pt x="4755" y="1078"/>
                    <a:pt x="4774" y="883"/>
                    <a:pt x="4774" y="749"/>
                  </a:cubicBezTo>
                  <a:cubicBezTo>
                    <a:pt x="4774" y="676"/>
                    <a:pt x="4755" y="615"/>
                    <a:pt x="4755" y="579"/>
                  </a:cubicBezTo>
                  <a:cubicBezTo>
                    <a:pt x="4755" y="560"/>
                    <a:pt x="4755" y="537"/>
                    <a:pt x="4737" y="518"/>
                  </a:cubicBezTo>
                  <a:cubicBezTo>
                    <a:pt x="4737" y="500"/>
                    <a:pt x="4737" y="481"/>
                    <a:pt x="4714" y="481"/>
                  </a:cubicBezTo>
                  <a:cubicBezTo>
                    <a:pt x="4695" y="445"/>
                    <a:pt x="4677" y="445"/>
                    <a:pt x="4658" y="421"/>
                  </a:cubicBezTo>
                  <a:cubicBezTo>
                    <a:pt x="4621" y="403"/>
                    <a:pt x="4580" y="384"/>
                    <a:pt x="4543" y="366"/>
                  </a:cubicBezTo>
                  <a:cubicBezTo>
                    <a:pt x="4464" y="306"/>
                    <a:pt x="4349" y="250"/>
                    <a:pt x="4233" y="213"/>
                  </a:cubicBezTo>
                  <a:cubicBezTo>
                    <a:pt x="4118" y="153"/>
                    <a:pt x="4002" y="98"/>
                    <a:pt x="3905" y="56"/>
                  </a:cubicBezTo>
                  <a:cubicBezTo>
                    <a:pt x="3868" y="38"/>
                    <a:pt x="3831" y="38"/>
                    <a:pt x="3790" y="19"/>
                  </a:cubicBezTo>
                  <a:cubicBezTo>
                    <a:pt x="3771" y="19"/>
                    <a:pt x="3753" y="1"/>
                    <a:pt x="371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6797147" y="3315963"/>
              <a:ext cx="121381" cy="510400"/>
            </a:xfrm>
            <a:custGeom>
              <a:avLst/>
              <a:gdLst/>
              <a:ahLst/>
              <a:cxnLst/>
              <a:rect l="l" t="t" r="r" b="b"/>
              <a:pathLst>
                <a:path w="888" h="3734" extrusionOk="0">
                  <a:moveTo>
                    <a:pt x="656" y="0"/>
                  </a:moveTo>
                  <a:lnTo>
                    <a:pt x="0" y="268"/>
                  </a:lnTo>
                  <a:cubicBezTo>
                    <a:pt x="0" y="268"/>
                    <a:pt x="402" y="3429"/>
                    <a:pt x="425" y="3618"/>
                  </a:cubicBezTo>
                  <a:cubicBezTo>
                    <a:pt x="444" y="3715"/>
                    <a:pt x="656" y="3733"/>
                    <a:pt x="864" y="3733"/>
                  </a:cubicBezTo>
                  <a:lnTo>
                    <a:pt x="887" y="3715"/>
                  </a:lnTo>
                  <a:cubicBezTo>
                    <a:pt x="887" y="3715"/>
                    <a:pt x="749" y="1982"/>
                    <a:pt x="749" y="1174"/>
                  </a:cubicBezTo>
                  <a:cubicBezTo>
                    <a:pt x="749" y="615"/>
                    <a:pt x="693" y="213"/>
                    <a:pt x="6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6788945" y="3305164"/>
              <a:ext cx="137100" cy="529400"/>
            </a:xfrm>
            <a:custGeom>
              <a:avLst/>
              <a:gdLst/>
              <a:ahLst/>
              <a:cxnLst/>
              <a:rect l="l" t="t" r="r" b="b"/>
              <a:pathLst>
                <a:path w="1003" h="3873" extrusionOk="0">
                  <a:moveTo>
                    <a:pt x="675" y="158"/>
                  </a:moveTo>
                  <a:cubicBezTo>
                    <a:pt x="716" y="366"/>
                    <a:pt x="772" y="754"/>
                    <a:pt x="753" y="1253"/>
                  </a:cubicBezTo>
                  <a:cubicBezTo>
                    <a:pt x="753" y="2043"/>
                    <a:pt x="887" y="3679"/>
                    <a:pt x="887" y="3757"/>
                  </a:cubicBezTo>
                  <a:lnTo>
                    <a:pt x="638" y="3757"/>
                  </a:lnTo>
                  <a:cubicBezTo>
                    <a:pt x="601" y="3739"/>
                    <a:pt x="578" y="3739"/>
                    <a:pt x="559" y="3715"/>
                  </a:cubicBezTo>
                  <a:cubicBezTo>
                    <a:pt x="541" y="3715"/>
                    <a:pt x="541" y="3697"/>
                    <a:pt x="541" y="3697"/>
                  </a:cubicBezTo>
                  <a:cubicBezTo>
                    <a:pt x="522" y="3508"/>
                    <a:pt x="116" y="444"/>
                    <a:pt x="116" y="389"/>
                  </a:cubicBezTo>
                  <a:lnTo>
                    <a:pt x="675" y="158"/>
                  </a:lnTo>
                  <a:close/>
                  <a:moveTo>
                    <a:pt x="753" y="1"/>
                  </a:moveTo>
                  <a:lnTo>
                    <a:pt x="693" y="42"/>
                  </a:lnTo>
                  <a:lnTo>
                    <a:pt x="0" y="310"/>
                  </a:lnTo>
                  <a:lnTo>
                    <a:pt x="0" y="347"/>
                  </a:lnTo>
                  <a:cubicBezTo>
                    <a:pt x="0" y="347"/>
                    <a:pt x="407" y="3508"/>
                    <a:pt x="444" y="3715"/>
                  </a:cubicBezTo>
                  <a:cubicBezTo>
                    <a:pt x="444" y="3757"/>
                    <a:pt x="462" y="3794"/>
                    <a:pt x="504" y="3812"/>
                  </a:cubicBezTo>
                  <a:cubicBezTo>
                    <a:pt x="541" y="3831"/>
                    <a:pt x="578" y="3831"/>
                    <a:pt x="619" y="3854"/>
                  </a:cubicBezTo>
                  <a:cubicBezTo>
                    <a:pt x="716" y="3873"/>
                    <a:pt x="832" y="3873"/>
                    <a:pt x="924" y="3873"/>
                  </a:cubicBezTo>
                  <a:lnTo>
                    <a:pt x="947" y="3873"/>
                  </a:lnTo>
                  <a:lnTo>
                    <a:pt x="1003" y="3831"/>
                  </a:lnTo>
                  <a:lnTo>
                    <a:pt x="1003" y="3794"/>
                  </a:lnTo>
                  <a:cubicBezTo>
                    <a:pt x="1003" y="3794"/>
                    <a:pt x="869" y="2061"/>
                    <a:pt x="869" y="1253"/>
                  </a:cubicBezTo>
                  <a:cubicBezTo>
                    <a:pt x="869" y="694"/>
                    <a:pt x="809" y="292"/>
                    <a:pt x="772" y="79"/>
                  </a:cubicBezTo>
                  <a:lnTo>
                    <a:pt x="753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6226191" y="2448387"/>
              <a:ext cx="889442" cy="852399"/>
            </a:xfrm>
            <a:custGeom>
              <a:avLst/>
              <a:gdLst/>
              <a:ahLst/>
              <a:cxnLst/>
              <a:rect l="l" t="t" r="r" b="b"/>
              <a:pathLst>
                <a:path w="6507" h="6236" extrusionOk="0">
                  <a:moveTo>
                    <a:pt x="5024" y="1"/>
                  </a:moveTo>
                  <a:cubicBezTo>
                    <a:pt x="4709" y="1"/>
                    <a:pt x="4135" y="31"/>
                    <a:pt x="3290" y="188"/>
                  </a:cubicBezTo>
                  <a:cubicBezTo>
                    <a:pt x="1904" y="456"/>
                    <a:pt x="924" y="802"/>
                    <a:pt x="924" y="802"/>
                  </a:cubicBezTo>
                  <a:cubicBezTo>
                    <a:pt x="924" y="802"/>
                    <a:pt x="1308" y="2997"/>
                    <a:pt x="1345" y="3515"/>
                  </a:cubicBezTo>
                  <a:cubicBezTo>
                    <a:pt x="1405" y="4018"/>
                    <a:pt x="1271" y="4827"/>
                    <a:pt x="980" y="4924"/>
                  </a:cubicBezTo>
                  <a:cubicBezTo>
                    <a:pt x="712" y="5039"/>
                    <a:pt x="231" y="5039"/>
                    <a:pt x="213" y="5095"/>
                  </a:cubicBezTo>
                  <a:cubicBezTo>
                    <a:pt x="171" y="5173"/>
                    <a:pt x="56" y="5617"/>
                    <a:pt x="37" y="5709"/>
                  </a:cubicBezTo>
                  <a:cubicBezTo>
                    <a:pt x="0" y="5806"/>
                    <a:pt x="97" y="5825"/>
                    <a:pt x="712" y="6056"/>
                  </a:cubicBezTo>
                  <a:cubicBezTo>
                    <a:pt x="1021" y="6172"/>
                    <a:pt x="1354" y="6236"/>
                    <a:pt x="1821" y="6236"/>
                  </a:cubicBezTo>
                  <a:cubicBezTo>
                    <a:pt x="2285" y="6236"/>
                    <a:pt x="2880" y="6173"/>
                    <a:pt x="3715" y="6038"/>
                  </a:cubicBezTo>
                  <a:cubicBezTo>
                    <a:pt x="5388" y="5788"/>
                    <a:pt x="6488" y="5095"/>
                    <a:pt x="6506" y="4882"/>
                  </a:cubicBezTo>
                  <a:cubicBezTo>
                    <a:pt x="6506" y="4670"/>
                    <a:pt x="6257" y="3940"/>
                    <a:pt x="6141" y="3824"/>
                  </a:cubicBezTo>
                  <a:cubicBezTo>
                    <a:pt x="6044" y="3709"/>
                    <a:pt x="5850" y="3824"/>
                    <a:pt x="5716" y="3478"/>
                  </a:cubicBezTo>
                  <a:cubicBezTo>
                    <a:pt x="5582" y="3131"/>
                    <a:pt x="5314" y="12"/>
                    <a:pt x="5314" y="12"/>
                  </a:cubicBezTo>
                  <a:cubicBezTo>
                    <a:pt x="5314" y="12"/>
                    <a:pt x="5218" y="1"/>
                    <a:pt x="5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6223594" y="2442372"/>
              <a:ext cx="900240" cy="866341"/>
            </a:xfrm>
            <a:custGeom>
              <a:avLst/>
              <a:gdLst/>
              <a:ahLst/>
              <a:cxnLst/>
              <a:rect l="l" t="t" r="r" b="b"/>
              <a:pathLst>
                <a:path w="6586" h="6338" extrusionOk="0">
                  <a:moveTo>
                    <a:pt x="4829" y="93"/>
                  </a:moveTo>
                  <a:cubicBezTo>
                    <a:pt x="5139" y="93"/>
                    <a:pt x="5254" y="116"/>
                    <a:pt x="5291" y="116"/>
                  </a:cubicBezTo>
                  <a:cubicBezTo>
                    <a:pt x="5291" y="153"/>
                    <a:pt x="5351" y="865"/>
                    <a:pt x="5430" y="1673"/>
                  </a:cubicBezTo>
                  <a:cubicBezTo>
                    <a:pt x="5467" y="2080"/>
                    <a:pt x="5522" y="2501"/>
                    <a:pt x="5564" y="2847"/>
                  </a:cubicBezTo>
                  <a:cubicBezTo>
                    <a:pt x="5582" y="3023"/>
                    <a:pt x="5601" y="3175"/>
                    <a:pt x="5619" y="3291"/>
                  </a:cubicBezTo>
                  <a:cubicBezTo>
                    <a:pt x="5638" y="3406"/>
                    <a:pt x="5661" y="3485"/>
                    <a:pt x="5680" y="3540"/>
                  </a:cubicBezTo>
                  <a:cubicBezTo>
                    <a:pt x="5753" y="3734"/>
                    <a:pt x="5850" y="3813"/>
                    <a:pt x="5947" y="3831"/>
                  </a:cubicBezTo>
                  <a:cubicBezTo>
                    <a:pt x="5984" y="3850"/>
                    <a:pt x="6026" y="3850"/>
                    <a:pt x="6063" y="3868"/>
                  </a:cubicBezTo>
                  <a:cubicBezTo>
                    <a:pt x="6081" y="3868"/>
                    <a:pt x="6100" y="3887"/>
                    <a:pt x="6123" y="3905"/>
                  </a:cubicBezTo>
                  <a:cubicBezTo>
                    <a:pt x="6142" y="3928"/>
                    <a:pt x="6179" y="3984"/>
                    <a:pt x="6215" y="4081"/>
                  </a:cubicBezTo>
                  <a:cubicBezTo>
                    <a:pt x="6257" y="4159"/>
                    <a:pt x="6294" y="4275"/>
                    <a:pt x="6331" y="4390"/>
                  </a:cubicBezTo>
                  <a:cubicBezTo>
                    <a:pt x="6373" y="4483"/>
                    <a:pt x="6410" y="4598"/>
                    <a:pt x="6428" y="4695"/>
                  </a:cubicBezTo>
                  <a:cubicBezTo>
                    <a:pt x="6447" y="4792"/>
                    <a:pt x="6470" y="4889"/>
                    <a:pt x="6470" y="4926"/>
                  </a:cubicBezTo>
                  <a:cubicBezTo>
                    <a:pt x="6470" y="4926"/>
                    <a:pt x="6447" y="4968"/>
                    <a:pt x="6428" y="5005"/>
                  </a:cubicBezTo>
                  <a:cubicBezTo>
                    <a:pt x="6391" y="5023"/>
                    <a:pt x="6354" y="5083"/>
                    <a:pt x="6276" y="5120"/>
                  </a:cubicBezTo>
                  <a:cubicBezTo>
                    <a:pt x="6160" y="5217"/>
                    <a:pt x="5966" y="5333"/>
                    <a:pt x="5716" y="5448"/>
                  </a:cubicBezTo>
                  <a:cubicBezTo>
                    <a:pt x="5236" y="5680"/>
                    <a:pt x="4561" y="5911"/>
                    <a:pt x="3734" y="6045"/>
                  </a:cubicBezTo>
                  <a:cubicBezTo>
                    <a:pt x="2879" y="6172"/>
                    <a:pt x="2276" y="6234"/>
                    <a:pt x="1810" y="6234"/>
                  </a:cubicBezTo>
                  <a:cubicBezTo>
                    <a:pt x="1362" y="6234"/>
                    <a:pt x="1042" y="6176"/>
                    <a:pt x="749" y="6063"/>
                  </a:cubicBezTo>
                  <a:cubicBezTo>
                    <a:pt x="440" y="5948"/>
                    <a:pt x="269" y="5869"/>
                    <a:pt x="172" y="5832"/>
                  </a:cubicBezTo>
                  <a:cubicBezTo>
                    <a:pt x="135" y="5814"/>
                    <a:pt x="116" y="5795"/>
                    <a:pt x="93" y="5795"/>
                  </a:cubicBezTo>
                  <a:lnTo>
                    <a:pt x="93" y="5777"/>
                  </a:lnTo>
                  <a:cubicBezTo>
                    <a:pt x="116" y="5716"/>
                    <a:pt x="153" y="5582"/>
                    <a:pt x="190" y="5448"/>
                  </a:cubicBezTo>
                  <a:cubicBezTo>
                    <a:pt x="232" y="5314"/>
                    <a:pt x="269" y="5176"/>
                    <a:pt x="269" y="5157"/>
                  </a:cubicBezTo>
                  <a:lnTo>
                    <a:pt x="324" y="5157"/>
                  </a:lnTo>
                  <a:cubicBezTo>
                    <a:pt x="384" y="5139"/>
                    <a:pt x="440" y="5139"/>
                    <a:pt x="518" y="5120"/>
                  </a:cubicBezTo>
                  <a:cubicBezTo>
                    <a:pt x="694" y="5102"/>
                    <a:pt x="883" y="5083"/>
                    <a:pt x="1017" y="5023"/>
                  </a:cubicBezTo>
                  <a:cubicBezTo>
                    <a:pt x="1114" y="4986"/>
                    <a:pt x="1174" y="4908"/>
                    <a:pt x="1230" y="4792"/>
                  </a:cubicBezTo>
                  <a:cubicBezTo>
                    <a:pt x="1290" y="4695"/>
                    <a:pt x="1327" y="4561"/>
                    <a:pt x="1364" y="4427"/>
                  </a:cubicBezTo>
                  <a:cubicBezTo>
                    <a:pt x="1424" y="4136"/>
                    <a:pt x="1442" y="3813"/>
                    <a:pt x="1424" y="3540"/>
                  </a:cubicBezTo>
                  <a:cubicBezTo>
                    <a:pt x="1405" y="3291"/>
                    <a:pt x="1290" y="2616"/>
                    <a:pt x="1193" y="2002"/>
                  </a:cubicBezTo>
                  <a:cubicBezTo>
                    <a:pt x="1096" y="1405"/>
                    <a:pt x="999" y="925"/>
                    <a:pt x="999" y="883"/>
                  </a:cubicBezTo>
                  <a:cubicBezTo>
                    <a:pt x="1040" y="865"/>
                    <a:pt x="1965" y="537"/>
                    <a:pt x="3309" y="287"/>
                  </a:cubicBezTo>
                  <a:cubicBezTo>
                    <a:pt x="4002" y="153"/>
                    <a:pt x="4506" y="116"/>
                    <a:pt x="4829" y="93"/>
                  </a:cubicBezTo>
                  <a:close/>
                  <a:moveTo>
                    <a:pt x="4829" y="1"/>
                  </a:moveTo>
                  <a:cubicBezTo>
                    <a:pt x="4506" y="19"/>
                    <a:pt x="3984" y="56"/>
                    <a:pt x="3291" y="190"/>
                  </a:cubicBezTo>
                  <a:cubicBezTo>
                    <a:pt x="1904" y="440"/>
                    <a:pt x="925" y="786"/>
                    <a:pt x="925" y="786"/>
                  </a:cubicBezTo>
                  <a:lnTo>
                    <a:pt x="883" y="809"/>
                  </a:lnTo>
                  <a:lnTo>
                    <a:pt x="883" y="846"/>
                  </a:lnTo>
                  <a:cubicBezTo>
                    <a:pt x="883" y="846"/>
                    <a:pt x="980" y="1405"/>
                    <a:pt x="1077" y="2020"/>
                  </a:cubicBezTo>
                  <a:cubicBezTo>
                    <a:pt x="1193" y="2635"/>
                    <a:pt x="1290" y="3309"/>
                    <a:pt x="1327" y="3559"/>
                  </a:cubicBezTo>
                  <a:cubicBezTo>
                    <a:pt x="1345" y="3813"/>
                    <a:pt x="1327" y="4136"/>
                    <a:pt x="1271" y="4409"/>
                  </a:cubicBezTo>
                  <a:cubicBezTo>
                    <a:pt x="1230" y="4543"/>
                    <a:pt x="1193" y="4658"/>
                    <a:pt x="1133" y="4755"/>
                  </a:cubicBezTo>
                  <a:cubicBezTo>
                    <a:pt x="1096" y="4852"/>
                    <a:pt x="1040" y="4908"/>
                    <a:pt x="980" y="4926"/>
                  </a:cubicBezTo>
                  <a:cubicBezTo>
                    <a:pt x="865" y="4968"/>
                    <a:pt x="671" y="5005"/>
                    <a:pt x="518" y="5023"/>
                  </a:cubicBezTo>
                  <a:cubicBezTo>
                    <a:pt x="440" y="5023"/>
                    <a:pt x="366" y="5042"/>
                    <a:pt x="306" y="5042"/>
                  </a:cubicBezTo>
                  <a:cubicBezTo>
                    <a:pt x="287" y="5060"/>
                    <a:pt x="250" y="5060"/>
                    <a:pt x="232" y="5060"/>
                  </a:cubicBezTo>
                  <a:cubicBezTo>
                    <a:pt x="209" y="5083"/>
                    <a:pt x="190" y="5102"/>
                    <a:pt x="172" y="5120"/>
                  </a:cubicBezTo>
                  <a:cubicBezTo>
                    <a:pt x="153" y="5176"/>
                    <a:pt x="135" y="5291"/>
                    <a:pt x="93" y="5430"/>
                  </a:cubicBezTo>
                  <a:cubicBezTo>
                    <a:pt x="56" y="5564"/>
                    <a:pt x="19" y="5698"/>
                    <a:pt x="1" y="5735"/>
                  </a:cubicBezTo>
                  <a:cubicBezTo>
                    <a:pt x="1" y="5777"/>
                    <a:pt x="1" y="5814"/>
                    <a:pt x="19" y="5850"/>
                  </a:cubicBezTo>
                  <a:cubicBezTo>
                    <a:pt x="38" y="5892"/>
                    <a:pt x="75" y="5911"/>
                    <a:pt x="135" y="5929"/>
                  </a:cubicBezTo>
                  <a:cubicBezTo>
                    <a:pt x="232" y="5984"/>
                    <a:pt x="403" y="6045"/>
                    <a:pt x="712" y="6160"/>
                  </a:cubicBezTo>
                  <a:cubicBezTo>
                    <a:pt x="1020" y="6276"/>
                    <a:pt x="1356" y="6338"/>
                    <a:pt x="1825" y="6338"/>
                  </a:cubicBezTo>
                  <a:cubicBezTo>
                    <a:pt x="2294" y="6338"/>
                    <a:pt x="2896" y="6276"/>
                    <a:pt x="3734" y="6142"/>
                  </a:cubicBezTo>
                  <a:cubicBezTo>
                    <a:pt x="4580" y="6008"/>
                    <a:pt x="5273" y="5777"/>
                    <a:pt x="5777" y="5546"/>
                  </a:cubicBezTo>
                  <a:cubicBezTo>
                    <a:pt x="6026" y="5430"/>
                    <a:pt x="6215" y="5314"/>
                    <a:pt x="6354" y="5199"/>
                  </a:cubicBezTo>
                  <a:cubicBezTo>
                    <a:pt x="6410" y="5157"/>
                    <a:pt x="6470" y="5102"/>
                    <a:pt x="6507" y="5060"/>
                  </a:cubicBezTo>
                  <a:cubicBezTo>
                    <a:pt x="6544" y="5023"/>
                    <a:pt x="6562" y="4986"/>
                    <a:pt x="6562" y="4926"/>
                  </a:cubicBezTo>
                  <a:cubicBezTo>
                    <a:pt x="6585" y="4871"/>
                    <a:pt x="6562" y="4774"/>
                    <a:pt x="6525" y="4677"/>
                  </a:cubicBezTo>
                  <a:cubicBezTo>
                    <a:pt x="6507" y="4580"/>
                    <a:pt x="6470" y="4464"/>
                    <a:pt x="6428" y="4349"/>
                  </a:cubicBezTo>
                  <a:cubicBezTo>
                    <a:pt x="6391" y="4233"/>
                    <a:pt x="6354" y="4118"/>
                    <a:pt x="6313" y="4021"/>
                  </a:cubicBezTo>
                  <a:cubicBezTo>
                    <a:pt x="6276" y="3947"/>
                    <a:pt x="6239" y="3868"/>
                    <a:pt x="6197" y="3831"/>
                  </a:cubicBezTo>
                  <a:cubicBezTo>
                    <a:pt x="6160" y="3790"/>
                    <a:pt x="6123" y="3771"/>
                    <a:pt x="6081" y="3753"/>
                  </a:cubicBezTo>
                  <a:cubicBezTo>
                    <a:pt x="6045" y="3753"/>
                    <a:pt x="6008" y="3753"/>
                    <a:pt x="5966" y="3734"/>
                  </a:cubicBezTo>
                  <a:cubicBezTo>
                    <a:pt x="5911" y="3716"/>
                    <a:pt x="5850" y="3674"/>
                    <a:pt x="5777" y="3503"/>
                  </a:cubicBezTo>
                  <a:cubicBezTo>
                    <a:pt x="5777" y="3485"/>
                    <a:pt x="5753" y="3388"/>
                    <a:pt x="5735" y="3272"/>
                  </a:cubicBezTo>
                  <a:cubicBezTo>
                    <a:pt x="5716" y="3157"/>
                    <a:pt x="5698" y="3004"/>
                    <a:pt x="5680" y="2829"/>
                  </a:cubicBezTo>
                  <a:cubicBezTo>
                    <a:pt x="5619" y="2482"/>
                    <a:pt x="5582" y="2080"/>
                    <a:pt x="5546" y="1655"/>
                  </a:cubicBezTo>
                  <a:cubicBezTo>
                    <a:pt x="5448" y="846"/>
                    <a:pt x="5388" y="56"/>
                    <a:pt x="5388" y="56"/>
                  </a:cubicBezTo>
                  <a:lnTo>
                    <a:pt x="5388" y="19"/>
                  </a:lnTo>
                  <a:lnTo>
                    <a:pt x="5333" y="19"/>
                  </a:lnTo>
                  <a:cubicBezTo>
                    <a:pt x="5333" y="19"/>
                    <a:pt x="5176" y="1"/>
                    <a:pt x="482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6352493" y="2450027"/>
              <a:ext cx="607724" cy="210366"/>
            </a:xfrm>
            <a:custGeom>
              <a:avLst/>
              <a:gdLst/>
              <a:ahLst/>
              <a:cxnLst/>
              <a:rect l="l" t="t" r="r" b="b"/>
              <a:pathLst>
                <a:path w="4446" h="1539" extrusionOk="0">
                  <a:moveTo>
                    <a:pt x="4002" y="0"/>
                  </a:moveTo>
                  <a:cubicBezTo>
                    <a:pt x="3678" y="0"/>
                    <a:pt x="3138" y="37"/>
                    <a:pt x="2366" y="176"/>
                  </a:cubicBezTo>
                  <a:cubicBezTo>
                    <a:pt x="980" y="444"/>
                    <a:pt x="0" y="790"/>
                    <a:pt x="0" y="790"/>
                  </a:cubicBezTo>
                  <a:cubicBezTo>
                    <a:pt x="0" y="790"/>
                    <a:pt x="56" y="1118"/>
                    <a:pt x="134" y="1539"/>
                  </a:cubicBezTo>
                  <a:cubicBezTo>
                    <a:pt x="481" y="1423"/>
                    <a:pt x="1271" y="1174"/>
                    <a:pt x="2445" y="1003"/>
                  </a:cubicBezTo>
                  <a:cubicBezTo>
                    <a:pt x="3618" y="827"/>
                    <a:pt x="4196" y="753"/>
                    <a:pt x="4445" y="712"/>
                  </a:cubicBezTo>
                  <a:cubicBezTo>
                    <a:pt x="4408" y="310"/>
                    <a:pt x="4390" y="0"/>
                    <a:pt x="4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6344292" y="2442372"/>
              <a:ext cx="624127" cy="228819"/>
            </a:xfrm>
            <a:custGeom>
              <a:avLst/>
              <a:gdLst/>
              <a:ahLst/>
              <a:cxnLst/>
              <a:rect l="l" t="t" r="r" b="b"/>
              <a:pathLst>
                <a:path w="4566" h="1674" extrusionOk="0">
                  <a:moveTo>
                    <a:pt x="4062" y="93"/>
                  </a:moveTo>
                  <a:cubicBezTo>
                    <a:pt x="4293" y="93"/>
                    <a:pt x="4371" y="116"/>
                    <a:pt x="4408" y="116"/>
                  </a:cubicBezTo>
                  <a:cubicBezTo>
                    <a:pt x="4408" y="153"/>
                    <a:pt x="4431" y="384"/>
                    <a:pt x="4468" y="731"/>
                  </a:cubicBezTo>
                  <a:cubicBezTo>
                    <a:pt x="4200" y="768"/>
                    <a:pt x="3641" y="828"/>
                    <a:pt x="2505" y="999"/>
                  </a:cubicBezTo>
                  <a:cubicBezTo>
                    <a:pt x="1350" y="1174"/>
                    <a:pt x="596" y="1405"/>
                    <a:pt x="231" y="1539"/>
                  </a:cubicBezTo>
                  <a:cubicBezTo>
                    <a:pt x="176" y="1174"/>
                    <a:pt x="116" y="902"/>
                    <a:pt x="116" y="883"/>
                  </a:cubicBezTo>
                  <a:cubicBezTo>
                    <a:pt x="176" y="865"/>
                    <a:pt x="1100" y="537"/>
                    <a:pt x="2426" y="287"/>
                  </a:cubicBezTo>
                  <a:cubicBezTo>
                    <a:pt x="3198" y="135"/>
                    <a:pt x="3738" y="116"/>
                    <a:pt x="4062" y="93"/>
                  </a:cubicBezTo>
                  <a:close/>
                  <a:moveTo>
                    <a:pt x="4062" y="1"/>
                  </a:moveTo>
                  <a:cubicBezTo>
                    <a:pt x="3738" y="1"/>
                    <a:pt x="3179" y="38"/>
                    <a:pt x="2408" y="190"/>
                  </a:cubicBezTo>
                  <a:cubicBezTo>
                    <a:pt x="1021" y="440"/>
                    <a:pt x="42" y="786"/>
                    <a:pt x="42" y="786"/>
                  </a:cubicBezTo>
                  <a:lnTo>
                    <a:pt x="0" y="809"/>
                  </a:lnTo>
                  <a:lnTo>
                    <a:pt x="0" y="846"/>
                  </a:lnTo>
                  <a:cubicBezTo>
                    <a:pt x="0" y="846"/>
                    <a:pt x="60" y="1174"/>
                    <a:pt x="134" y="1618"/>
                  </a:cubicBezTo>
                  <a:lnTo>
                    <a:pt x="134" y="1673"/>
                  </a:lnTo>
                  <a:lnTo>
                    <a:pt x="194" y="1655"/>
                  </a:lnTo>
                  <a:cubicBezTo>
                    <a:pt x="559" y="1521"/>
                    <a:pt x="1350" y="1290"/>
                    <a:pt x="2523" y="1114"/>
                  </a:cubicBezTo>
                  <a:cubicBezTo>
                    <a:pt x="3678" y="925"/>
                    <a:pt x="4274" y="846"/>
                    <a:pt x="4524" y="828"/>
                  </a:cubicBezTo>
                  <a:lnTo>
                    <a:pt x="4565" y="828"/>
                  </a:lnTo>
                  <a:lnTo>
                    <a:pt x="4565" y="768"/>
                  </a:lnTo>
                  <a:cubicBezTo>
                    <a:pt x="4524" y="366"/>
                    <a:pt x="4505" y="56"/>
                    <a:pt x="4505" y="56"/>
                  </a:cubicBezTo>
                  <a:lnTo>
                    <a:pt x="4505" y="19"/>
                  </a:lnTo>
                  <a:lnTo>
                    <a:pt x="4450" y="19"/>
                  </a:lnTo>
                  <a:cubicBezTo>
                    <a:pt x="4450" y="19"/>
                    <a:pt x="4334" y="1"/>
                    <a:pt x="406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6163040" y="2146710"/>
              <a:ext cx="294430" cy="460372"/>
            </a:xfrm>
            <a:custGeom>
              <a:avLst/>
              <a:gdLst/>
              <a:ahLst/>
              <a:cxnLst/>
              <a:rect l="l" t="t" r="r" b="b"/>
              <a:pathLst>
                <a:path w="2154" h="3368" extrusionOk="0">
                  <a:moveTo>
                    <a:pt x="429" y="0"/>
                  </a:moveTo>
                  <a:cubicBezTo>
                    <a:pt x="342" y="0"/>
                    <a:pt x="250" y="18"/>
                    <a:pt x="171" y="61"/>
                  </a:cubicBezTo>
                  <a:cubicBezTo>
                    <a:pt x="0" y="159"/>
                    <a:pt x="19" y="353"/>
                    <a:pt x="19" y="353"/>
                  </a:cubicBezTo>
                  <a:cubicBezTo>
                    <a:pt x="19" y="353"/>
                    <a:pt x="42" y="344"/>
                    <a:pt x="83" y="344"/>
                  </a:cubicBezTo>
                  <a:cubicBezTo>
                    <a:pt x="234" y="344"/>
                    <a:pt x="633" y="464"/>
                    <a:pt x="1058" y="1586"/>
                  </a:cubicBezTo>
                  <a:cubicBezTo>
                    <a:pt x="1405" y="2469"/>
                    <a:pt x="1460" y="3240"/>
                    <a:pt x="1576" y="3319"/>
                  </a:cubicBezTo>
                  <a:cubicBezTo>
                    <a:pt x="1619" y="3353"/>
                    <a:pt x="1691" y="3367"/>
                    <a:pt x="1767" y="3367"/>
                  </a:cubicBezTo>
                  <a:cubicBezTo>
                    <a:pt x="1898" y="3367"/>
                    <a:pt x="2042" y="3327"/>
                    <a:pt x="2080" y="3277"/>
                  </a:cubicBezTo>
                  <a:cubicBezTo>
                    <a:pt x="2153" y="3222"/>
                    <a:pt x="1904" y="1794"/>
                    <a:pt x="1460" y="967"/>
                  </a:cubicBezTo>
                  <a:cubicBezTo>
                    <a:pt x="1040" y="140"/>
                    <a:pt x="712" y="43"/>
                    <a:pt x="596" y="25"/>
                  </a:cubicBezTo>
                  <a:cubicBezTo>
                    <a:pt x="548" y="9"/>
                    <a:pt x="490" y="0"/>
                    <a:pt x="4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6165500" y="2192365"/>
              <a:ext cx="137" cy="2597"/>
            </a:xfrm>
            <a:custGeom>
              <a:avLst/>
              <a:gdLst/>
              <a:ahLst/>
              <a:cxnLst/>
              <a:rect l="l" t="t" r="r" b="b"/>
              <a:pathLst>
                <a:path w="1" h="19" extrusionOk="0">
                  <a:moveTo>
                    <a:pt x="1" y="0"/>
                  </a:move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6183817" y="2194825"/>
              <a:ext cx="118920" cy="152956"/>
            </a:xfrm>
            <a:custGeom>
              <a:avLst/>
              <a:gdLst/>
              <a:ahLst/>
              <a:cxnLst/>
              <a:rect l="l" t="t" r="r" b="b"/>
              <a:pathLst>
                <a:path w="870" h="1119" extrusionOk="0">
                  <a:moveTo>
                    <a:pt x="1" y="1"/>
                  </a:moveTo>
                  <a:lnTo>
                    <a:pt x="1" y="1"/>
                  </a:lnTo>
                  <a:cubicBezTo>
                    <a:pt x="195" y="38"/>
                    <a:pt x="523" y="250"/>
                    <a:pt x="869" y="1119"/>
                  </a:cubicBezTo>
                  <a:cubicBezTo>
                    <a:pt x="523" y="250"/>
                    <a:pt x="195" y="38"/>
                    <a:pt x="1" y="1"/>
                  </a:cubicBezTo>
                  <a:close/>
                </a:path>
              </a:pathLst>
            </a:custGeom>
            <a:solidFill>
              <a:srgbClr val="95A1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6173155" y="2192365"/>
              <a:ext cx="10799" cy="2597"/>
            </a:xfrm>
            <a:custGeom>
              <a:avLst/>
              <a:gdLst/>
              <a:ahLst/>
              <a:cxnLst/>
              <a:rect l="l" t="t" r="r" b="b"/>
              <a:pathLst>
                <a:path w="79" h="19" extrusionOk="0">
                  <a:moveTo>
                    <a:pt x="0" y="0"/>
                  </a:moveTo>
                  <a:lnTo>
                    <a:pt x="0" y="0"/>
                  </a:lnTo>
                  <a:cubicBezTo>
                    <a:pt x="23" y="0"/>
                    <a:pt x="42" y="0"/>
                    <a:pt x="79" y="19"/>
                  </a:cubicBezTo>
                  <a:lnTo>
                    <a:pt x="79" y="19"/>
                  </a:lnTo>
                  <a:cubicBezTo>
                    <a:pt x="42" y="0"/>
                    <a:pt x="23" y="0"/>
                    <a:pt x="0" y="0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6352493" y="2508120"/>
              <a:ext cx="7655" cy="39230"/>
            </a:xfrm>
            <a:custGeom>
              <a:avLst/>
              <a:gdLst/>
              <a:ahLst/>
              <a:cxnLst/>
              <a:rect l="l" t="t" r="r" b="b"/>
              <a:pathLst>
                <a:path w="56" h="287" extrusionOk="0">
                  <a:moveTo>
                    <a:pt x="0" y="0"/>
                  </a:moveTo>
                  <a:cubicBezTo>
                    <a:pt x="19" y="97"/>
                    <a:pt x="37" y="190"/>
                    <a:pt x="56" y="287"/>
                  </a:cubicBezTo>
                  <a:lnTo>
                    <a:pt x="56" y="287"/>
                  </a:lnTo>
                  <a:cubicBezTo>
                    <a:pt x="37" y="190"/>
                    <a:pt x="19" y="97"/>
                    <a:pt x="0" y="0"/>
                  </a:cubicBezTo>
                  <a:close/>
                </a:path>
              </a:pathLst>
            </a:custGeom>
            <a:solidFill>
              <a:srgbClr val="95A1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6360011" y="2547214"/>
              <a:ext cx="137" cy="137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6362608" y="2560473"/>
              <a:ext cx="87208" cy="47568"/>
            </a:xfrm>
            <a:custGeom>
              <a:avLst/>
              <a:gdLst/>
              <a:ahLst/>
              <a:cxnLst/>
              <a:rect l="l" t="t" r="r" b="b"/>
              <a:pathLst>
                <a:path w="638" h="348" extrusionOk="0">
                  <a:moveTo>
                    <a:pt x="638" y="232"/>
                  </a:moveTo>
                  <a:lnTo>
                    <a:pt x="638" y="232"/>
                  </a:lnTo>
                  <a:lnTo>
                    <a:pt x="638" y="232"/>
                  </a:ln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42" y="176"/>
                    <a:pt x="79" y="269"/>
                    <a:pt x="116" y="292"/>
                  </a:cubicBezTo>
                  <a:cubicBezTo>
                    <a:pt x="157" y="329"/>
                    <a:pt x="213" y="347"/>
                    <a:pt x="291" y="347"/>
                  </a:cubicBezTo>
                  <a:cubicBezTo>
                    <a:pt x="425" y="347"/>
                    <a:pt x="578" y="310"/>
                    <a:pt x="620" y="250"/>
                  </a:cubicBezTo>
                  <a:cubicBezTo>
                    <a:pt x="638" y="250"/>
                    <a:pt x="638" y="250"/>
                    <a:pt x="638" y="232"/>
                  </a:cubicBezTo>
                  <a:cubicBezTo>
                    <a:pt x="638" y="250"/>
                    <a:pt x="638" y="250"/>
                    <a:pt x="620" y="250"/>
                  </a:cubicBezTo>
                  <a:cubicBezTo>
                    <a:pt x="578" y="310"/>
                    <a:pt x="425" y="347"/>
                    <a:pt x="291" y="347"/>
                  </a:cubicBezTo>
                  <a:cubicBezTo>
                    <a:pt x="213" y="347"/>
                    <a:pt x="157" y="329"/>
                    <a:pt x="116" y="292"/>
                  </a:cubicBezTo>
                  <a:cubicBezTo>
                    <a:pt x="79" y="269"/>
                    <a:pt x="42" y="176"/>
                    <a:pt x="0" y="1"/>
                  </a:cubicBezTo>
                  <a:close/>
                </a:path>
              </a:pathLst>
            </a:custGeom>
            <a:solidFill>
              <a:srgbClr val="276C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6360011" y="2547214"/>
              <a:ext cx="2734" cy="13396"/>
            </a:xfrm>
            <a:custGeom>
              <a:avLst/>
              <a:gdLst/>
              <a:ahLst/>
              <a:cxnLst/>
              <a:rect l="l" t="t" r="r" b="b"/>
              <a:pathLst>
                <a:path w="20" h="98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42"/>
                    <a:pt x="19" y="79"/>
                    <a:pt x="19" y="98"/>
                  </a:cubicBezTo>
                  <a:lnTo>
                    <a:pt x="19" y="98"/>
                  </a:lnTo>
                  <a:cubicBezTo>
                    <a:pt x="19" y="79"/>
                    <a:pt x="1" y="42"/>
                    <a:pt x="1" y="1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6157299" y="2138645"/>
              <a:ext cx="300171" cy="476365"/>
            </a:xfrm>
            <a:custGeom>
              <a:avLst/>
              <a:gdLst/>
              <a:ahLst/>
              <a:cxnLst/>
              <a:rect l="l" t="t" r="r" b="b"/>
              <a:pathLst>
                <a:path w="2196" h="3485" extrusionOk="0">
                  <a:moveTo>
                    <a:pt x="2103" y="3299"/>
                  </a:moveTo>
                  <a:cubicBezTo>
                    <a:pt x="2096" y="3305"/>
                    <a:pt x="2090" y="3311"/>
                    <a:pt x="2083" y="3316"/>
                  </a:cubicBezTo>
                  <a:lnTo>
                    <a:pt x="2083" y="3316"/>
                  </a:lnTo>
                  <a:lnTo>
                    <a:pt x="2103" y="3299"/>
                  </a:lnTo>
                  <a:close/>
                  <a:moveTo>
                    <a:pt x="498" y="110"/>
                  </a:moveTo>
                  <a:cubicBezTo>
                    <a:pt x="548" y="110"/>
                    <a:pt x="597" y="114"/>
                    <a:pt x="638" y="120"/>
                  </a:cubicBezTo>
                  <a:cubicBezTo>
                    <a:pt x="694" y="144"/>
                    <a:pt x="772" y="162"/>
                    <a:pt x="925" y="296"/>
                  </a:cubicBezTo>
                  <a:cubicBezTo>
                    <a:pt x="1063" y="412"/>
                    <a:pt x="1253" y="643"/>
                    <a:pt x="1465" y="1045"/>
                  </a:cubicBezTo>
                  <a:cubicBezTo>
                    <a:pt x="1678" y="1451"/>
                    <a:pt x="1849" y="2010"/>
                    <a:pt x="1964" y="2472"/>
                  </a:cubicBezTo>
                  <a:cubicBezTo>
                    <a:pt x="2006" y="2722"/>
                    <a:pt x="2043" y="2916"/>
                    <a:pt x="2061" y="3068"/>
                  </a:cubicBezTo>
                  <a:cubicBezTo>
                    <a:pt x="2080" y="3147"/>
                    <a:pt x="2080" y="3221"/>
                    <a:pt x="2080" y="3262"/>
                  </a:cubicBezTo>
                  <a:lnTo>
                    <a:pt x="2080" y="3318"/>
                  </a:lnTo>
                  <a:lnTo>
                    <a:pt x="2080" y="3318"/>
                  </a:lnTo>
                  <a:cubicBezTo>
                    <a:pt x="2065" y="3328"/>
                    <a:pt x="2049" y="3336"/>
                    <a:pt x="2024" y="3336"/>
                  </a:cubicBezTo>
                  <a:cubicBezTo>
                    <a:pt x="1988" y="3355"/>
                    <a:pt x="1927" y="3355"/>
                    <a:pt x="1890" y="3378"/>
                  </a:cubicBezTo>
                  <a:cubicBezTo>
                    <a:pt x="1775" y="3378"/>
                    <a:pt x="1678" y="3355"/>
                    <a:pt x="1641" y="3336"/>
                  </a:cubicBezTo>
                  <a:cubicBezTo>
                    <a:pt x="1641" y="3336"/>
                    <a:pt x="1641" y="3318"/>
                    <a:pt x="1618" y="3299"/>
                  </a:cubicBezTo>
                  <a:cubicBezTo>
                    <a:pt x="1599" y="3281"/>
                    <a:pt x="1599" y="3239"/>
                    <a:pt x="1581" y="3184"/>
                  </a:cubicBezTo>
                  <a:cubicBezTo>
                    <a:pt x="1562" y="3087"/>
                    <a:pt x="1525" y="2953"/>
                    <a:pt x="1502" y="2800"/>
                  </a:cubicBezTo>
                  <a:cubicBezTo>
                    <a:pt x="1428" y="2491"/>
                    <a:pt x="1331" y="2066"/>
                    <a:pt x="1156" y="1622"/>
                  </a:cubicBezTo>
                  <a:cubicBezTo>
                    <a:pt x="888" y="911"/>
                    <a:pt x="620" y="583"/>
                    <a:pt x="407" y="449"/>
                  </a:cubicBezTo>
                  <a:cubicBezTo>
                    <a:pt x="292" y="375"/>
                    <a:pt x="213" y="352"/>
                    <a:pt x="139" y="352"/>
                  </a:cubicBezTo>
                  <a:cubicBezTo>
                    <a:pt x="139" y="296"/>
                    <a:pt x="139" y="218"/>
                    <a:pt x="255" y="162"/>
                  </a:cubicBezTo>
                  <a:cubicBezTo>
                    <a:pt x="314" y="123"/>
                    <a:pt x="408" y="110"/>
                    <a:pt x="498" y="110"/>
                  </a:cubicBezTo>
                  <a:close/>
                  <a:moveTo>
                    <a:pt x="464" y="0"/>
                  </a:moveTo>
                  <a:cubicBezTo>
                    <a:pt x="370" y="0"/>
                    <a:pt x="272" y="20"/>
                    <a:pt x="195" y="65"/>
                  </a:cubicBezTo>
                  <a:cubicBezTo>
                    <a:pt x="1" y="181"/>
                    <a:pt x="1" y="412"/>
                    <a:pt x="1" y="412"/>
                  </a:cubicBezTo>
                  <a:lnTo>
                    <a:pt x="1" y="467"/>
                  </a:lnTo>
                  <a:lnTo>
                    <a:pt x="61" y="449"/>
                  </a:lnTo>
                  <a:lnTo>
                    <a:pt x="139" y="449"/>
                  </a:lnTo>
                  <a:cubicBezTo>
                    <a:pt x="176" y="449"/>
                    <a:pt x="255" y="467"/>
                    <a:pt x="347" y="527"/>
                  </a:cubicBezTo>
                  <a:cubicBezTo>
                    <a:pt x="523" y="661"/>
                    <a:pt x="791" y="952"/>
                    <a:pt x="1063" y="1664"/>
                  </a:cubicBezTo>
                  <a:cubicBezTo>
                    <a:pt x="1216" y="2107"/>
                    <a:pt x="1331" y="2509"/>
                    <a:pt x="1387" y="2819"/>
                  </a:cubicBezTo>
                  <a:cubicBezTo>
                    <a:pt x="1428" y="2990"/>
                    <a:pt x="1447" y="3105"/>
                    <a:pt x="1484" y="3221"/>
                  </a:cubicBezTo>
                  <a:cubicBezTo>
                    <a:pt x="1502" y="3262"/>
                    <a:pt x="1502" y="3299"/>
                    <a:pt x="1525" y="3336"/>
                  </a:cubicBezTo>
                  <a:cubicBezTo>
                    <a:pt x="1544" y="3378"/>
                    <a:pt x="1562" y="3396"/>
                    <a:pt x="1581" y="3433"/>
                  </a:cubicBezTo>
                  <a:cubicBezTo>
                    <a:pt x="1629" y="3471"/>
                    <a:pt x="1692" y="3485"/>
                    <a:pt x="1760" y="3485"/>
                  </a:cubicBezTo>
                  <a:cubicBezTo>
                    <a:pt x="1802" y="3485"/>
                    <a:pt x="1846" y="3479"/>
                    <a:pt x="1890" y="3470"/>
                  </a:cubicBezTo>
                  <a:cubicBezTo>
                    <a:pt x="1946" y="3470"/>
                    <a:pt x="2006" y="3452"/>
                    <a:pt x="2043" y="3433"/>
                  </a:cubicBezTo>
                  <a:cubicBezTo>
                    <a:pt x="2103" y="3433"/>
                    <a:pt x="2140" y="3415"/>
                    <a:pt x="2158" y="3378"/>
                  </a:cubicBezTo>
                  <a:cubicBezTo>
                    <a:pt x="2195" y="3355"/>
                    <a:pt x="2177" y="3336"/>
                    <a:pt x="2195" y="3318"/>
                  </a:cubicBezTo>
                  <a:lnTo>
                    <a:pt x="2195" y="3262"/>
                  </a:lnTo>
                  <a:cubicBezTo>
                    <a:pt x="2195" y="3202"/>
                    <a:pt x="2177" y="3147"/>
                    <a:pt x="2177" y="3068"/>
                  </a:cubicBezTo>
                  <a:cubicBezTo>
                    <a:pt x="2158" y="2893"/>
                    <a:pt x="2122" y="2685"/>
                    <a:pt x="2061" y="2454"/>
                  </a:cubicBezTo>
                  <a:cubicBezTo>
                    <a:pt x="1946" y="1992"/>
                    <a:pt x="1775" y="1414"/>
                    <a:pt x="1562" y="1008"/>
                  </a:cubicBezTo>
                  <a:cubicBezTo>
                    <a:pt x="1331" y="583"/>
                    <a:pt x="1137" y="352"/>
                    <a:pt x="985" y="218"/>
                  </a:cubicBezTo>
                  <a:cubicBezTo>
                    <a:pt x="832" y="84"/>
                    <a:pt x="717" y="47"/>
                    <a:pt x="657" y="28"/>
                  </a:cubicBezTo>
                  <a:cubicBezTo>
                    <a:pt x="600" y="11"/>
                    <a:pt x="533" y="0"/>
                    <a:pt x="46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6776233" y="2061142"/>
              <a:ext cx="194647" cy="443149"/>
            </a:xfrm>
            <a:custGeom>
              <a:avLst/>
              <a:gdLst/>
              <a:ahLst/>
              <a:cxnLst/>
              <a:rect l="l" t="t" r="r" b="b"/>
              <a:pathLst>
                <a:path w="1424" h="3242" extrusionOk="0">
                  <a:moveTo>
                    <a:pt x="227" y="0"/>
                  </a:moveTo>
                  <a:cubicBezTo>
                    <a:pt x="111" y="0"/>
                    <a:pt x="11" y="38"/>
                    <a:pt x="1" y="133"/>
                  </a:cubicBezTo>
                  <a:cubicBezTo>
                    <a:pt x="1" y="133"/>
                    <a:pt x="366" y="766"/>
                    <a:pt x="578" y="1653"/>
                  </a:cubicBezTo>
                  <a:cubicBezTo>
                    <a:pt x="786" y="2559"/>
                    <a:pt x="768" y="3058"/>
                    <a:pt x="828" y="3192"/>
                  </a:cubicBezTo>
                  <a:cubicBezTo>
                    <a:pt x="845" y="3228"/>
                    <a:pt x="896" y="3241"/>
                    <a:pt x="960" y="3241"/>
                  </a:cubicBezTo>
                  <a:cubicBezTo>
                    <a:pt x="1102" y="3241"/>
                    <a:pt x="1307" y="3175"/>
                    <a:pt x="1345" y="3136"/>
                  </a:cubicBezTo>
                  <a:cubicBezTo>
                    <a:pt x="1424" y="3058"/>
                    <a:pt x="999" y="1265"/>
                    <a:pt x="865" y="803"/>
                  </a:cubicBezTo>
                  <a:cubicBezTo>
                    <a:pt x="731" y="341"/>
                    <a:pt x="671" y="151"/>
                    <a:pt x="518" y="73"/>
                  </a:cubicBezTo>
                  <a:cubicBezTo>
                    <a:pt x="439" y="28"/>
                    <a:pt x="327" y="0"/>
                    <a:pt x="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6770629" y="2055264"/>
              <a:ext cx="197790" cy="455451"/>
            </a:xfrm>
            <a:custGeom>
              <a:avLst/>
              <a:gdLst/>
              <a:ahLst/>
              <a:cxnLst/>
              <a:rect l="l" t="t" r="r" b="b"/>
              <a:pathLst>
                <a:path w="1447" h="3332" extrusionOk="0">
                  <a:moveTo>
                    <a:pt x="250" y="97"/>
                  </a:moveTo>
                  <a:cubicBezTo>
                    <a:pt x="347" y="97"/>
                    <a:pt x="462" y="116"/>
                    <a:pt x="522" y="153"/>
                  </a:cubicBezTo>
                  <a:cubicBezTo>
                    <a:pt x="596" y="194"/>
                    <a:pt x="638" y="250"/>
                    <a:pt x="693" y="365"/>
                  </a:cubicBezTo>
                  <a:cubicBezTo>
                    <a:pt x="735" y="481"/>
                    <a:pt x="790" y="638"/>
                    <a:pt x="850" y="869"/>
                  </a:cubicBezTo>
                  <a:cubicBezTo>
                    <a:pt x="924" y="1077"/>
                    <a:pt x="1058" y="1655"/>
                    <a:pt x="1174" y="2158"/>
                  </a:cubicBezTo>
                  <a:cubicBezTo>
                    <a:pt x="1234" y="2426"/>
                    <a:pt x="1271" y="2676"/>
                    <a:pt x="1312" y="2851"/>
                  </a:cubicBezTo>
                  <a:cubicBezTo>
                    <a:pt x="1331" y="2948"/>
                    <a:pt x="1331" y="3022"/>
                    <a:pt x="1349" y="3082"/>
                  </a:cubicBezTo>
                  <a:lnTo>
                    <a:pt x="1349" y="3138"/>
                  </a:lnTo>
                  <a:cubicBezTo>
                    <a:pt x="1331" y="3138"/>
                    <a:pt x="1312" y="3156"/>
                    <a:pt x="1271" y="3179"/>
                  </a:cubicBezTo>
                  <a:cubicBezTo>
                    <a:pt x="1234" y="3198"/>
                    <a:pt x="1174" y="3216"/>
                    <a:pt x="1118" y="3216"/>
                  </a:cubicBezTo>
                  <a:cubicBezTo>
                    <a:pt x="1058" y="3235"/>
                    <a:pt x="1003" y="3235"/>
                    <a:pt x="966" y="3235"/>
                  </a:cubicBezTo>
                  <a:cubicBezTo>
                    <a:pt x="943" y="3216"/>
                    <a:pt x="924" y="3216"/>
                    <a:pt x="924" y="3198"/>
                  </a:cubicBezTo>
                  <a:cubicBezTo>
                    <a:pt x="906" y="3198"/>
                    <a:pt x="906" y="3138"/>
                    <a:pt x="887" y="3064"/>
                  </a:cubicBezTo>
                  <a:cubicBezTo>
                    <a:pt x="887" y="2985"/>
                    <a:pt x="869" y="2870"/>
                    <a:pt x="850" y="2754"/>
                  </a:cubicBezTo>
                  <a:cubicBezTo>
                    <a:pt x="827" y="2486"/>
                    <a:pt x="772" y="2140"/>
                    <a:pt x="675" y="1696"/>
                  </a:cubicBezTo>
                  <a:cubicBezTo>
                    <a:pt x="462" y="809"/>
                    <a:pt x="116" y="194"/>
                    <a:pt x="97" y="153"/>
                  </a:cubicBezTo>
                  <a:cubicBezTo>
                    <a:pt x="97" y="153"/>
                    <a:pt x="116" y="134"/>
                    <a:pt x="134" y="116"/>
                  </a:cubicBezTo>
                  <a:cubicBezTo>
                    <a:pt x="157" y="116"/>
                    <a:pt x="194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194" y="0"/>
                    <a:pt x="134" y="0"/>
                    <a:pt x="79" y="37"/>
                  </a:cubicBezTo>
                  <a:cubicBezTo>
                    <a:pt x="42" y="60"/>
                    <a:pt x="0" y="97"/>
                    <a:pt x="0" y="153"/>
                  </a:cubicBezTo>
                  <a:lnTo>
                    <a:pt x="0" y="176"/>
                  </a:lnTo>
                  <a:lnTo>
                    <a:pt x="0" y="194"/>
                  </a:lnTo>
                  <a:cubicBezTo>
                    <a:pt x="0" y="194"/>
                    <a:pt x="365" y="828"/>
                    <a:pt x="578" y="1715"/>
                  </a:cubicBezTo>
                  <a:cubicBezTo>
                    <a:pt x="675" y="2158"/>
                    <a:pt x="712" y="2505"/>
                    <a:pt x="753" y="2754"/>
                  </a:cubicBezTo>
                  <a:cubicBezTo>
                    <a:pt x="772" y="2888"/>
                    <a:pt x="772" y="2985"/>
                    <a:pt x="790" y="3064"/>
                  </a:cubicBezTo>
                  <a:cubicBezTo>
                    <a:pt x="790" y="3156"/>
                    <a:pt x="809" y="3198"/>
                    <a:pt x="827" y="3253"/>
                  </a:cubicBezTo>
                  <a:cubicBezTo>
                    <a:pt x="850" y="3313"/>
                    <a:pt x="906" y="3332"/>
                    <a:pt x="966" y="3332"/>
                  </a:cubicBezTo>
                  <a:cubicBezTo>
                    <a:pt x="1021" y="3332"/>
                    <a:pt x="1081" y="3332"/>
                    <a:pt x="1137" y="3313"/>
                  </a:cubicBezTo>
                  <a:cubicBezTo>
                    <a:pt x="1197" y="3313"/>
                    <a:pt x="1252" y="3295"/>
                    <a:pt x="1312" y="3272"/>
                  </a:cubicBezTo>
                  <a:cubicBezTo>
                    <a:pt x="1368" y="3253"/>
                    <a:pt x="1405" y="3235"/>
                    <a:pt x="1428" y="3216"/>
                  </a:cubicBezTo>
                  <a:cubicBezTo>
                    <a:pt x="1446" y="3198"/>
                    <a:pt x="1446" y="3179"/>
                    <a:pt x="1446" y="3179"/>
                  </a:cubicBezTo>
                  <a:lnTo>
                    <a:pt x="1446" y="3138"/>
                  </a:lnTo>
                  <a:lnTo>
                    <a:pt x="1446" y="3064"/>
                  </a:lnTo>
                  <a:cubicBezTo>
                    <a:pt x="1446" y="3004"/>
                    <a:pt x="1428" y="2925"/>
                    <a:pt x="1405" y="2833"/>
                  </a:cubicBezTo>
                  <a:cubicBezTo>
                    <a:pt x="1386" y="2657"/>
                    <a:pt x="1331" y="2408"/>
                    <a:pt x="1271" y="2140"/>
                  </a:cubicBezTo>
                  <a:cubicBezTo>
                    <a:pt x="1155" y="1618"/>
                    <a:pt x="1021" y="1059"/>
                    <a:pt x="966" y="828"/>
                  </a:cubicBezTo>
                  <a:cubicBezTo>
                    <a:pt x="887" y="596"/>
                    <a:pt x="850" y="444"/>
                    <a:pt x="790" y="310"/>
                  </a:cubicBezTo>
                  <a:cubicBezTo>
                    <a:pt x="735" y="194"/>
                    <a:pt x="656" y="116"/>
                    <a:pt x="578" y="60"/>
                  </a:cubicBezTo>
                  <a:cubicBezTo>
                    <a:pt x="481" y="19"/>
                    <a:pt x="365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6776233" y="2065926"/>
              <a:ext cx="186445" cy="436588"/>
            </a:xfrm>
            <a:custGeom>
              <a:avLst/>
              <a:gdLst/>
              <a:ahLst/>
              <a:cxnLst/>
              <a:rect l="l" t="t" r="r" b="b"/>
              <a:pathLst>
                <a:path w="1364" h="3194" extrusionOk="0">
                  <a:moveTo>
                    <a:pt x="93" y="1"/>
                  </a:moveTo>
                  <a:cubicBezTo>
                    <a:pt x="38" y="1"/>
                    <a:pt x="1" y="38"/>
                    <a:pt x="1" y="98"/>
                  </a:cubicBezTo>
                  <a:cubicBezTo>
                    <a:pt x="1" y="98"/>
                    <a:pt x="366" y="731"/>
                    <a:pt x="578" y="1618"/>
                  </a:cubicBezTo>
                  <a:cubicBezTo>
                    <a:pt x="786" y="2524"/>
                    <a:pt x="768" y="3023"/>
                    <a:pt x="828" y="3157"/>
                  </a:cubicBezTo>
                  <a:cubicBezTo>
                    <a:pt x="846" y="3194"/>
                    <a:pt x="902" y="3194"/>
                    <a:pt x="962" y="3194"/>
                  </a:cubicBezTo>
                  <a:cubicBezTo>
                    <a:pt x="1114" y="3194"/>
                    <a:pt x="1308" y="3138"/>
                    <a:pt x="1345" y="3101"/>
                  </a:cubicBezTo>
                  <a:cubicBezTo>
                    <a:pt x="1364" y="3060"/>
                    <a:pt x="1345" y="2829"/>
                    <a:pt x="1271" y="2501"/>
                  </a:cubicBezTo>
                  <a:cubicBezTo>
                    <a:pt x="1248" y="2501"/>
                    <a:pt x="1230" y="2501"/>
                    <a:pt x="1211" y="2482"/>
                  </a:cubicBezTo>
                  <a:lnTo>
                    <a:pt x="1211" y="2482"/>
                  </a:lnTo>
                  <a:cubicBezTo>
                    <a:pt x="1230" y="2598"/>
                    <a:pt x="1248" y="2695"/>
                    <a:pt x="1271" y="2773"/>
                  </a:cubicBezTo>
                  <a:cubicBezTo>
                    <a:pt x="1290" y="2870"/>
                    <a:pt x="1290" y="2944"/>
                    <a:pt x="1308" y="3004"/>
                  </a:cubicBezTo>
                  <a:lnTo>
                    <a:pt x="1308" y="3060"/>
                  </a:lnTo>
                  <a:cubicBezTo>
                    <a:pt x="1290" y="3060"/>
                    <a:pt x="1271" y="3078"/>
                    <a:pt x="1230" y="3101"/>
                  </a:cubicBezTo>
                  <a:cubicBezTo>
                    <a:pt x="1193" y="3120"/>
                    <a:pt x="1133" y="3138"/>
                    <a:pt x="1077" y="3138"/>
                  </a:cubicBezTo>
                  <a:cubicBezTo>
                    <a:pt x="1040" y="3138"/>
                    <a:pt x="999" y="3157"/>
                    <a:pt x="962" y="3157"/>
                  </a:cubicBezTo>
                  <a:lnTo>
                    <a:pt x="925" y="3157"/>
                  </a:lnTo>
                  <a:cubicBezTo>
                    <a:pt x="902" y="3138"/>
                    <a:pt x="883" y="3138"/>
                    <a:pt x="883" y="3120"/>
                  </a:cubicBezTo>
                  <a:cubicBezTo>
                    <a:pt x="865" y="3120"/>
                    <a:pt x="865" y="3060"/>
                    <a:pt x="846" y="2986"/>
                  </a:cubicBezTo>
                  <a:cubicBezTo>
                    <a:pt x="846" y="2907"/>
                    <a:pt x="828" y="2792"/>
                    <a:pt x="809" y="2676"/>
                  </a:cubicBezTo>
                  <a:cubicBezTo>
                    <a:pt x="786" y="2408"/>
                    <a:pt x="731" y="2062"/>
                    <a:pt x="634" y="1618"/>
                  </a:cubicBezTo>
                  <a:cubicBezTo>
                    <a:pt x="421" y="731"/>
                    <a:pt x="75" y="116"/>
                    <a:pt x="56" y="75"/>
                  </a:cubicBezTo>
                  <a:cubicBezTo>
                    <a:pt x="56" y="75"/>
                    <a:pt x="75" y="56"/>
                    <a:pt x="93" y="38"/>
                  </a:cubicBezTo>
                  <a:lnTo>
                    <a:pt x="116" y="38"/>
                  </a:lnTo>
                  <a:cubicBezTo>
                    <a:pt x="116" y="19"/>
                    <a:pt x="93" y="1"/>
                    <a:pt x="93" y="1"/>
                  </a:cubicBezTo>
                  <a:close/>
                </a:path>
              </a:pathLst>
            </a:custGeom>
            <a:solidFill>
              <a:srgbClr val="243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6381471" y="2528897"/>
              <a:ext cx="57683" cy="58230"/>
            </a:xfrm>
            <a:custGeom>
              <a:avLst/>
              <a:gdLst/>
              <a:ahLst/>
              <a:cxnLst/>
              <a:rect l="l" t="t" r="r" b="b"/>
              <a:pathLst>
                <a:path w="422" h="426" extrusionOk="0">
                  <a:moveTo>
                    <a:pt x="209" y="1"/>
                  </a:moveTo>
                  <a:cubicBezTo>
                    <a:pt x="93" y="1"/>
                    <a:pt x="1" y="98"/>
                    <a:pt x="1" y="213"/>
                  </a:cubicBezTo>
                  <a:cubicBezTo>
                    <a:pt x="1" y="329"/>
                    <a:pt x="93" y="426"/>
                    <a:pt x="209" y="426"/>
                  </a:cubicBezTo>
                  <a:cubicBezTo>
                    <a:pt x="324" y="426"/>
                    <a:pt x="421" y="329"/>
                    <a:pt x="421" y="213"/>
                  </a:cubicBezTo>
                  <a:cubicBezTo>
                    <a:pt x="421" y="98"/>
                    <a:pt x="324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6373270" y="2529260"/>
              <a:ext cx="74086" cy="73403"/>
            </a:xfrm>
            <a:custGeom>
              <a:avLst/>
              <a:gdLst/>
              <a:ahLst/>
              <a:cxnLst/>
              <a:rect l="l" t="t" r="r" b="b"/>
              <a:pathLst>
                <a:path w="542" h="537" extrusionOk="0">
                  <a:moveTo>
                    <a:pt x="269" y="93"/>
                  </a:moveTo>
                  <a:cubicBezTo>
                    <a:pt x="366" y="93"/>
                    <a:pt x="426" y="171"/>
                    <a:pt x="426" y="268"/>
                  </a:cubicBezTo>
                  <a:cubicBezTo>
                    <a:pt x="426" y="347"/>
                    <a:pt x="366" y="421"/>
                    <a:pt x="269" y="421"/>
                  </a:cubicBezTo>
                  <a:cubicBezTo>
                    <a:pt x="176" y="421"/>
                    <a:pt x="116" y="347"/>
                    <a:pt x="116" y="268"/>
                  </a:cubicBezTo>
                  <a:cubicBezTo>
                    <a:pt x="116" y="171"/>
                    <a:pt x="176" y="93"/>
                    <a:pt x="269" y="93"/>
                  </a:cubicBezTo>
                  <a:close/>
                  <a:moveTo>
                    <a:pt x="269" y="0"/>
                  </a:moveTo>
                  <a:cubicBezTo>
                    <a:pt x="116" y="0"/>
                    <a:pt x="1" y="116"/>
                    <a:pt x="1" y="268"/>
                  </a:cubicBezTo>
                  <a:cubicBezTo>
                    <a:pt x="1" y="402"/>
                    <a:pt x="116" y="536"/>
                    <a:pt x="269" y="536"/>
                  </a:cubicBezTo>
                  <a:cubicBezTo>
                    <a:pt x="426" y="536"/>
                    <a:pt x="542" y="402"/>
                    <a:pt x="542" y="268"/>
                  </a:cubicBezTo>
                  <a:cubicBezTo>
                    <a:pt x="542" y="116"/>
                    <a:pt x="426" y="0"/>
                    <a:pt x="26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6891873" y="2429113"/>
              <a:ext cx="58230" cy="60827"/>
            </a:xfrm>
            <a:custGeom>
              <a:avLst/>
              <a:gdLst/>
              <a:ahLst/>
              <a:cxnLst/>
              <a:rect l="l" t="t" r="r" b="b"/>
              <a:pathLst>
                <a:path w="426" h="445" extrusionOk="0">
                  <a:moveTo>
                    <a:pt x="213" y="1"/>
                  </a:moveTo>
                  <a:cubicBezTo>
                    <a:pt x="97" y="1"/>
                    <a:pt x="0" y="98"/>
                    <a:pt x="0" y="213"/>
                  </a:cubicBezTo>
                  <a:cubicBezTo>
                    <a:pt x="0" y="347"/>
                    <a:pt x="97" y="444"/>
                    <a:pt x="213" y="444"/>
                  </a:cubicBezTo>
                  <a:cubicBezTo>
                    <a:pt x="328" y="444"/>
                    <a:pt x="425" y="347"/>
                    <a:pt x="425" y="213"/>
                  </a:cubicBezTo>
                  <a:cubicBezTo>
                    <a:pt x="425" y="98"/>
                    <a:pt x="328" y="1"/>
                    <a:pt x="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6883672" y="2431389"/>
              <a:ext cx="73949" cy="71489"/>
            </a:xfrm>
            <a:custGeom>
              <a:avLst/>
              <a:gdLst/>
              <a:ahLst/>
              <a:cxnLst/>
              <a:rect l="l" t="t" r="r" b="b"/>
              <a:pathLst>
                <a:path w="541" h="523" extrusionOk="0">
                  <a:moveTo>
                    <a:pt x="273" y="97"/>
                  </a:moveTo>
                  <a:cubicBezTo>
                    <a:pt x="370" y="97"/>
                    <a:pt x="425" y="176"/>
                    <a:pt x="425" y="254"/>
                  </a:cubicBezTo>
                  <a:cubicBezTo>
                    <a:pt x="425" y="347"/>
                    <a:pt x="370" y="425"/>
                    <a:pt x="273" y="425"/>
                  </a:cubicBezTo>
                  <a:cubicBezTo>
                    <a:pt x="176" y="425"/>
                    <a:pt x="116" y="347"/>
                    <a:pt x="116" y="254"/>
                  </a:cubicBezTo>
                  <a:cubicBezTo>
                    <a:pt x="116" y="176"/>
                    <a:pt x="176" y="97"/>
                    <a:pt x="273" y="97"/>
                  </a:cubicBezTo>
                  <a:close/>
                  <a:moveTo>
                    <a:pt x="273" y="0"/>
                  </a:moveTo>
                  <a:cubicBezTo>
                    <a:pt x="116" y="0"/>
                    <a:pt x="0" y="116"/>
                    <a:pt x="0" y="254"/>
                  </a:cubicBezTo>
                  <a:cubicBezTo>
                    <a:pt x="0" y="407"/>
                    <a:pt x="116" y="522"/>
                    <a:pt x="273" y="522"/>
                  </a:cubicBezTo>
                  <a:cubicBezTo>
                    <a:pt x="425" y="522"/>
                    <a:pt x="541" y="407"/>
                    <a:pt x="541" y="254"/>
                  </a:cubicBezTo>
                  <a:cubicBezTo>
                    <a:pt x="541" y="116"/>
                    <a:pt x="425" y="0"/>
                    <a:pt x="27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6465536" y="2618566"/>
              <a:ext cx="473768" cy="448753"/>
            </a:xfrm>
            <a:custGeom>
              <a:avLst/>
              <a:gdLst/>
              <a:ahLst/>
              <a:cxnLst/>
              <a:rect l="l" t="t" r="r" b="b"/>
              <a:pathLst>
                <a:path w="3466" h="3283" extrusionOk="0">
                  <a:moveTo>
                    <a:pt x="3151" y="0"/>
                  </a:moveTo>
                  <a:cubicBezTo>
                    <a:pt x="3007" y="0"/>
                    <a:pt x="2525" y="13"/>
                    <a:pt x="1655" y="153"/>
                  </a:cubicBezTo>
                  <a:cubicBezTo>
                    <a:pt x="578" y="306"/>
                    <a:pt x="0" y="652"/>
                    <a:pt x="0" y="652"/>
                  </a:cubicBezTo>
                  <a:cubicBezTo>
                    <a:pt x="0" y="652"/>
                    <a:pt x="250" y="2408"/>
                    <a:pt x="402" y="2676"/>
                  </a:cubicBezTo>
                  <a:cubicBezTo>
                    <a:pt x="546" y="2937"/>
                    <a:pt x="1467" y="3283"/>
                    <a:pt x="2011" y="3283"/>
                  </a:cubicBezTo>
                  <a:cubicBezTo>
                    <a:pt x="2064" y="3283"/>
                    <a:pt x="2113" y="3279"/>
                    <a:pt x="2158" y="3272"/>
                  </a:cubicBezTo>
                  <a:cubicBezTo>
                    <a:pt x="2639" y="3217"/>
                    <a:pt x="3429" y="2501"/>
                    <a:pt x="3447" y="2117"/>
                  </a:cubicBezTo>
                  <a:cubicBezTo>
                    <a:pt x="3466" y="1752"/>
                    <a:pt x="3198" y="1"/>
                    <a:pt x="3198" y="1"/>
                  </a:cubicBezTo>
                  <a:cubicBezTo>
                    <a:pt x="3198" y="1"/>
                    <a:pt x="3183" y="0"/>
                    <a:pt x="3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6457334" y="2610365"/>
              <a:ext cx="487026" cy="465019"/>
            </a:xfrm>
            <a:custGeom>
              <a:avLst/>
              <a:gdLst/>
              <a:ahLst/>
              <a:cxnLst/>
              <a:rect l="l" t="t" r="r" b="b"/>
              <a:pathLst>
                <a:path w="3563" h="3402" extrusionOk="0">
                  <a:moveTo>
                    <a:pt x="3156" y="116"/>
                  </a:moveTo>
                  <a:cubicBezTo>
                    <a:pt x="3193" y="116"/>
                    <a:pt x="3213" y="116"/>
                    <a:pt x="3216" y="116"/>
                  </a:cubicBezTo>
                  <a:cubicBezTo>
                    <a:pt x="3216" y="158"/>
                    <a:pt x="3276" y="523"/>
                    <a:pt x="3332" y="985"/>
                  </a:cubicBezTo>
                  <a:cubicBezTo>
                    <a:pt x="3373" y="1235"/>
                    <a:pt x="3410" y="1484"/>
                    <a:pt x="3429" y="1697"/>
                  </a:cubicBezTo>
                  <a:cubicBezTo>
                    <a:pt x="3447" y="1909"/>
                    <a:pt x="3466" y="2099"/>
                    <a:pt x="3466" y="2177"/>
                  </a:cubicBezTo>
                  <a:cubicBezTo>
                    <a:pt x="3447" y="2256"/>
                    <a:pt x="3410" y="2371"/>
                    <a:pt x="3332" y="2487"/>
                  </a:cubicBezTo>
                  <a:cubicBezTo>
                    <a:pt x="3235" y="2602"/>
                    <a:pt x="3142" y="2718"/>
                    <a:pt x="3004" y="2833"/>
                  </a:cubicBezTo>
                  <a:cubicBezTo>
                    <a:pt x="2754" y="3064"/>
                    <a:pt x="2426" y="3254"/>
                    <a:pt x="2195" y="3295"/>
                  </a:cubicBezTo>
                  <a:cubicBezTo>
                    <a:pt x="2173" y="3297"/>
                    <a:pt x="2148" y="3298"/>
                    <a:pt x="2123" y="3298"/>
                  </a:cubicBezTo>
                  <a:cubicBezTo>
                    <a:pt x="1889" y="3298"/>
                    <a:pt x="1545" y="3224"/>
                    <a:pt x="1216" y="3120"/>
                  </a:cubicBezTo>
                  <a:cubicBezTo>
                    <a:pt x="1040" y="3064"/>
                    <a:pt x="888" y="2986"/>
                    <a:pt x="754" y="2907"/>
                  </a:cubicBezTo>
                  <a:cubicBezTo>
                    <a:pt x="620" y="2852"/>
                    <a:pt x="541" y="2773"/>
                    <a:pt x="504" y="2718"/>
                  </a:cubicBezTo>
                  <a:cubicBezTo>
                    <a:pt x="486" y="2658"/>
                    <a:pt x="426" y="2505"/>
                    <a:pt x="389" y="2293"/>
                  </a:cubicBezTo>
                  <a:cubicBezTo>
                    <a:pt x="347" y="2099"/>
                    <a:pt x="292" y="1849"/>
                    <a:pt x="255" y="1618"/>
                  </a:cubicBezTo>
                  <a:cubicBezTo>
                    <a:pt x="176" y="1156"/>
                    <a:pt x="116" y="773"/>
                    <a:pt x="116" y="736"/>
                  </a:cubicBezTo>
                  <a:cubicBezTo>
                    <a:pt x="158" y="712"/>
                    <a:pt x="694" y="426"/>
                    <a:pt x="1715" y="250"/>
                  </a:cubicBezTo>
                  <a:cubicBezTo>
                    <a:pt x="2551" y="128"/>
                    <a:pt x="3002" y="116"/>
                    <a:pt x="3156" y="116"/>
                  </a:cubicBezTo>
                  <a:close/>
                  <a:moveTo>
                    <a:pt x="3213" y="0"/>
                  </a:moveTo>
                  <a:cubicBezTo>
                    <a:pt x="3071" y="0"/>
                    <a:pt x="2586" y="13"/>
                    <a:pt x="1696" y="158"/>
                  </a:cubicBezTo>
                  <a:cubicBezTo>
                    <a:pt x="620" y="329"/>
                    <a:pt x="42" y="657"/>
                    <a:pt x="42" y="657"/>
                  </a:cubicBezTo>
                  <a:lnTo>
                    <a:pt x="0" y="676"/>
                  </a:lnTo>
                  <a:lnTo>
                    <a:pt x="0" y="712"/>
                  </a:lnTo>
                  <a:cubicBezTo>
                    <a:pt x="0" y="712"/>
                    <a:pt x="79" y="1156"/>
                    <a:pt x="158" y="1637"/>
                  </a:cubicBezTo>
                  <a:cubicBezTo>
                    <a:pt x="194" y="1868"/>
                    <a:pt x="231" y="2122"/>
                    <a:pt x="292" y="2311"/>
                  </a:cubicBezTo>
                  <a:cubicBezTo>
                    <a:pt x="328" y="2524"/>
                    <a:pt x="370" y="2676"/>
                    <a:pt x="426" y="2773"/>
                  </a:cubicBezTo>
                  <a:cubicBezTo>
                    <a:pt x="462" y="2852"/>
                    <a:pt x="560" y="2930"/>
                    <a:pt x="694" y="3004"/>
                  </a:cubicBezTo>
                  <a:cubicBezTo>
                    <a:pt x="851" y="3083"/>
                    <a:pt x="1003" y="3161"/>
                    <a:pt x="1197" y="3217"/>
                  </a:cubicBezTo>
                  <a:cubicBezTo>
                    <a:pt x="1486" y="3328"/>
                    <a:pt x="1813" y="3402"/>
                    <a:pt x="2072" y="3402"/>
                  </a:cubicBezTo>
                  <a:cubicBezTo>
                    <a:pt x="2123" y="3402"/>
                    <a:pt x="2173" y="3399"/>
                    <a:pt x="2218" y="3392"/>
                  </a:cubicBezTo>
                  <a:cubicBezTo>
                    <a:pt x="2486" y="3351"/>
                    <a:pt x="2814" y="3161"/>
                    <a:pt x="3082" y="2907"/>
                  </a:cubicBezTo>
                  <a:cubicBezTo>
                    <a:pt x="3198" y="2792"/>
                    <a:pt x="3332" y="2658"/>
                    <a:pt x="3410" y="2542"/>
                  </a:cubicBezTo>
                  <a:cubicBezTo>
                    <a:pt x="3507" y="2408"/>
                    <a:pt x="3563" y="2293"/>
                    <a:pt x="3563" y="2177"/>
                  </a:cubicBezTo>
                  <a:cubicBezTo>
                    <a:pt x="3563" y="2080"/>
                    <a:pt x="3563" y="1909"/>
                    <a:pt x="3526" y="1678"/>
                  </a:cubicBezTo>
                  <a:cubicBezTo>
                    <a:pt x="3507" y="1466"/>
                    <a:pt x="3466" y="1216"/>
                    <a:pt x="3447" y="967"/>
                  </a:cubicBezTo>
                  <a:cubicBezTo>
                    <a:pt x="3373" y="481"/>
                    <a:pt x="3313" y="61"/>
                    <a:pt x="3313" y="61"/>
                  </a:cubicBezTo>
                  <a:lnTo>
                    <a:pt x="3313" y="1"/>
                  </a:lnTo>
                  <a:lnTo>
                    <a:pt x="3258" y="1"/>
                  </a:lnTo>
                  <a:cubicBezTo>
                    <a:pt x="3258" y="1"/>
                    <a:pt x="3243" y="0"/>
                    <a:pt x="321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6465536" y="2618566"/>
              <a:ext cx="455451" cy="199841"/>
            </a:xfrm>
            <a:custGeom>
              <a:avLst/>
              <a:gdLst/>
              <a:ahLst/>
              <a:cxnLst/>
              <a:rect l="l" t="t" r="r" b="b"/>
              <a:pathLst>
                <a:path w="3332" h="1462" extrusionOk="0">
                  <a:moveTo>
                    <a:pt x="3101" y="1"/>
                  </a:moveTo>
                  <a:cubicBezTo>
                    <a:pt x="2925" y="1"/>
                    <a:pt x="2445" y="19"/>
                    <a:pt x="1655" y="153"/>
                  </a:cubicBezTo>
                  <a:cubicBezTo>
                    <a:pt x="578" y="306"/>
                    <a:pt x="0" y="652"/>
                    <a:pt x="0" y="652"/>
                  </a:cubicBezTo>
                  <a:cubicBezTo>
                    <a:pt x="0" y="652"/>
                    <a:pt x="56" y="1041"/>
                    <a:pt x="134" y="1461"/>
                  </a:cubicBezTo>
                  <a:cubicBezTo>
                    <a:pt x="347" y="1346"/>
                    <a:pt x="906" y="1115"/>
                    <a:pt x="1789" y="981"/>
                  </a:cubicBezTo>
                  <a:cubicBezTo>
                    <a:pt x="2316" y="893"/>
                    <a:pt x="2713" y="871"/>
                    <a:pt x="2990" y="871"/>
                  </a:cubicBezTo>
                  <a:cubicBezTo>
                    <a:pt x="3138" y="871"/>
                    <a:pt x="3251" y="877"/>
                    <a:pt x="3332" y="884"/>
                  </a:cubicBezTo>
                  <a:cubicBezTo>
                    <a:pt x="3253" y="403"/>
                    <a:pt x="3198" y="1"/>
                    <a:pt x="31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6457334" y="2610365"/>
              <a:ext cx="471307" cy="221301"/>
            </a:xfrm>
            <a:custGeom>
              <a:avLst/>
              <a:gdLst/>
              <a:ahLst/>
              <a:cxnLst/>
              <a:rect l="l" t="t" r="r" b="b"/>
              <a:pathLst>
                <a:path w="3448" h="1619" extrusionOk="0">
                  <a:moveTo>
                    <a:pt x="3216" y="116"/>
                  </a:moveTo>
                  <a:cubicBezTo>
                    <a:pt x="3216" y="158"/>
                    <a:pt x="3276" y="481"/>
                    <a:pt x="3332" y="888"/>
                  </a:cubicBezTo>
                  <a:cubicBezTo>
                    <a:pt x="3255" y="883"/>
                    <a:pt x="3163" y="879"/>
                    <a:pt x="3052" y="879"/>
                  </a:cubicBezTo>
                  <a:cubicBezTo>
                    <a:pt x="2776" y="879"/>
                    <a:pt x="2387" y="903"/>
                    <a:pt x="1849" y="985"/>
                  </a:cubicBezTo>
                  <a:cubicBezTo>
                    <a:pt x="985" y="1119"/>
                    <a:pt x="486" y="1332"/>
                    <a:pt x="231" y="1466"/>
                  </a:cubicBezTo>
                  <a:cubicBezTo>
                    <a:pt x="176" y="1082"/>
                    <a:pt x="116" y="773"/>
                    <a:pt x="116" y="736"/>
                  </a:cubicBezTo>
                  <a:cubicBezTo>
                    <a:pt x="158" y="712"/>
                    <a:pt x="694" y="426"/>
                    <a:pt x="1715" y="250"/>
                  </a:cubicBezTo>
                  <a:cubicBezTo>
                    <a:pt x="2523" y="135"/>
                    <a:pt x="2985" y="116"/>
                    <a:pt x="3161" y="116"/>
                  </a:cubicBezTo>
                  <a:close/>
                  <a:moveTo>
                    <a:pt x="3161" y="1"/>
                  </a:moveTo>
                  <a:cubicBezTo>
                    <a:pt x="2985" y="1"/>
                    <a:pt x="2505" y="19"/>
                    <a:pt x="1696" y="158"/>
                  </a:cubicBezTo>
                  <a:cubicBezTo>
                    <a:pt x="620" y="329"/>
                    <a:pt x="42" y="657"/>
                    <a:pt x="42" y="657"/>
                  </a:cubicBezTo>
                  <a:lnTo>
                    <a:pt x="0" y="676"/>
                  </a:lnTo>
                  <a:lnTo>
                    <a:pt x="0" y="712"/>
                  </a:lnTo>
                  <a:cubicBezTo>
                    <a:pt x="0" y="712"/>
                    <a:pt x="60" y="1101"/>
                    <a:pt x="139" y="1544"/>
                  </a:cubicBezTo>
                  <a:lnTo>
                    <a:pt x="158" y="1618"/>
                  </a:lnTo>
                  <a:lnTo>
                    <a:pt x="213" y="1581"/>
                  </a:lnTo>
                  <a:cubicBezTo>
                    <a:pt x="426" y="1466"/>
                    <a:pt x="966" y="1216"/>
                    <a:pt x="1849" y="1082"/>
                  </a:cubicBezTo>
                  <a:cubicBezTo>
                    <a:pt x="2426" y="1000"/>
                    <a:pt x="2848" y="976"/>
                    <a:pt x="3126" y="976"/>
                  </a:cubicBezTo>
                  <a:cubicBezTo>
                    <a:pt x="3238" y="976"/>
                    <a:pt x="3326" y="980"/>
                    <a:pt x="3392" y="985"/>
                  </a:cubicBezTo>
                  <a:lnTo>
                    <a:pt x="3447" y="1004"/>
                  </a:lnTo>
                  <a:lnTo>
                    <a:pt x="3429" y="925"/>
                  </a:lnTo>
                  <a:cubicBezTo>
                    <a:pt x="3373" y="463"/>
                    <a:pt x="3313" y="61"/>
                    <a:pt x="3313" y="61"/>
                  </a:cubicBezTo>
                  <a:lnTo>
                    <a:pt x="3295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6113148" y="3097394"/>
              <a:ext cx="1052376" cy="289919"/>
            </a:xfrm>
            <a:custGeom>
              <a:avLst/>
              <a:gdLst/>
              <a:ahLst/>
              <a:cxnLst/>
              <a:rect l="l" t="t" r="r" b="b"/>
              <a:pathLst>
                <a:path w="7699" h="2121" extrusionOk="0">
                  <a:moveTo>
                    <a:pt x="7370" y="0"/>
                  </a:moveTo>
                  <a:cubicBezTo>
                    <a:pt x="7278" y="97"/>
                    <a:pt x="6543" y="656"/>
                    <a:pt x="5138" y="961"/>
                  </a:cubicBezTo>
                  <a:cubicBezTo>
                    <a:pt x="4475" y="1101"/>
                    <a:pt x="3618" y="1151"/>
                    <a:pt x="2864" y="1151"/>
                  </a:cubicBezTo>
                  <a:cubicBezTo>
                    <a:pt x="2043" y="1151"/>
                    <a:pt x="1346" y="1091"/>
                    <a:pt x="1155" y="1022"/>
                  </a:cubicBezTo>
                  <a:cubicBezTo>
                    <a:pt x="814" y="920"/>
                    <a:pt x="490" y="743"/>
                    <a:pt x="326" y="743"/>
                  </a:cubicBezTo>
                  <a:cubicBezTo>
                    <a:pt x="304" y="743"/>
                    <a:pt x="284" y="746"/>
                    <a:pt x="268" y="754"/>
                  </a:cubicBezTo>
                  <a:cubicBezTo>
                    <a:pt x="153" y="827"/>
                    <a:pt x="0" y="1465"/>
                    <a:pt x="37" y="1618"/>
                  </a:cubicBezTo>
                  <a:cubicBezTo>
                    <a:pt x="64" y="1728"/>
                    <a:pt x="1601" y="2120"/>
                    <a:pt x="3287" y="2120"/>
                  </a:cubicBezTo>
                  <a:cubicBezTo>
                    <a:pt x="3934" y="2120"/>
                    <a:pt x="4603" y="2062"/>
                    <a:pt x="5217" y="1909"/>
                  </a:cubicBezTo>
                  <a:cubicBezTo>
                    <a:pt x="7412" y="1368"/>
                    <a:pt x="7661" y="906"/>
                    <a:pt x="7680" y="772"/>
                  </a:cubicBezTo>
                  <a:cubicBezTo>
                    <a:pt x="7698" y="615"/>
                    <a:pt x="7680" y="559"/>
                    <a:pt x="7624" y="310"/>
                  </a:cubicBezTo>
                  <a:cubicBezTo>
                    <a:pt x="7564" y="79"/>
                    <a:pt x="7370" y="0"/>
                    <a:pt x="73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6107407" y="3086595"/>
              <a:ext cx="1063722" cy="308099"/>
            </a:xfrm>
            <a:custGeom>
              <a:avLst/>
              <a:gdLst/>
              <a:ahLst/>
              <a:cxnLst/>
              <a:rect l="l" t="t" r="r" b="b"/>
              <a:pathLst>
                <a:path w="7782" h="2254" extrusionOk="0">
                  <a:moveTo>
                    <a:pt x="7412" y="139"/>
                  </a:moveTo>
                  <a:cubicBezTo>
                    <a:pt x="7435" y="158"/>
                    <a:pt x="7569" y="213"/>
                    <a:pt x="7606" y="407"/>
                  </a:cubicBezTo>
                  <a:cubicBezTo>
                    <a:pt x="7685" y="657"/>
                    <a:pt x="7685" y="694"/>
                    <a:pt x="7666" y="833"/>
                  </a:cubicBezTo>
                  <a:cubicBezTo>
                    <a:pt x="7666" y="888"/>
                    <a:pt x="7625" y="1022"/>
                    <a:pt x="7278" y="1216"/>
                  </a:cubicBezTo>
                  <a:cubicBezTo>
                    <a:pt x="6950" y="1429"/>
                    <a:pt x="6335" y="1678"/>
                    <a:pt x="5240" y="1946"/>
                  </a:cubicBezTo>
                  <a:cubicBezTo>
                    <a:pt x="4637" y="2096"/>
                    <a:pt x="3981" y="2151"/>
                    <a:pt x="3344" y="2151"/>
                  </a:cubicBezTo>
                  <a:cubicBezTo>
                    <a:pt x="2820" y="2151"/>
                    <a:pt x="2309" y="2114"/>
                    <a:pt x="1849" y="2062"/>
                  </a:cubicBezTo>
                  <a:cubicBezTo>
                    <a:pt x="1350" y="2006"/>
                    <a:pt x="906" y="1909"/>
                    <a:pt x="597" y="1831"/>
                  </a:cubicBezTo>
                  <a:cubicBezTo>
                    <a:pt x="444" y="1794"/>
                    <a:pt x="310" y="1757"/>
                    <a:pt x="232" y="1734"/>
                  </a:cubicBezTo>
                  <a:cubicBezTo>
                    <a:pt x="195" y="1715"/>
                    <a:pt x="158" y="1697"/>
                    <a:pt x="135" y="1697"/>
                  </a:cubicBezTo>
                  <a:cubicBezTo>
                    <a:pt x="135" y="1678"/>
                    <a:pt x="135" y="1678"/>
                    <a:pt x="116" y="1678"/>
                  </a:cubicBezTo>
                  <a:cubicBezTo>
                    <a:pt x="116" y="1660"/>
                    <a:pt x="116" y="1600"/>
                    <a:pt x="135" y="1526"/>
                  </a:cubicBezTo>
                  <a:cubicBezTo>
                    <a:pt x="135" y="1429"/>
                    <a:pt x="158" y="1350"/>
                    <a:pt x="195" y="1253"/>
                  </a:cubicBezTo>
                  <a:cubicBezTo>
                    <a:pt x="213" y="1156"/>
                    <a:pt x="232" y="1064"/>
                    <a:pt x="273" y="1003"/>
                  </a:cubicBezTo>
                  <a:cubicBezTo>
                    <a:pt x="310" y="925"/>
                    <a:pt x="347" y="888"/>
                    <a:pt x="347" y="888"/>
                  </a:cubicBezTo>
                  <a:cubicBezTo>
                    <a:pt x="347" y="879"/>
                    <a:pt x="358" y="874"/>
                    <a:pt x="375" y="874"/>
                  </a:cubicBezTo>
                  <a:cubicBezTo>
                    <a:pt x="392" y="874"/>
                    <a:pt x="416" y="879"/>
                    <a:pt x="444" y="888"/>
                  </a:cubicBezTo>
                  <a:cubicBezTo>
                    <a:pt x="481" y="888"/>
                    <a:pt x="560" y="906"/>
                    <a:pt x="638" y="948"/>
                  </a:cubicBezTo>
                  <a:cubicBezTo>
                    <a:pt x="791" y="1003"/>
                    <a:pt x="985" y="1082"/>
                    <a:pt x="1174" y="1156"/>
                  </a:cubicBezTo>
                  <a:cubicBezTo>
                    <a:pt x="1271" y="1198"/>
                    <a:pt x="1484" y="1216"/>
                    <a:pt x="1775" y="1235"/>
                  </a:cubicBezTo>
                  <a:cubicBezTo>
                    <a:pt x="2061" y="1253"/>
                    <a:pt x="2426" y="1271"/>
                    <a:pt x="2815" y="1271"/>
                  </a:cubicBezTo>
                  <a:cubicBezTo>
                    <a:pt x="2920" y="1275"/>
                    <a:pt x="3029" y="1276"/>
                    <a:pt x="3140" y="1276"/>
                  </a:cubicBezTo>
                  <a:cubicBezTo>
                    <a:pt x="3832" y="1276"/>
                    <a:pt x="4601" y="1213"/>
                    <a:pt x="5199" y="1082"/>
                  </a:cubicBezTo>
                  <a:cubicBezTo>
                    <a:pt x="5892" y="948"/>
                    <a:pt x="6432" y="717"/>
                    <a:pt x="6816" y="523"/>
                  </a:cubicBezTo>
                  <a:cubicBezTo>
                    <a:pt x="6992" y="426"/>
                    <a:pt x="7144" y="347"/>
                    <a:pt x="7260" y="273"/>
                  </a:cubicBezTo>
                  <a:cubicBezTo>
                    <a:pt x="7338" y="213"/>
                    <a:pt x="7375" y="176"/>
                    <a:pt x="7412" y="139"/>
                  </a:cubicBezTo>
                  <a:close/>
                  <a:moveTo>
                    <a:pt x="7394" y="1"/>
                  </a:moveTo>
                  <a:lnTo>
                    <a:pt x="7375" y="42"/>
                  </a:lnTo>
                  <a:cubicBezTo>
                    <a:pt x="7357" y="61"/>
                    <a:pt x="7297" y="116"/>
                    <a:pt x="7204" y="176"/>
                  </a:cubicBezTo>
                  <a:cubicBezTo>
                    <a:pt x="7089" y="255"/>
                    <a:pt x="6950" y="347"/>
                    <a:pt x="6761" y="426"/>
                  </a:cubicBezTo>
                  <a:cubicBezTo>
                    <a:pt x="6396" y="620"/>
                    <a:pt x="5873" y="833"/>
                    <a:pt x="5180" y="985"/>
                  </a:cubicBezTo>
                  <a:cubicBezTo>
                    <a:pt x="4487" y="1137"/>
                    <a:pt x="3582" y="1179"/>
                    <a:pt x="2815" y="1179"/>
                  </a:cubicBezTo>
                  <a:cubicBezTo>
                    <a:pt x="2426" y="1179"/>
                    <a:pt x="2061" y="1156"/>
                    <a:pt x="1775" y="1137"/>
                  </a:cubicBezTo>
                  <a:cubicBezTo>
                    <a:pt x="1502" y="1119"/>
                    <a:pt x="1290" y="1082"/>
                    <a:pt x="1197" y="1064"/>
                  </a:cubicBezTo>
                  <a:cubicBezTo>
                    <a:pt x="1022" y="985"/>
                    <a:pt x="828" y="906"/>
                    <a:pt x="675" y="851"/>
                  </a:cubicBezTo>
                  <a:cubicBezTo>
                    <a:pt x="597" y="809"/>
                    <a:pt x="523" y="791"/>
                    <a:pt x="463" y="772"/>
                  </a:cubicBezTo>
                  <a:cubicBezTo>
                    <a:pt x="435" y="772"/>
                    <a:pt x="406" y="768"/>
                    <a:pt x="377" y="768"/>
                  </a:cubicBezTo>
                  <a:cubicBezTo>
                    <a:pt x="348" y="768"/>
                    <a:pt x="319" y="772"/>
                    <a:pt x="292" y="791"/>
                  </a:cubicBezTo>
                  <a:cubicBezTo>
                    <a:pt x="232" y="809"/>
                    <a:pt x="213" y="888"/>
                    <a:pt x="176" y="948"/>
                  </a:cubicBezTo>
                  <a:cubicBezTo>
                    <a:pt x="135" y="1022"/>
                    <a:pt x="116" y="1119"/>
                    <a:pt x="79" y="1216"/>
                  </a:cubicBezTo>
                  <a:cubicBezTo>
                    <a:pt x="61" y="1313"/>
                    <a:pt x="42" y="1410"/>
                    <a:pt x="19" y="1502"/>
                  </a:cubicBezTo>
                  <a:cubicBezTo>
                    <a:pt x="19" y="1581"/>
                    <a:pt x="1" y="1660"/>
                    <a:pt x="19" y="1715"/>
                  </a:cubicBezTo>
                  <a:cubicBezTo>
                    <a:pt x="19" y="1734"/>
                    <a:pt x="42" y="1757"/>
                    <a:pt x="61" y="1757"/>
                  </a:cubicBezTo>
                  <a:cubicBezTo>
                    <a:pt x="61" y="1775"/>
                    <a:pt x="79" y="1775"/>
                    <a:pt x="79" y="1775"/>
                  </a:cubicBezTo>
                  <a:cubicBezTo>
                    <a:pt x="116" y="1794"/>
                    <a:pt x="158" y="1812"/>
                    <a:pt x="195" y="1831"/>
                  </a:cubicBezTo>
                  <a:cubicBezTo>
                    <a:pt x="292" y="1872"/>
                    <a:pt x="426" y="1891"/>
                    <a:pt x="578" y="1946"/>
                  </a:cubicBezTo>
                  <a:cubicBezTo>
                    <a:pt x="888" y="2025"/>
                    <a:pt x="1331" y="2103"/>
                    <a:pt x="1849" y="2159"/>
                  </a:cubicBezTo>
                  <a:cubicBezTo>
                    <a:pt x="2288" y="2217"/>
                    <a:pt x="2782" y="2254"/>
                    <a:pt x="3293" y="2254"/>
                  </a:cubicBezTo>
                  <a:cubicBezTo>
                    <a:pt x="3948" y="2254"/>
                    <a:pt x="4630" y="2194"/>
                    <a:pt x="5259" y="2043"/>
                  </a:cubicBezTo>
                  <a:cubicBezTo>
                    <a:pt x="6372" y="1775"/>
                    <a:pt x="6992" y="1526"/>
                    <a:pt x="7338" y="1313"/>
                  </a:cubicBezTo>
                  <a:cubicBezTo>
                    <a:pt x="7685" y="1101"/>
                    <a:pt x="7759" y="948"/>
                    <a:pt x="7782" y="851"/>
                  </a:cubicBezTo>
                  <a:cubicBezTo>
                    <a:pt x="7782" y="694"/>
                    <a:pt x="7782" y="620"/>
                    <a:pt x="7722" y="389"/>
                  </a:cubicBezTo>
                  <a:cubicBezTo>
                    <a:pt x="7643" y="116"/>
                    <a:pt x="7435" y="24"/>
                    <a:pt x="7435" y="24"/>
                  </a:cubicBezTo>
                  <a:lnTo>
                    <a:pt x="7394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6770629" y="3239416"/>
              <a:ext cx="103064" cy="103201"/>
            </a:xfrm>
            <a:custGeom>
              <a:avLst/>
              <a:gdLst/>
              <a:ahLst/>
              <a:cxnLst/>
              <a:rect l="l" t="t" r="r" b="b"/>
              <a:pathLst>
                <a:path w="754" h="755" extrusionOk="0">
                  <a:moveTo>
                    <a:pt x="388" y="1"/>
                  </a:moveTo>
                  <a:cubicBezTo>
                    <a:pt x="176" y="1"/>
                    <a:pt x="0" y="177"/>
                    <a:pt x="0" y="366"/>
                  </a:cubicBezTo>
                  <a:cubicBezTo>
                    <a:pt x="0" y="579"/>
                    <a:pt x="176" y="754"/>
                    <a:pt x="388" y="754"/>
                  </a:cubicBezTo>
                  <a:cubicBezTo>
                    <a:pt x="578" y="754"/>
                    <a:pt x="753" y="579"/>
                    <a:pt x="753" y="366"/>
                  </a:cubicBezTo>
                  <a:cubicBezTo>
                    <a:pt x="753" y="177"/>
                    <a:pt x="578" y="1"/>
                    <a:pt x="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6765571" y="3231898"/>
              <a:ext cx="115640" cy="115776"/>
            </a:xfrm>
            <a:custGeom>
              <a:avLst/>
              <a:gdLst/>
              <a:ahLst/>
              <a:cxnLst/>
              <a:rect l="l" t="t" r="r" b="b"/>
              <a:pathLst>
                <a:path w="846" h="847" extrusionOk="0">
                  <a:moveTo>
                    <a:pt x="425" y="116"/>
                  </a:moveTo>
                  <a:cubicBezTo>
                    <a:pt x="596" y="116"/>
                    <a:pt x="730" y="250"/>
                    <a:pt x="730" y="421"/>
                  </a:cubicBezTo>
                  <a:cubicBezTo>
                    <a:pt x="730" y="597"/>
                    <a:pt x="596" y="749"/>
                    <a:pt x="425" y="749"/>
                  </a:cubicBezTo>
                  <a:cubicBezTo>
                    <a:pt x="231" y="749"/>
                    <a:pt x="97" y="597"/>
                    <a:pt x="97" y="421"/>
                  </a:cubicBezTo>
                  <a:cubicBezTo>
                    <a:pt x="97" y="250"/>
                    <a:pt x="231" y="116"/>
                    <a:pt x="425" y="116"/>
                  </a:cubicBezTo>
                  <a:close/>
                  <a:moveTo>
                    <a:pt x="425" y="1"/>
                  </a:moveTo>
                  <a:cubicBezTo>
                    <a:pt x="171" y="1"/>
                    <a:pt x="0" y="190"/>
                    <a:pt x="0" y="421"/>
                  </a:cubicBezTo>
                  <a:cubicBezTo>
                    <a:pt x="0" y="652"/>
                    <a:pt x="171" y="846"/>
                    <a:pt x="425" y="846"/>
                  </a:cubicBezTo>
                  <a:cubicBezTo>
                    <a:pt x="656" y="846"/>
                    <a:pt x="846" y="652"/>
                    <a:pt x="846" y="421"/>
                  </a:cubicBezTo>
                  <a:cubicBezTo>
                    <a:pt x="846" y="190"/>
                    <a:pt x="656" y="1"/>
                    <a:pt x="42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6271025" y="3610668"/>
              <a:ext cx="547033" cy="271330"/>
            </a:xfrm>
            <a:custGeom>
              <a:avLst/>
              <a:gdLst/>
              <a:ahLst/>
              <a:cxnLst/>
              <a:rect l="l" t="t" r="r" b="b"/>
              <a:pathLst>
                <a:path w="4002" h="1985" extrusionOk="0">
                  <a:moveTo>
                    <a:pt x="552" y="0"/>
                  </a:moveTo>
                  <a:cubicBezTo>
                    <a:pt x="201" y="0"/>
                    <a:pt x="0" y="76"/>
                    <a:pt x="0" y="76"/>
                  </a:cubicBezTo>
                  <a:cubicBezTo>
                    <a:pt x="0" y="76"/>
                    <a:pt x="1423" y="233"/>
                    <a:pt x="2117" y="695"/>
                  </a:cubicBezTo>
                  <a:cubicBezTo>
                    <a:pt x="2791" y="1134"/>
                    <a:pt x="4002" y="1984"/>
                    <a:pt x="4002" y="1984"/>
                  </a:cubicBezTo>
                  <a:cubicBezTo>
                    <a:pt x="4002" y="1984"/>
                    <a:pt x="3212" y="1018"/>
                    <a:pt x="2020" y="385"/>
                  </a:cubicBezTo>
                  <a:cubicBezTo>
                    <a:pt x="1412" y="77"/>
                    <a:pt x="906" y="0"/>
                    <a:pt x="5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6267882" y="3604115"/>
              <a:ext cx="555918" cy="284452"/>
            </a:xfrm>
            <a:custGeom>
              <a:avLst/>
              <a:gdLst/>
              <a:ahLst/>
              <a:cxnLst/>
              <a:rect l="l" t="t" r="r" b="b"/>
              <a:pathLst>
                <a:path w="4067" h="2081" extrusionOk="0">
                  <a:moveTo>
                    <a:pt x="578" y="116"/>
                  </a:moveTo>
                  <a:cubicBezTo>
                    <a:pt x="924" y="116"/>
                    <a:pt x="1428" y="176"/>
                    <a:pt x="2006" y="500"/>
                  </a:cubicBezTo>
                  <a:cubicBezTo>
                    <a:pt x="2814" y="906"/>
                    <a:pt x="3313" y="1369"/>
                    <a:pt x="3641" y="1697"/>
                  </a:cubicBezTo>
                  <a:cubicBezTo>
                    <a:pt x="3276" y="1466"/>
                    <a:pt x="2680" y="1059"/>
                    <a:pt x="2158" y="694"/>
                  </a:cubicBezTo>
                  <a:cubicBezTo>
                    <a:pt x="1812" y="463"/>
                    <a:pt x="1271" y="310"/>
                    <a:pt x="832" y="232"/>
                  </a:cubicBezTo>
                  <a:cubicBezTo>
                    <a:pt x="559" y="176"/>
                    <a:pt x="504" y="176"/>
                    <a:pt x="347" y="153"/>
                  </a:cubicBezTo>
                  <a:cubicBezTo>
                    <a:pt x="444" y="135"/>
                    <a:pt x="425" y="116"/>
                    <a:pt x="578" y="116"/>
                  </a:cubicBezTo>
                  <a:close/>
                  <a:moveTo>
                    <a:pt x="578" y="1"/>
                  </a:moveTo>
                  <a:cubicBezTo>
                    <a:pt x="231" y="19"/>
                    <a:pt x="42" y="79"/>
                    <a:pt x="23" y="98"/>
                  </a:cubicBezTo>
                  <a:lnTo>
                    <a:pt x="0" y="98"/>
                  </a:lnTo>
                  <a:lnTo>
                    <a:pt x="23" y="195"/>
                  </a:lnTo>
                  <a:cubicBezTo>
                    <a:pt x="23" y="195"/>
                    <a:pt x="370" y="232"/>
                    <a:pt x="809" y="329"/>
                  </a:cubicBezTo>
                  <a:cubicBezTo>
                    <a:pt x="1252" y="426"/>
                    <a:pt x="1775" y="578"/>
                    <a:pt x="2103" y="791"/>
                  </a:cubicBezTo>
                  <a:cubicBezTo>
                    <a:pt x="2773" y="1235"/>
                    <a:pt x="4006" y="2080"/>
                    <a:pt x="4006" y="2080"/>
                  </a:cubicBezTo>
                  <a:lnTo>
                    <a:pt x="4066" y="2002"/>
                  </a:lnTo>
                  <a:cubicBezTo>
                    <a:pt x="4066" y="2002"/>
                    <a:pt x="3276" y="1040"/>
                    <a:pt x="2061" y="407"/>
                  </a:cubicBezTo>
                  <a:cubicBezTo>
                    <a:pt x="1446" y="79"/>
                    <a:pt x="947" y="1"/>
                    <a:pt x="57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6881075" y="3641560"/>
              <a:ext cx="363322" cy="206265"/>
            </a:xfrm>
            <a:custGeom>
              <a:avLst/>
              <a:gdLst/>
              <a:ahLst/>
              <a:cxnLst/>
              <a:rect l="l" t="t" r="r" b="b"/>
              <a:pathLst>
                <a:path w="2658" h="1509" extrusionOk="0">
                  <a:moveTo>
                    <a:pt x="2547" y="0"/>
                  </a:moveTo>
                  <a:cubicBezTo>
                    <a:pt x="2315" y="0"/>
                    <a:pt x="1734" y="68"/>
                    <a:pt x="985" y="640"/>
                  </a:cubicBezTo>
                  <a:cubicBezTo>
                    <a:pt x="1" y="1393"/>
                    <a:pt x="61" y="1509"/>
                    <a:pt x="61" y="1509"/>
                  </a:cubicBezTo>
                  <a:cubicBezTo>
                    <a:pt x="61" y="1509"/>
                    <a:pt x="426" y="1236"/>
                    <a:pt x="1216" y="700"/>
                  </a:cubicBezTo>
                  <a:cubicBezTo>
                    <a:pt x="1983" y="159"/>
                    <a:pt x="2658" y="7"/>
                    <a:pt x="2658" y="7"/>
                  </a:cubicBezTo>
                  <a:cubicBezTo>
                    <a:pt x="2658" y="7"/>
                    <a:pt x="2619" y="0"/>
                    <a:pt x="2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6883672" y="3635281"/>
              <a:ext cx="360725" cy="221711"/>
            </a:xfrm>
            <a:custGeom>
              <a:avLst/>
              <a:gdLst/>
              <a:ahLst/>
              <a:cxnLst/>
              <a:rect l="l" t="t" r="r" b="b"/>
              <a:pathLst>
                <a:path w="2639" h="1622" extrusionOk="0">
                  <a:moveTo>
                    <a:pt x="2218" y="138"/>
                  </a:moveTo>
                  <a:cubicBezTo>
                    <a:pt x="1946" y="235"/>
                    <a:pt x="1581" y="410"/>
                    <a:pt x="1155" y="715"/>
                  </a:cubicBezTo>
                  <a:cubicBezTo>
                    <a:pt x="656" y="1062"/>
                    <a:pt x="601" y="1104"/>
                    <a:pt x="425" y="1238"/>
                  </a:cubicBezTo>
                  <a:cubicBezTo>
                    <a:pt x="559" y="1104"/>
                    <a:pt x="656" y="988"/>
                    <a:pt x="1003" y="734"/>
                  </a:cubicBezTo>
                  <a:cubicBezTo>
                    <a:pt x="1484" y="369"/>
                    <a:pt x="1890" y="198"/>
                    <a:pt x="2177" y="138"/>
                  </a:cubicBezTo>
                  <a:close/>
                  <a:moveTo>
                    <a:pt x="2533" y="1"/>
                  </a:moveTo>
                  <a:cubicBezTo>
                    <a:pt x="2458" y="1"/>
                    <a:pt x="2333" y="8"/>
                    <a:pt x="2158" y="41"/>
                  </a:cubicBezTo>
                  <a:cubicBezTo>
                    <a:pt x="1849" y="101"/>
                    <a:pt x="1428" y="272"/>
                    <a:pt x="924" y="660"/>
                  </a:cubicBezTo>
                  <a:cubicBezTo>
                    <a:pt x="444" y="1025"/>
                    <a:pt x="213" y="1238"/>
                    <a:pt x="97" y="1372"/>
                  </a:cubicBezTo>
                  <a:cubicBezTo>
                    <a:pt x="42" y="1427"/>
                    <a:pt x="23" y="1469"/>
                    <a:pt x="0" y="1506"/>
                  </a:cubicBezTo>
                  <a:lnTo>
                    <a:pt x="0" y="1542"/>
                  </a:lnTo>
                  <a:lnTo>
                    <a:pt x="0" y="1566"/>
                  </a:lnTo>
                  <a:lnTo>
                    <a:pt x="0" y="1584"/>
                  </a:lnTo>
                  <a:lnTo>
                    <a:pt x="42" y="1621"/>
                  </a:lnTo>
                  <a:lnTo>
                    <a:pt x="79" y="1603"/>
                  </a:lnTo>
                  <a:cubicBezTo>
                    <a:pt x="79" y="1603"/>
                    <a:pt x="444" y="1353"/>
                    <a:pt x="1216" y="794"/>
                  </a:cubicBezTo>
                  <a:cubicBezTo>
                    <a:pt x="1987" y="253"/>
                    <a:pt x="2639" y="101"/>
                    <a:pt x="2639" y="101"/>
                  </a:cubicBezTo>
                  <a:lnTo>
                    <a:pt x="2639" y="4"/>
                  </a:lnTo>
                  <a:lnTo>
                    <a:pt x="2620" y="4"/>
                  </a:lnTo>
                  <a:cubicBezTo>
                    <a:pt x="2613" y="4"/>
                    <a:pt x="2584" y="1"/>
                    <a:pt x="253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7155276" y="547702"/>
              <a:ext cx="1065635" cy="936737"/>
            </a:xfrm>
            <a:custGeom>
              <a:avLst/>
              <a:gdLst/>
              <a:ahLst/>
              <a:cxnLst/>
              <a:rect l="l" t="t" r="r" b="b"/>
              <a:pathLst>
                <a:path w="7796" h="6853" extrusionOk="0">
                  <a:moveTo>
                    <a:pt x="3983" y="0"/>
                  </a:moveTo>
                  <a:cubicBezTo>
                    <a:pt x="1867" y="0"/>
                    <a:pt x="153" y="1386"/>
                    <a:pt x="153" y="3119"/>
                  </a:cubicBezTo>
                  <a:cubicBezTo>
                    <a:pt x="171" y="3849"/>
                    <a:pt x="462" y="4542"/>
                    <a:pt x="1040" y="5101"/>
                  </a:cubicBezTo>
                  <a:lnTo>
                    <a:pt x="0" y="6852"/>
                  </a:lnTo>
                  <a:cubicBezTo>
                    <a:pt x="0" y="6852"/>
                    <a:pt x="2135" y="6640"/>
                    <a:pt x="2865" y="6122"/>
                  </a:cubicBezTo>
                  <a:cubicBezTo>
                    <a:pt x="3235" y="6215"/>
                    <a:pt x="3600" y="6256"/>
                    <a:pt x="3983" y="6256"/>
                  </a:cubicBezTo>
                  <a:cubicBezTo>
                    <a:pt x="6099" y="6256"/>
                    <a:pt x="7795" y="4852"/>
                    <a:pt x="7795" y="3119"/>
                  </a:cubicBezTo>
                  <a:cubicBezTo>
                    <a:pt x="7795" y="1386"/>
                    <a:pt x="6099" y="0"/>
                    <a:pt x="39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7142017" y="539501"/>
              <a:ext cx="1087096" cy="952456"/>
            </a:xfrm>
            <a:custGeom>
              <a:avLst/>
              <a:gdLst/>
              <a:ahLst/>
              <a:cxnLst/>
              <a:rect l="l" t="t" r="r" b="b"/>
              <a:pathLst>
                <a:path w="7953" h="6968" extrusionOk="0">
                  <a:moveTo>
                    <a:pt x="4080" y="97"/>
                  </a:moveTo>
                  <a:cubicBezTo>
                    <a:pt x="6159" y="97"/>
                    <a:pt x="7855" y="1483"/>
                    <a:pt x="7855" y="3179"/>
                  </a:cubicBezTo>
                  <a:cubicBezTo>
                    <a:pt x="7855" y="4870"/>
                    <a:pt x="6159" y="6256"/>
                    <a:pt x="4080" y="6256"/>
                  </a:cubicBezTo>
                  <a:cubicBezTo>
                    <a:pt x="3715" y="6256"/>
                    <a:pt x="3332" y="6219"/>
                    <a:pt x="2985" y="6122"/>
                  </a:cubicBezTo>
                  <a:lnTo>
                    <a:pt x="2943" y="6122"/>
                  </a:lnTo>
                  <a:lnTo>
                    <a:pt x="2925" y="6141"/>
                  </a:lnTo>
                  <a:cubicBezTo>
                    <a:pt x="2578" y="6372"/>
                    <a:pt x="1867" y="6566"/>
                    <a:pt x="1252" y="6681"/>
                  </a:cubicBezTo>
                  <a:cubicBezTo>
                    <a:pt x="693" y="6797"/>
                    <a:pt x="287" y="6834"/>
                    <a:pt x="213" y="6834"/>
                  </a:cubicBezTo>
                  <a:lnTo>
                    <a:pt x="1192" y="5161"/>
                  </a:lnTo>
                  <a:lnTo>
                    <a:pt x="1174" y="5143"/>
                  </a:lnTo>
                  <a:cubicBezTo>
                    <a:pt x="615" y="4584"/>
                    <a:pt x="305" y="3891"/>
                    <a:pt x="305" y="3179"/>
                  </a:cubicBezTo>
                  <a:cubicBezTo>
                    <a:pt x="305" y="1483"/>
                    <a:pt x="2001" y="97"/>
                    <a:pt x="4080" y="97"/>
                  </a:cubicBezTo>
                  <a:close/>
                  <a:moveTo>
                    <a:pt x="4080" y="0"/>
                  </a:moveTo>
                  <a:cubicBezTo>
                    <a:pt x="1945" y="0"/>
                    <a:pt x="213" y="1423"/>
                    <a:pt x="213" y="3179"/>
                  </a:cubicBezTo>
                  <a:cubicBezTo>
                    <a:pt x="213" y="3909"/>
                    <a:pt x="518" y="4602"/>
                    <a:pt x="1058" y="5180"/>
                  </a:cubicBezTo>
                  <a:lnTo>
                    <a:pt x="0" y="6968"/>
                  </a:lnTo>
                  <a:lnTo>
                    <a:pt x="116" y="6949"/>
                  </a:lnTo>
                  <a:cubicBezTo>
                    <a:pt x="116" y="6949"/>
                    <a:pt x="652" y="6912"/>
                    <a:pt x="1271" y="6797"/>
                  </a:cubicBezTo>
                  <a:cubicBezTo>
                    <a:pt x="1885" y="6663"/>
                    <a:pt x="2578" y="6487"/>
                    <a:pt x="2962" y="6238"/>
                  </a:cubicBezTo>
                  <a:cubicBezTo>
                    <a:pt x="3332" y="6316"/>
                    <a:pt x="3697" y="6372"/>
                    <a:pt x="4080" y="6372"/>
                  </a:cubicBezTo>
                  <a:cubicBezTo>
                    <a:pt x="6219" y="6372"/>
                    <a:pt x="7952" y="4949"/>
                    <a:pt x="7952" y="3179"/>
                  </a:cubicBezTo>
                  <a:cubicBezTo>
                    <a:pt x="7952" y="1423"/>
                    <a:pt x="6219" y="0"/>
                    <a:pt x="408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6384068" y="3097394"/>
              <a:ext cx="25971" cy="50029"/>
            </a:xfrm>
            <a:custGeom>
              <a:avLst/>
              <a:gdLst/>
              <a:ahLst/>
              <a:cxnLst/>
              <a:rect l="l" t="t" r="r" b="b"/>
              <a:pathLst>
                <a:path w="190" h="366" extrusionOk="0">
                  <a:moveTo>
                    <a:pt x="153" y="0"/>
                  </a:moveTo>
                  <a:cubicBezTo>
                    <a:pt x="116" y="0"/>
                    <a:pt x="97" y="19"/>
                    <a:pt x="97" y="37"/>
                  </a:cubicBezTo>
                  <a:lnTo>
                    <a:pt x="97" y="60"/>
                  </a:lnTo>
                  <a:cubicBezTo>
                    <a:pt x="97" y="97"/>
                    <a:pt x="74" y="153"/>
                    <a:pt x="37" y="213"/>
                  </a:cubicBezTo>
                  <a:cubicBezTo>
                    <a:pt x="37" y="250"/>
                    <a:pt x="19" y="268"/>
                    <a:pt x="19" y="291"/>
                  </a:cubicBezTo>
                  <a:cubicBezTo>
                    <a:pt x="0" y="328"/>
                    <a:pt x="19" y="347"/>
                    <a:pt x="37" y="365"/>
                  </a:cubicBezTo>
                  <a:cubicBezTo>
                    <a:pt x="74" y="365"/>
                    <a:pt x="97" y="347"/>
                    <a:pt x="116" y="328"/>
                  </a:cubicBezTo>
                  <a:cubicBezTo>
                    <a:pt x="116" y="310"/>
                    <a:pt x="134" y="291"/>
                    <a:pt x="134" y="250"/>
                  </a:cubicBezTo>
                  <a:cubicBezTo>
                    <a:pt x="171" y="194"/>
                    <a:pt x="190" y="134"/>
                    <a:pt x="190" y="60"/>
                  </a:cubicBezTo>
                  <a:cubicBezTo>
                    <a:pt x="190" y="19"/>
                    <a:pt x="171" y="0"/>
                    <a:pt x="15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5883782" y="2218199"/>
              <a:ext cx="418955" cy="1058664"/>
            </a:xfrm>
            <a:custGeom>
              <a:avLst/>
              <a:gdLst/>
              <a:ahLst/>
              <a:cxnLst/>
              <a:rect l="l" t="t" r="r" b="b"/>
              <a:pathLst>
                <a:path w="3065" h="7745" extrusionOk="0">
                  <a:moveTo>
                    <a:pt x="1734" y="1"/>
                  </a:moveTo>
                  <a:cubicBezTo>
                    <a:pt x="1041" y="195"/>
                    <a:pt x="754" y="675"/>
                    <a:pt x="657" y="1197"/>
                  </a:cubicBezTo>
                  <a:cubicBezTo>
                    <a:pt x="542" y="1733"/>
                    <a:pt x="311" y="5083"/>
                    <a:pt x="153" y="5855"/>
                  </a:cubicBezTo>
                  <a:cubicBezTo>
                    <a:pt x="1" y="6608"/>
                    <a:pt x="384" y="7532"/>
                    <a:pt x="773" y="7685"/>
                  </a:cubicBezTo>
                  <a:cubicBezTo>
                    <a:pt x="881" y="7728"/>
                    <a:pt x="1043" y="7745"/>
                    <a:pt x="1227" y="7745"/>
                  </a:cubicBezTo>
                  <a:cubicBezTo>
                    <a:pt x="1694" y="7745"/>
                    <a:pt x="2302" y="7633"/>
                    <a:pt x="2524" y="7551"/>
                  </a:cubicBezTo>
                  <a:cubicBezTo>
                    <a:pt x="2833" y="7417"/>
                    <a:pt x="2852" y="6913"/>
                    <a:pt x="2926" y="6377"/>
                  </a:cubicBezTo>
                  <a:cubicBezTo>
                    <a:pt x="2986" y="5836"/>
                    <a:pt x="2949" y="4201"/>
                    <a:pt x="3004" y="3429"/>
                  </a:cubicBezTo>
                  <a:cubicBezTo>
                    <a:pt x="3064" y="2680"/>
                    <a:pt x="2852" y="1350"/>
                    <a:pt x="2524" y="717"/>
                  </a:cubicBezTo>
                  <a:cubicBezTo>
                    <a:pt x="2196" y="79"/>
                    <a:pt x="1734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5886379" y="2213142"/>
              <a:ext cx="423876" cy="1072060"/>
            </a:xfrm>
            <a:custGeom>
              <a:avLst/>
              <a:gdLst/>
              <a:ahLst/>
              <a:cxnLst/>
              <a:rect l="l" t="t" r="r" b="b"/>
              <a:pathLst>
                <a:path w="3101" h="7843" extrusionOk="0">
                  <a:moveTo>
                    <a:pt x="1715" y="98"/>
                  </a:moveTo>
                  <a:cubicBezTo>
                    <a:pt x="1733" y="98"/>
                    <a:pt x="1830" y="116"/>
                    <a:pt x="1964" y="213"/>
                  </a:cubicBezTo>
                  <a:cubicBezTo>
                    <a:pt x="2121" y="310"/>
                    <a:pt x="2311" y="463"/>
                    <a:pt x="2468" y="772"/>
                  </a:cubicBezTo>
                  <a:cubicBezTo>
                    <a:pt x="2773" y="1387"/>
                    <a:pt x="2985" y="2717"/>
                    <a:pt x="2930" y="3466"/>
                  </a:cubicBezTo>
                  <a:cubicBezTo>
                    <a:pt x="2907" y="3850"/>
                    <a:pt x="2907" y="4450"/>
                    <a:pt x="2888" y="5028"/>
                  </a:cubicBezTo>
                  <a:cubicBezTo>
                    <a:pt x="2888" y="5605"/>
                    <a:pt x="2888" y="6141"/>
                    <a:pt x="2851" y="6414"/>
                  </a:cubicBezTo>
                  <a:cubicBezTo>
                    <a:pt x="2814" y="6682"/>
                    <a:pt x="2791" y="6931"/>
                    <a:pt x="2754" y="7144"/>
                  </a:cubicBezTo>
                  <a:cubicBezTo>
                    <a:pt x="2699" y="7338"/>
                    <a:pt x="2620" y="7491"/>
                    <a:pt x="2486" y="7527"/>
                  </a:cubicBezTo>
                  <a:cubicBezTo>
                    <a:pt x="2352" y="7588"/>
                    <a:pt x="2006" y="7661"/>
                    <a:pt x="1659" y="7703"/>
                  </a:cubicBezTo>
                  <a:cubicBezTo>
                    <a:pt x="1503" y="7720"/>
                    <a:pt x="1343" y="7729"/>
                    <a:pt x="1198" y="7729"/>
                  </a:cubicBezTo>
                  <a:cubicBezTo>
                    <a:pt x="1021" y="7729"/>
                    <a:pt x="866" y="7715"/>
                    <a:pt x="772" y="7685"/>
                  </a:cubicBezTo>
                  <a:cubicBezTo>
                    <a:pt x="596" y="7606"/>
                    <a:pt x="407" y="7357"/>
                    <a:pt x="292" y="7010"/>
                  </a:cubicBezTo>
                  <a:cubicBezTo>
                    <a:pt x="176" y="6682"/>
                    <a:pt x="116" y="6257"/>
                    <a:pt x="176" y="5892"/>
                  </a:cubicBezTo>
                  <a:cubicBezTo>
                    <a:pt x="273" y="5508"/>
                    <a:pt x="365" y="4487"/>
                    <a:pt x="444" y="3484"/>
                  </a:cubicBezTo>
                  <a:cubicBezTo>
                    <a:pt x="504" y="2985"/>
                    <a:pt x="541" y="2486"/>
                    <a:pt x="578" y="2080"/>
                  </a:cubicBezTo>
                  <a:cubicBezTo>
                    <a:pt x="620" y="1678"/>
                    <a:pt x="657" y="1368"/>
                    <a:pt x="675" y="1253"/>
                  </a:cubicBezTo>
                  <a:cubicBezTo>
                    <a:pt x="791" y="731"/>
                    <a:pt x="1040" y="292"/>
                    <a:pt x="1715" y="98"/>
                  </a:cubicBezTo>
                  <a:close/>
                  <a:moveTo>
                    <a:pt x="1715" y="1"/>
                  </a:moveTo>
                  <a:cubicBezTo>
                    <a:pt x="985" y="176"/>
                    <a:pt x="675" y="675"/>
                    <a:pt x="578" y="1234"/>
                  </a:cubicBezTo>
                  <a:cubicBezTo>
                    <a:pt x="560" y="1368"/>
                    <a:pt x="523" y="1678"/>
                    <a:pt x="481" y="2080"/>
                  </a:cubicBezTo>
                  <a:cubicBezTo>
                    <a:pt x="444" y="2486"/>
                    <a:pt x="389" y="2967"/>
                    <a:pt x="347" y="3466"/>
                  </a:cubicBezTo>
                  <a:cubicBezTo>
                    <a:pt x="250" y="4469"/>
                    <a:pt x="158" y="5508"/>
                    <a:pt x="79" y="5873"/>
                  </a:cubicBezTo>
                  <a:cubicBezTo>
                    <a:pt x="0" y="6257"/>
                    <a:pt x="61" y="6700"/>
                    <a:pt x="194" y="7047"/>
                  </a:cubicBezTo>
                  <a:cubicBezTo>
                    <a:pt x="328" y="7393"/>
                    <a:pt x="523" y="7685"/>
                    <a:pt x="735" y="7777"/>
                  </a:cubicBezTo>
                  <a:cubicBezTo>
                    <a:pt x="858" y="7824"/>
                    <a:pt x="1039" y="7843"/>
                    <a:pt x="1241" y="7843"/>
                  </a:cubicBezTo>
                  <a:cubicBezTo>
                    <a:pt x="1380" y="7843"/>
                    <a:pt x="1529" y="7834"/>
                    <a:pt x="1678" y="7819"/>
                  </a:cubicBezTo>
                  <a:cubicBezTo>
                    <a:pt x="2024" y="7777"/>
                    <a:pt x="2371" y="7703"/>
                    <a:pt x="2523" y="7625"/>
                  </a:cubicBezTo>
                  <a:cubicBezTo>
                    <a:pt x="2699" y="7569"/>
                    <a:pt x="2791" y="7375"/>
                    <a:pt x="2851" y="7162"/>
                  </a:cubicBezTo>
                  <a:cubicBezTo>
                    <a:pt x="2907" y="6950"/>
                    <a:pt x="2930" y="6682"/>
                    <a:pt x="2948" y="6414"/>
                  </a:cubicBezTo>
                  <a:cubicBezTo>
                    <a:pt x="2985" y="6141"/>
                    <a:pt x="2985" y="5605"/>
                    <a:pt x="3004" y="5028"/>
                  </a:cubicBezTo>
                  <a:cubicBezTo>
                    <a:pt x="3004" y="4450"/>
                    <a:pt x="3004" y="3850"/>
                    <a:pt x="3045" y="3466"/>
                  </a:cubicBezTo>
                  <a:cubicBezTo>
                    <a:pt x="3101" y="2694"/>
                    <a:pt x="2888" y="1387"/>
                    <a:pt x="2560" y="731"/>
                  </a:cubicBezTo>
                  <a:cubicBezTo>
                    <a:pt x="2389" y="407"/>
                    <a:pt x="2177" y="232"/>
                    <a:pt x="2024" y="116"/>
                  </a:cubicBezTo>
                  <a:cubicBezTo>
                    <a:pt x="1849" y="19"/>
                    <a:pt x="1733" y="1"/>
                    <a:pt x="173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5641976" y="2668595"/>
              <a:ext cx="641760" cy="743594"/>
            </a:xfrm>
            <a:custGeom>
              <a:avLst/>
              <a:gdLst/>
              <a:ahLst/>
              <a:cxnLst/>
              <a:rect l="l" t="t" r="r" b="b"/>
              <a:pathLst>
                <a:path w="4695" h="5440" extrusionOk="0">
                  <a:moveTo>
                    <a:pt x="2944" y="0"/>
                  </a:moveTo>
                  <a:lnTo>
                    <a:pt x="0" y="1058"/>
                  </a:lnTo>
                  <a:cubicBezTo>
                    <a:pt x="0" y="1058"/>
                    <a:pt x="213" y="1964"/>
                    <a:pt x="213" y="2657"/>
                  </a:cubicBezTo>
                  <a:cubicBezTo>
                    <a:pt x="213" y="3368"/>
                    <a:pt x="384" y="3909"/>
                    <a:pt x="846" y="4256"/>
                  </a:cubicBezTo>
                  <a:cubicBezTo>
                    <a:pt x="1289" y="4584"/>
                    <a:pt x="1405" y="4967"/>
                    <a:pt x="1830" y="5198"/>
                  </a:cubicBezTo>
                  <a:cubicBezTo>
                    <a:pt x="2090" y="5341"/>
                    <a:pt x="2389" y="5440"/>
                    <a:pt x="2688" y="5440"/>
                  </a:cubicBezTo>
                  <a:cubicBezTo>
                    <a:pt x="2873" y="5440"/>
                    <a:pt x="3058" y="5402"/>
                    <a:pt x="3235" y="5314"/>
                  </a:cubicBezTo>
                  <a:cubicBezTo>
                    <a:pt x="3678" y="5064"/>
                    <a:pt x="4080" y="5004"/>
                    <a:pt x="4274" y="4658"/>
                  </a:cubicBezTo>
                  <a:cubicBezTo>
                    <a:pt x="4487" y="4311"/>
                    <a:pt x="4621" y="3544"/>
                    <a:pt x="4621" y="3544"/>
                  </a:cubicBezTo>
                  <a:cubicBezTo>
                    <a:pt x="4695" y="2541"/>
                    <a:pt x="4445" y="1904"/>
                    <a:pt x="4177" y="1617"/>
                  </a:cubicBezTo>
                  <a:cubicBezTo>
                    <a:pt x="3909" y="1326"/>
                    <a:pt x="3447" y="1058"/>
                    <a:pt x="3332" y="712"/>
                  </a:cubicBezTo>
                  <a:cubicBezTo>
                    <a:pt x="3216" y="384"/>
                    <a:pt x="2944" y="0"/>
                    <a:pt x="2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5633775" y="2660257"/>
              <a:ext cx="658162" cy="758766"/>
            </a:xfrm>
            <a:custGeom>
              <a:avLst/>
              <a:gdLst/>
              <a:ahLst/>
              <a:cxnLst/>
              <a:rect l="l" t="t" r="r" b="b"/>
              <a:pathLst>
                <a:path w="4815" h="5551" extrusionOk="0">
                  <a:moveTo>
                    <a:pt x="2985" y="116"/>
                  </a:moveTo>
                  <a:cubicBezTo>
                    <a:pt x="3004" y="158"/>
                    <a:pt x="3235" y="505"/>
                    <a:pt x="3350" y="791"/>
                  </a:cubicBezTo>
                  <a:cubicBezTo>
                    <a:pt x="3410" y="985"/>
                    <a:pt x="3563" y="1138"/>
                    <a:pt x="3715" y="1272"/>
                  </a:cubicBezTo>
                  <a:cubicBezTo>
                    <a:pt x="3891" y="1429"/>
                    <a:pt x="4062" y="1563"/>
                    <a:pt x="4200" y="1715"/>
                  </a:cubicBezTo>
                  <a:cubicBezTo>
                    <a:pt x="4450" y="1988"/>
                    <a:pt x="4699" y="2602"/>
                    <a:pt x="4639" y="3605"/>
                  </a:cubicBezTo>
                  <a:cubicBezTo>
                    <a:pt x="4621" y="3605"/>
                    <a:pt x="4602" y="3776"/>
                    <a:pt x="4524" y="4007"/>
                  </a:cubicBezTo>
                  <a:cubicBezTo>
                    <a:pt x="4468" y="4238"/>
                    <a:pt x="4390" y="4529"/>
                    <a:pt x="4293" y="4700"/>
                  </a:cubicBezTo>
                  <a:cubicBezTo>
                    <a:pt x="4200" y="4853"/>
                    <a:pt x="4062" y="4950"/>
                    <a:pt x="3891" y="5047"/>
                  </a:cubicBezTo>
                  <a:cubicBezTo>
                    <a:pt x="3715" y="5125"/>
                    <a:pt x="3507" y="5199"/>
                    <a:pt x="3253" y="5315"/>
                  </a:cubicBezTo>
                  <a:cubicBezTo>
                    <a:pt x="3083" y="5408"/>
                    <a:pt x="2900" y="5448"/>
                    <a:pt x="2715" y="5448"/>
                  </a:cubicBezTo>
                  <a:cubicBezTo>
                    <a:pt x="2443" y="5448"/>
                    <a:pt x="2167" y="5360"/>
                    <a:pt x="1927" y="5222"/>
                  </a:cubicBezTo>
                  <a:cubicBezTo>
                    <a:pt x="1714" y="5107"/>
                    <a:pt x="1580" y="4950"/>
                    <a:pt x="1446" y="4779"/>
                  </a:cubicBezTo>
                  <a:cubicBezTo>
                    <a:pt x="1312" y="4621"/>
                    <a:pt x="1174" y="4432"/>
                    <a:pt x="943" y="4256"/>
                  </a:cubicBezTo>
                  <a:cubicBezTo>
                    <a:pt x="504" y="3952"/>
                    <a:pt x="328" y="3411"/>
                    <a:pt x="328" y="2718"/>
                  </a:cubicBezTo>
                  <a:cubicBezTo>
                    <a:pt x="328" y="2025"/>
                    <a:pt x="134" y="1198"/>
                    <a:pt x="116" y="1156"/>
                  </a:cubicBezTo>
                  <a:lnTo>
                    <a:pt x="2985" y="116"/>
                  </a:lnTo>
                  <a:close/>
                  <a:moveTo>
                    <a:pt x="3022" y="1"/>
                  </a:moveTo>
                  <a:lnTo>
                    <a:pt x="0" y="1082"/>
                  </a:lnTo>
                  <a:lnTo>
                    <a:pt x="19" y="1119"/>
                  </a:lnTo>
                  <a:cubicBezTo>
                    <a:pt x="19" y="1119"/>
                    <a:pt x="213" y="2025"/>
                    <a:pt x="213" y="2718"/>
                  </a:cubicBezTo>
                  <a:cubicBezTo>
                    <a:pt x="213" y="3429"/>
                    <a:pt x="407" y="4007"/>
                    <a:pt x="869" y="4354"/>
                  </a:cubicBezTo>
                  <a:cubicBezTo>
                    <a:pt x="1100" y="4506"/>
                    <a:pt x="1234" y="4682"/>
                    <a:pt x="1368" y="4853"/>
                  </a:cubicBezTo>
                  <a:cubicBezTo>
                    <a:pt x="1502" y="5028"/>
                    <a:pt x="1636" y="5181"/>
                    <a:pt x="1867" y="5296"/>
                  </a:cubicBezTo>
                  <a:cubicBezTo>
                    <a:pt x="2138" y="5448"/>
                    <a:pt x="2437" y="5551"/>
                    <a:pt x="2739" y="5551"/>
                  </a:cubicBezTo>
                  <a:cubicBezTo>
                    <a:pt x="2932" y="5551"/>
                    <a:pt x="3126" y="5509"/>
                    <a:pt x="3313" y="5412"/>
                  </a:cubicBezTo>
                  <a:cubicBezTo>
                    <a:pt x="3544" y="5296"/>
                    <a:pt x="3757" y="5222"/>
                    <a:pt x="3928" y="5125"/>
                  </a:cubicBezTo>
                  <a:cubicBezTo>
                    <a:pt x="4122" y="5047"/>
                    <a:pt x="4274" y="4931"/>
                    <a:pt x="4371" y="4737"/>
                  </a:cubicBezTo>
                  <a:cubicBezTo>
                    <a:pt x="4487" y="4566"/>
                    <a:pt x="4565" y="4275"/>
                    <a:pt x="4639" y="4044"/>
                  </a:cubicBezTo>
                  <a:cubicBezTo>
                    <a:pt x="4699" y="3813"/>
                    <a:pt x="4736" y="3623"/>
                    <a:pt x="4736" y="3623"/>
                  </a:cubicBezTo>
                  <a:lnTo>
                    <a:pt x="4736" y="3605"/>
                  </a:lnTo>
                  <a:cubicBezTo>
                    <a:pt x="4815" y="2584"/>
                    <a:pt x="4565" y="1946"/>
                    <a:pt x="4274" y="1641"/>
                  </a:cubicBezTo>
                  <a:cubicBezTo>
                    <a:pt x="4140" y="1484"/>
                    <a:pt x="3946" y="1350"/>
                    <a:pt x="3794" y="1198"/>
                  </a:cubicBezTo>
                  <a:cubicBezTo>
                    <a:pt x="3641" y="1064"/>
                    <a:pt x="3507" y="907"/>
                    <a:pt x="3447" y="773"/>
                  </a:cubicBezTo>
                  <a:cubicBezTo>
                    <a:pt x="3332" y="426"/>
                    <a:pt x="3064" y="24"/>
                    <a:pt x="3064" y="24"/>
                  </a:cubicBezTo>
                  <a:lnTo>
                    <a:pt x="3022" y="1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5562969" y="2497048"/>
              <a:ext cx="521199" cy="381912"/>
            </a:xfrm>
            <a:custGeom>
              <a:avLst/>
              <a:gdLst/>
              <a:ahLst/>
              <a:cxnLst/>
              <a:rect l="l" t="t" r="r" b="b"/>
              <a:pathLst>
                <a:path w="3813" h="2794" extrusionOk="0">
                  <a:moveTo>
                    <a:pt x="3031" y="1"/>
                  </a:moveTo>
                  <a:cubicBezTo>
                    <a:pt x="3022" y="1"/>
                    <a:pt x="3013" y="1"/>
                    <a:pt x="3004" y="3"/>
                  </a:cubicBezTo>
                  <a:lnTo>
                    <a:pt x="2962" y="155"/>
                  </a:lnTo>
                  <a:cubicBezTo>
                    <a:pt x="2962" y="155"/>
                    <a:pt x="2847" y="368"/>
                    <a:pt x="1673" y="927"/>
                  </a:cubicBezTo>
                  <a:cubicBezTo>
                    <a:pt x="1065" y="1227"/>
                    <a:pt x="714" y="1299"/>
                    <a:pt x="518" y="1299"/>
                  </a:cubicBezTo>
                  <a:cubicBezTo>
                    <a:pt x="336" y="1299"/>
                    <a:pt x="287" y="1237"/>
                    <a:pt x="287" y="1237"/>
                  </a:cubicBezTo>
                  <a:lnTo>
                    <a:pt x="213" y="1061"/>
                  </a:lnTo>
                  <a:cubicBezTo>
                    <a:pt x="213" y="1061"/>
                    <a:pt x="116" y="1061"/>
                    <a:pt x="56" y="1195"/>
                  </a:cubicBezTo>
                  <a:cubicBezTo>
                    <a:pt x="1" y="1334"/>
                    <a:pt x="38" y="1449"/>
                    <a:pt x="172" y="1888"/>
                  </a:cubicBezTo>
                  <a:cubicBezTo>
                    <a:pt x="329" y="2332"/>
                    <a:pt x="463" y="2641"/>
                    <a:pt x="597" y="2738"/>
                  </a:cubicBezTo>
                  <a:cubicBezTo>
                    <a:pt x="649" y="2767"/>
                    <a:pt x="731" y="2794"/>
                    <a:pt x="879" y="2794"/>
                  </a:cubicBezTo>
                  <a:cubicBezTo>
                    <a:pt x="1109" y="2794"/>
                    <a:pt x="1497" y="2729"/>
                    <a:pt x="2177" y="2507"/>
                  </a:cubicBezTo>
                  <a:cubicBezTo>
                    <a:pt x="3291" y="2142"/>
                    <a:pt x="3813" y="1699"/>
                    <a:pt x="3813" y="1565"/>
                  </a:cubicBezTo>
                  <a:cubicBezTo>
                    <a:pt x="3813" y="1407"/>
                    <a:pt x="3656" y="987"/>
                    <a:pt x="3522" y="714"/>
                  </a:cubicBezTo>
                  <a:cubicBezTo>
                    <a:pt x="3392" y="456"/>
                    <a:pt x="3263" y="1"/>
                    <a:pt x="3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5560509" y="2489804"/>
              <a:ext cx="531314" cy="396811"/>
            </a:xfrm>
            <a:custGeom>
              <a:avLst/>
              <a:gdLst/>
              <a:ahLst/>
              <a:cxnLst/>
              <a:rect l="l" t="t" r="r" b="b"/>
              <a:pathLst>
                <a:path w="3887" h="2903" extrusionOk="0">
                  <a:moveTo>
                    <a:pt x="3059" y="116"/>
                  </a:moveTo>
                  <a:cubicBezTo>
                    <a:pt x="3096" y="116"/>
                    <a:pt x="3119" y="134"/>
                    <a:pt x="3156" y="153"/>
                  </a:cubicBezTo>
                  <a:cubicBezTo>
                    <a:pt x="3193" y="190"/>
                    <a:pt x="3235" y="250"/>
                    <a:pt x="3272" y="324"/>
                  </a:cubicBezTo>
                  <a:cubicBezTo>
                    <a:pt x="3369" y="462"/>
                    <a:pt x="3424" y="652"/>
                    <a:pt x="3503" y="786"/>
                  </a:cubicBezTo>
                  <a:cubicBezTo>
                    <a:pt x="3558" y="924"/>
                    <a:pt x="3637" y="1095"/>
                    <a:pt x="3674" y="1248"/>
                  </a:cubicBezTo>
                  <a:cubicBezTo>
                    <a:pt x="3734" y="1405"/>
                    <a:pt x="3771" y="1558"/>
                    <a:pt x="3771" y="1618"/>
                  </a:cubicBezTo>
                  <a:cubicBezTo>
                    <a:pt x="3771" y="1618"/>
                    <a:pt x="3752" y="1673"/>
                    <a:pt x="3697" y="1733"/>
                  </a:cubicBezTo>
                  <a:cubicBezTo>
                    <a:pt x="3637" y="1789"/>
                    <a:pt x="3540" y="1867"/>
                    <a:pt x="3406" y="1964"/>
                  </a:cubicBezTo>
                  <a:cubicBezTo>
                    <a:pt x="3138" y="2117"/>
                    <a:pt x="2731" y="2329"/>
                    <a:pt x="2172" y="2500"/>
                  </a:cubicBezTo>
                  <a:cubicBezTo>
                    <a:pt x="1636" y="2694"/>
                    <a:pt x="1271" y="2773"/>
                    <a:pt x="1040" y="2791"/>
                  </a:cubicBezTo>
                  <a:cubicBezTo>
                    <a:pt x="998" y="2795"/>
                    <a:pt x="960" y="2796"/>
                    <a:pt x="927" y="2796"/>
                  </a:cubicBezTo>
                  <a:cubicBezTo>
                    <a:pt x="775" y="2796"/>
                    <a:pt x="701" y="2765"/>
                    <a:pt x="652" y="2731"/>
                  </a:cubicBezTo>
                  <a:cubicBezTo>
                    <a:pt x="596" y="2713"/>
                    <a:pt x="518" y="2616"/>
                    <a:pt x="462" y="2482"/>
                  </a:cubicBezTo>
                  <a:cubicBezTo>
                    <a:pt x="384" y="2329"/>
                    <a:pt x="324" y="2154"/>
                    <a:pt x="250" y="1941"/>
                  </a:cubicBezTo>
                  <a:cubicBezTo>
                    <a:pt x="171" y="1710"/>
                    <a:pt x="134" y="1576"/>
                    <a:pt x="116" y="1479"/>
                  </a:cubicBezTo>
                  <a:cubicBezTo>
                    <a:pt x="93" y="1363"/>
                    <a:pt x="93" y="1326"/>
                    <a:pt x="134" y="1271"/>
                  </a:cubicBezTo>
                  <a:cubicBezTo>
                    <a:pt x="153" y="1211"/>
                    <a:pt x="171" y="1192"/>
                    <a:pt x="190" y="1174"/>
                  </a:cubicBezTo>
                  <a:lnTo>
                    <a:pt x="268" y="1308"/>
                  </a:lnTo>
                  <a:lnTo>
                    <a:pt x="268" y="1326"/>
                  </a:lnTo>
                  <a:cubicBezTo>
                    <a:pt x="268" y="1326"/>
                    <a:pt x="287" y="1326"/>
                    <a:pt x="287" y="1345"/>
                  </a:cubicBezTo>
                  <a:cubicBezTo>
                    <a:pt x="305" y="1345"/>
                    <a:pt x="324" y="1363"/>
                    <a:pt x="347" y="1363"/>
                  </a:cubicBezTo>
                  <a:cubicBezTo>
                    <a:pt x="384" y="1387"/>
                    <a:pt x="462" y="1405"/>
                    <a:pt x="555" y="1405"/>
                  </a:cubicBezTo>
                  <a:cubicBezTo>
                    <a:pt x="767" y="1405"/>
                    <a:pt x="1114" y="1326"/>
                    <a:pt x="1710" y="1040"/>
                  </a:cubicBezTo>
                  <a:cubicBezTo>
                    <a:pt x="2287" y="749"/>
                    <a:pt x="2615" y="555"/>
                    <a:pt x="2810" y="421"/>
                  </a:cubicBezTo>
                  <a:cubicBezTo>
                    <a:pt x="2888" y="365"/>
                    <a:pt x="2944" y="324"/>
                    <a:pt x="2980" y="287"/>
                  </a:cubicBezTo>
                  <a:cubicBezTo>
                    <a:pt x="3004" y="250"/>
                    <a:pt x="3022" y="231"/>
                    <a:pt x="3022" y="231"/>
                  </a:cubicBezTo>
                  <a:lnTo>
                    <a:pt x="3059" y="116"/>
                  </a:lnTo>
                  <a:close/>
                  <a:moveTo>
                    <a:pt x="3022" y="0"/>
                  </a:moveTo>
                  <a:lnTo>
                    <a:pt x="2980" y="19"/>
                  </a:lnTo>
                  <a:lnTo>
                    <a:pt x="2962" y="37"/>
                  </a:lnTo>
                  <a:lnTo>
                    <a:pt x="2925" y="190"/>
                  </a:lnTo>
                  <a:lnTo>
                    <a:pt x="2907" y="208"/>
                  </a:lnTo>
                  <a:cubicBezTo>
                    <a:pt x="2888" y="250"/>
                    <a:pt x="2828" y="287"/>
                    <a:pt x="2749" y="347"/>
                  </a:cubicBezTo>
                  <a:cubicBezTo>
                    <a:pt x="2578" y="462"/>
                    <a:pt x="2250" y="652"/>
                    <a:pt x="1673" y="943"/>
                  </a:cubicBezTo>
                  <a:cubicBezTo>
                    <a:pt x="1077" y="1211"/>
                    <a:pt x="749" y="1290"/>
                    <a:pt x="555" y="1290"/>
                  </a:cubicBezTo>
                  <a:cubicBezTo>
                    <a:pt x="528" y="1295"/>
                    <a:pt x="505" y="1297"/>
                    <a:pt x="485" y="1297"/>
                  </a:cubicBezTo>
                  <a:cubicBezTo>
                    <a:pt x="438" y="1297"/>
                    <a:pt x="410" y="1284"/>
                    <a:pt x="384" y="1271"/>
                  </a:cubicBezTo>
                  <a:cubicBezTo>
                    <a:pt x="365" y="1271"/>
                    <a:pt x="365" y="1271"/>
                    <a:pt x="365" y="1248"/>
                  </a:cubicBezTo>
                  <a:lnTo>
                    <a:pt x="250" y="1058"/>
                  </a:lnTo>
                  <a:lnTo>
                    <a:pt x="231" y="1058"/>
                  </a:lnTo>
                  <a:cubicBezTo>
                    <a:pt x="231" y="1058"/>
                    <a:pt x="190" y="1058"/>
                    <a:pt x="153" y="1077"/>
                  </a:cubicBezTo>
                  <a:cubicBezTo>
                    <a:pt x="116" y="1114"/>
                    <a:pt x="56" y="1156"/>
                    <a:pt x="37" y="1229"/>
                  </a:cubicBezTo>
                  <a:cubicBezTo>
                    <a:pt x="0" y="1308"/>
                    <a:pt x="0" y="1387"/>
                    <a:pt x="19" y="1502"/>
                  </a:cubicBezTo>
                  <a:cubicBezTo>
                    <a:pt x="37" y="1594"/>
                    <a:pt x="74" y="1752"/>
                    <a:pt x="153" y="1964"/>
                  </a:cubicBezTo>
                  <a:cubicBezTo>
                    <a:pt x="208" y="2195"/>
                    <a:pt x="287" y="2366"/>
                    <a:pt x="365" y="2519"/>
                  </a:cubicBezTo>
                  <a:cubicBezTo>
                    <a:pt x="439" y="2676"/>
                    <a:pt x="499" y="2773"/>
                    <a:pt x="596" y="2828"/>
                  </a:cubicBezTo>
                  <a:cubicBezTo>
                    <a:pt x="650" y="2872"/>
                    <a:pt x="737" y="2903"/>
                    <a:pt x="869" y="2903"/>
                  </a:cubicBezTo>
                  <a:cubicBezTo>
                    <a:pt x="919" y="2903"/>
                    <a:pt x="976" y="2898"/>
                    <a:pt x="1040" y="2888"/>
                  </a:cubicBezTo>
                  <a:cubicBezTo>
                    <a:pt x="1289" y="2865"/>
                    <a:pt x="1654" y="2791"/>
                    <a:pt x="2213" y="2616"/>
                  </a:cubicBezTo>
                  <a:cubicBezTo>
                    <a:pt x="2773" y="2426"/>
                    <a:pt x="3193" y="2214"/>
                    <a:pt x="3466" y="2038"/>
                  </a:cubicBezTo>
                  <a:cubicBezTo>
                    <a:pt x="3600" y="1964"/>
                    <a:pt x="3697" y="1867"/>
                    <a:pt x="3771" y="1807"/>
                  </a:cubicBezTo>
                  <a:cubicBezTo>
                    <a:pt x="3849" y="1733"/>
                    <a:pt x="3886" y="1673"/>
                    <a:pt x="3886" y="1618"/>
                  </a:cubicBezTo>
                  <a:cubicBezTo>
                    <a:pt x="3886" y="1521"/>
                    <a:pt x="3831" y="1387"/>
                    <a:pt x="3789" y="1211"/>
                  </a:cubicBezTo>
                  <a:cubicBezTo>
                    <a:pt x="3734" y="1058"/>
                    <a:pt x="3655" y="883"/>
                    <a:pt x="3600" y="749"/>
                  </a:cubicBezTo>
                  <a:cubicBezTo>
                    <a:pt x="3521" y="615"/>
                    <a:pt x="3466" y="421"/>
                    <a:pt x="3369" y="268"/>
                  </a:cubicBezTo>
                  <a:cubicBezTo>
                    <a:pt x="3327" y="190"/>
                    <a:pt x="3272" y="116"/>
                    <a:pt x="3212" y="74"/>
                  </a:cubicBezTo>
                  <a:cubicBezTo>
                    <a:pt x="3156" y="19"/>
                    <a:pt x="3096" y="0"/>
                    <a:pt x="302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5131028" y="2001818"/>
              <a:ext cx="373984" cy="354164"/>
            </a:xfrm>
            <a:custGeom>
              <a:avLst/>
              <a:gdLst/>
              <a:ahLst/>
              <a:cxnLst/>
              <a:rect l="l" t="t" r="r" b="b"/>
              <a:pathLst>
                <a:path w="2736" h="2591" extrusionOk="0">
                  <a:moveTo>
                    <a:pt x="619" y="0"/>
                  </a:moveTo>
                  <a:cubicBezTo>
                    <a:pt x="363" y="0"/>
                    <a:pt x="146" y="227"/>
                    <a:pt x="79" y="507"/>
                  </a:cubicBezTo>
                  <a:cubicBezTo>
                    <a:pt x="0" y="890"/>
                    <a:pt x="444" y="1450"/>
                    <a:pt x="1003" y="1972"/>
                  </a:cubicBezTo>
                  <a:cubicBezTo>
                    <a:pt x="1433" y="2383"/>
                    <a:pt x="1740" y="2590"/>
                    <a:pt x="1955" y="2590"/>
                  </a:cubicBezTo>
                  <a:cubicBezTo>
                    <a:pt x="2010" y="2590"/>
                    <a:pt x="2059" y="2577"/>
                    <a:pt x="2103" y="2549"/>
                  </a:cubicBezTo>
                  <a:cubicBezTo>
                    <a:pt x="2292" y="2434"/>
                    <a:pt x="2736" y="1875"/>
                    <a:pt x="2736" y="1875"/>
                  </a:cubicBezTo>
                  <a:cubicBezTo>
                    <a:pt x="2736" y="1875"/>
                    <a:pt x="2177" y="1584"/>
                    <a:pt x="1830" y="1316"/>
                  </a:cubicBezTo>
                  <a:cubicBezTo>
                    <a:pt x="1502" y="1048"/>
                    <a:pt x="1331" y="451"/>
                    <a:pt x="966" y="142"/>
                  </a:cubicBezTo>
                  <a:cubicBezTo>
                    <a:pt x="849" y="43"/>
                    <a:pt x="730" y="0"/>
                    <a:pt x="619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5128430" y="1994573"/>
              <a:ext cx="387379" cy="345006"/>
            </a:xfrm>
            <a:custGeom>
              <a:avLst/>
              <a:gdLst/>
              <a:ahLst/>
              <a:cxnLst/>
              <a:rect l="l" t="t" r="r" b="b"/>
              <a:pathLst>
                <a:path w="2834" h="2524" extrusionOk="0">
                  <a:moveTo>
                    <a:pt x="638" y="1"/>
                  </a:moveTo>
                  <a:cubicBezTo>
                    <a:pt x="560" y="1"/>
                    <a:pt x="481" y="19"/>
                    <a:pt x="407" y="61"/>
                  </a:cubicBezTo>
                  <a:cubicBezTo>
                    <a:pt x="232" y="158"/>
                    <a:pt x="98" y="329"/>
                    <a:pt x="61" y="541"/>
                  </a:cubicBezTo>
                  <a:cubicBezTo>
                    <a:pt x="1" y="772"/>
                    <a:pt x="98" y="1022"/>
                    <a:pt x="273" y="1272"/>
                  </a:cubicBezTo>
                  <a:cubicBezTo>
                    <a:pt x="444" y="1544"/>
                    <a:pt x="694" y="1812"/>
                    <a:pt x="985" y="2062"/>
                  </a:cubicBezTo>
                  <a:cubicBezTo>
                    <a:pt x="1197" y="2256"/>
                    <a:pt x="1368" y="2408"/>
                    <a:pt x="1521" y="2524"/>
                  </a:cubicBezTo>
                  <a:cubicBezTo>
                    <a:pt x="1544" y="2487"/>
                    <a:pt x="1581" y="2468"/>
                    <a:pt x="1599" y="2427"/>
                  </a:cubicBezTo>
                  <a:cubicBezTo>
                    <a:pt x="1447" y="2330"/>
                    <a:pt x="1271" y="2177"/>
                    <a:pt x="1040" y="1983"/>
                  </a:cubicBezTo>
                  <a:cubicBezTo>
                    <a:pt x="772" y="1734"/>
                    <a:pt x="523" y="1466"/>
                    <a:pt x="366" y="1216"/>
                  </a:cubicBezTo>
                  <a:cubicBezTo>
                    <a:pt x="195" y="967"/>
                    <a:pt x="116" y="736"/>
                    <a:pt x="158" y="560"/>
                  </a:cubicBezTo>
                  <a:cubicBezTo>
                    <a:pt x="195" y="389"/>
                    <a:pt x="310" y="232"/>
                    <a:pt x="444" y="158"/>
                  </a:cubicBezTo>
                  <a:cubicBezTo>
                    <a:pt x="523" y="116"/>
                    <a:pt x="597" y="98"/>
                    <a:pt x="694" y="98"/>
                  </a:cubicBezTo>
                  <a:cubicBezTo>
                    <a:pt x="772" y="116"/>
                    <a:pt x="851" y="158"/>
                    <a:pt x="943" y="232"/>
                  </a:cubicBezTo>
                  <a:cubicBezTo>
                    <a:pt x="1119" y="389"/>
                    <a:pt x="1253" y="597"/>
                    <a:pt x="1387" y="828"/>
                  </a:cubicBezTo>
                  <a:cubicBezTo>
                    <a:pt x="1521" y="1040"/>
                    <a:pt x="1636" y="1253"/>
                    <a:pt x="1830" y="1406"/>
                  </a:cubicBezTo>
                  <a:cubicBezTo>
                    <a:pt x="2006" y="1563"/>
                    <a:pt x="2237" y="1697"/>
                    <a:pt x="2408" y="1794"/>
                  </a:cubicBezTo>
                  <a:cubicBezTo>
                    <a:pt x="2505" y="1812"/>
                    <a:pt x="2621" y="1868"/>
                    <a:pt x="2815" y="1909"/>
                  </a:cubicBezTo>
                  <a:lnTo>
                    <a:pt x="2833" y="1909"/>
                  </a:lnTo>
                  <a:lnTo>
                    <a:pt x="2773" y="1868"/>
                  </a:lnTo>
                  <a:cubicBezTo>
                    <a:pt x="2773" y="1868"/>
                    <a:pt x="2214" y="1600"/>
                    <a:pt x="1891" y="1332"/>
                  </a:cubicBezTo>
                  <a:cubicBezTo>
                    <a:pt x="1733" y="1198"/>
                    <a:pt x="1599" y="985"/>
                    <a:pt x="1484" y="772"/>
                  </a:cubicBezTo>
                  <a:cubicBezTo>
                    <a:pt x="1350" y="541"/>
                    <a:pt x="1216" y="310"/>
                    <a:pt x="1003" y="158"/>
                  </a:cubicBezTo>
                  <a:cubicBezTo>
                    <a:pt x="906" y="61"/>
                    <a:pt x="809" y="19"/>
                    <a:pt x="694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5223157" y="2246494"/>
              <a:ext cx="753025" cy="439185"/>
            </a:xfrm>
            <a:custGeom>
              <a:avLst/>
              <a:gdLst/>
              <a:ahLst/>
              <a:cxnLst/>
              <a:rect l="l" t="t" r="r" b="b"/>
              <a:pathLst>
                <a:path w="5509" h="3213" extrusionOk="0">
                  <a:moveTo>
                    <a:pt x="3835" y="0"/>
                  </a:moveTo>
                  <a:cubicBezTo>
                    <a:pt x="3460" y="0"/>
                    <a:pt x="3043" y="82"/>
                    <a:pt x="2773" y="103"/>
                  </a:cubicBezTo>
                  <a:cubicBezTo>
                    <a:pt x="2720" y="107"/>
                    <a:pt x="2668" y="109"/>
                    <a:pt x="2618" y="109"/>
                  </a:cubicBezTo>
                  <a:cubicBezTo>
                    <a:pt x="2287" y="109"/>
                    <a:pt x="2014" y="33"/>
                    <a:pt x="1839" y="33"/>
                  </a:cubicBezTo>
                  <a:cubicBezTo>
                    <a:pt x="1798" y="33"/>
                    <a:pt x="1763" y="38"/>
                    <a:pt x="1734" y="48"/>
                  </a:cubicBezTo>
                  <a:cubicBezTo>
                    <a:pt x="1544" y="103"/>
                    <a:pt x="426" y="1143"/>
                    <a:pt x="213" y="1434"/>
                  </a:cubicBezTo>
                  <a:cubicBezTo>
                    <a:pt x="1" y="1702"/>
                    <a:pt x="135" y="2127"/>
                    <a:pt x="329" y="2242"/>
                  </a:cubicBezTo>
                  <a:cubicBezTo>
                    <a:pt x="523" y="2358"/>
                    <a:pt x="1752" y="2279"/>
                    <a:pt x="2080" y="2335"/>
                  </a:cubicBezTo>
                  <a:cubicBezTo>
                    <a:pt x="2427" y="2395"/>
                    <a:pt x="2427" y="2395"/>
                    <a:pt x="2487" y="2510"/>
                  </a:cubicBezTo>
                  <a:cubicBezTo>
                    <a:pt x="2542" y="2607"/>
                    <a:pt x="2815" y="3088"/>
                    <a:pt x="2815" y="3088"/>
                  </a:cubicBezTo>
                  <a:cubicBezTo>
                    <a:pt x="2815" y="3088"/>
                    <a:pt x="2815" y="3213"/>
                    <a:pt x="3041" y="3213"/>
                  </a:cubicBezTo>
                  <a:cubicBezTo>
                    <a:pt x="3146" y="3213"/>
                    <a:pt x="3300" y="3186"/>
                    <a:pt x="3526" y="3106"/>
                  </a:cubicBezTo>
                  <a:cubicBezTo>
                    <a:pt x="4256" y="2857"/>
                    <a:pt x="4852" y="2450"/>
                    <a:pt x="5102" y="2376"/>
                  </a:cubicBezTo>
                  <a:cubicBezTo>
                    <a:pt x="5356" y="2316"/>
                    <a:pt x="5509" y="2011"/>
                    <a:pt x="5509" y="2011"/>
                  </a:cubicBezTo>
                  <a:lnTo>
                    <a:pt x="5010" y="1277"/>
                  </a:lnTo>
                  <a:cubicBezTo>
                    <a:pt x="5010" y="1277"/>
                    <a:pt x="4894" y="584"/>
                    <a:pt x="4547" y="219"/>
                  </a:cubicBezTo>
                  <a:cubicBezTo>
                    <a:pt x="4395" y="50"/>
                    <a:pt x="4128" y="0"/>
                    <a:pt x="3835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5228898" y="2239660"/>
              <a:ext cx="754802" cy="453127"/>
            </a:xfrm>
            <a:custGeom>
              <a:avLst/>
              <a:gdLst/>
              <a:ahLst/>
              <a:cxnLst/>
              <a:rect l="l" t="t" r="r" b="b"/>
              <a:pathLst>
                <a:path w="5522" h="3315" extrusionOk="0">
                  <a:moveTo>
                    <a:pt x="3674" y="1"/>
                  </a:moveTo>
                  <a:cubicBezTo>
                    <a:pt x="3327" y="19"/>
                    <a:pt x="2962" y="75"/>
                    <a:pt x="2731" y="98"/>
                  </a:cubicBezTo>
                  <a:cubicBezTo>
                    <a:pt x="2670" y="103"/>
                    <a:pt x="2611" y="105"/>
                    <a:pt x="2553" y="105"/>
                  </a:cubicBezTo>
                  <a:cubicBezTo>
                    <a:pt x="2391" y="105"/>
                    <a:pt x="2243" y="87"/>
                    <a:pt x="2117" y="56"/>
                  </a:cubicBezTo>
                  <a:cubicBezTo>
                    <a:pt x="2022" y="43"/>
                    <a:pt x="1936" y="30"/>
                    <a:pt x="1860" y="30"/>
                  </a:cubicBezTo>
                  <a:cubicBezTo>
                    <a:pt x="1829" y="30"/>
                    <a:pt x="1799" y="32"/>
                    <a:pt x="1770" y="38"/>
                  </a:cubicBezTo>
                  <a:cubicBezTo>
                    <a:pt x="1867" y="56"/>
                    <a:pt x="1983" y="116"/>
                    <a:pt x="2154" y="135"/>
                  </a:cubicBezTo>
                  <a:lnTo>
                    <a:pt x="2154" y="172"/>
                  </a:lnTo>
                  <a:cubicBezTo>
                    <a:pt x="2277" y="185"/>
                    <a:pt x="2406" y="200"/>
                    <a:pt x="2553" y="200"/>
                  </a:cubicBezTo>
                  <a:cubicBezTo>
                    <a:pt x="2615" y="200"/>
                    <a:pt x="2681" y="197"/>
                    <a:pt x="2750" y="190"/>
                  </a:cubicBezTo>
                  <a:cubicBezTo>
                    <a:pt x="2981" y="172"/>
                    <a:pt x="3350" y="116"/>
                    <a:pt x="3674" y="98"/>
                  </a:cubicBezTo>
                  <a:cubicBezTo>
                    <a:pt x="4002" y="98"/>
                    <a:pt x="4311" y="135"/>
                    <a:pt x="4464" y="287"/>
                  </a:cubicBezTo>
                  <a:cubicBezTo>
                    <a:pt x="4792" y="652"/>
                    <a:pt x="4926" y="1327"/>
                    <a:pt x="4926" y="1327"/>
                  </a:cubicBezTo>
                  <a:lnTo>
                    <a:pt x="4926" y="1345"/>
                  </a:lnTo>
                  <a:lnTo>
                    <a:pt x="5406" y="2061"/>
                  </a:lnTo>
                  <a:cubicBezTo>
                    <a:pt x="5388" y="2080"/>
                    <a:pt x="5254" y="2329"/>
                    <a:pt x="5041" y="2385"/>
                  </a:cubicBezTo>
                  <a:cubicBezTo>
                    <a:pt x="4907" y="2426"/>
                    <a:pt x="4695" y="2542"/>
                    <a:pt x="4427" y="2676"/>
                  </a:cubicBezTo>
                  <a:cubicBezTo>
                    <a:pt x="4159" y="2828"/>
                    <a:pt x="3831" y="2986"/>
                    <a:pt x="3466" y="3101"/>
                  </a:cubicBezTo>
                  <a:cubicBezTo>
                    <a:pt x="3246" y="3186"/>
                    <a:pt x="3095" y="3210"/>
                    <a:pt x="2994" y="3210"/>
                  </a:cubicBezTo>
                  <a:cubicBezTo>
                    <a:pt x="2936" y="3210"/>
                    <a:pt x="2894" y="3202"/>
                    <a:pt x="2865" y="3193"/>
                  </a:cubicBezTo>
                  <a:cubicBezTo>
                    <a:pt x="2847" y="3175"/>
                    <a:pt x="2828" y="3156"/>
                    <a:pt x="2828" y="3138"/>
                  </a:cubicBezTo>
                  <a:lnTo>
                    <a:pt x="2810" y="3138"/>
                  </a:lnTo>
                  <a:lnTo>
                    <a:pt x="2810" y="3120"/>
                  </a:lnTo>
                  <a:lnTo>
                    <a:pt x="2810" y="3101"/>
                  </a:lnTo>
                  <a:cubicBezTo>
                    <a:pt x="2810" y="3101"/>
                    <a:pt x="2750" y="2986"/>
                    <a:pt x="2676" y="2847"/>
                  </a:cubicBezTo>
                  <a:cubicBezTo>
                    <a:pt x="2597" y="2713"/>
                    <a:pt x="2519" y="2579"/>
                    <a:pt x="2482" y="2523"/>
                  </a:cubicBezTo>
                  <a:cubicBezTo>
                    <a:pt x="2463" y="2482"/>
                    <a:pt x="2426" y="2426"/>
                    <a:pt x="2366" y="2408"/>
                  </a:cubicBezTo>
                  <a:cubicBezTo>
                    <a:pt x="2311" y="2366"/>
                    <a:pt x="2214" y="2366"/>
                    <a:pt x="2057" y="2329"/>
                  </a:cubicBezTo>
                  <a:cubicBezTo>
                    <a:pt x="1867" y="2311"/>
                    <a:pt x="1479" y="2311"/>
                    <a:pt x="1114" y="2311"/>
                  </a:cubicBezTo>
                  <a:cubicBezTo>
                    <a:pt x="925" y="2311"/>
                    <a:pt x="749" y="2311"/>
                    <a:pt x="596" y="2292"/>
                  </a:cubicBezTo>
                  <a:lnTo>
                    <a:pt x="536" y="2292"/>
                  </a:lnTo>
                  <a:cubicBezTo>
                    <a:pt x="524" y="2294"/>
                    <a:pt x="512" y="2294"/>
                    <a:pt x="499" y="2294"/>
                  </a:cubicBezTo>
                  <a:cubicBezTo>
                    <a:pt x="331" y="2294"/>
                    <a:pt x="119" y="2186"/>
                    <a:pt x="153" y="2061"/>
                  </a:cubicBezTo>
                  <a:lnTo>
                    <a:pt x="153" y="2038"/>
                  </a:lnTo>
                  <a:cubicBezTo>
                    <a:pt x="153" y="2001"/>
                    <a:pt x="134" y="1964"/>
                    <a:pt x="134" y="1923"/>
                  </a:cubicBezTo>
                  <a:cubicBezTo>
                    <a:pt x="93" y="1789"/>
                    <a:pt x="116" y="1636"/>
                    <a:pt x="208" y="1502"/>
                  </a:cubicBezTo>
                  <a:cubicBezTo>
                    <a:pt x="268" y="1442"/>
                    <a:pt x="402" y="1290"/>
                    <a:pt x="555" y="1137"/>
                  </a:cubicBezTo>
                  <a:cubicBezTo>
                    <a:pt x="596" y="1059"/>
                    <a:pt x="633" y="962"/>
                    <a:pt x="670" y="906"/>
                  </a:cubicBezTo>
                  <a:cubicBezTo>
                    <a:pt x="694" y="883"/>
                    <a:pt x="694" y="865"/>
                    <a:pt x="712" y="846"/>
                  </a:cubicBezTo>
                  <a:lnTo>
                    <a:pt x="712" y="846"/>
                  </a:lnTo>
                  <a:cubicBezTo>
                    <a:pt x="439" y="1096"/>
                    <a:pt x="231" y="1327"/>
                    <a:pt x="134" y="1442"/>
                  </a:cubicBezTo>
                  <a:cubicBezTo>
                    <a:pt x="19" y="1599"/>
                    <a:pt x="0" y="1789"/>
                    <a:pt x="19" y="1964"/>
                  </a:cubicBezTo>
                  <a:cubicBezTo>
                    <a:pt x="56" y="2117"/>
                    <a:pt x="153" y="2269"/>
                    <a:pt x="268" y="2329"/>
                  </a:cubicBezTo>
                  <a:cubicBezTo>
                    <a:pt x="324" y="2366"/>
                    <a:pt x="439" y="2385"/>
                    <a:pt x="596" y="2385"/>
                  </a:cubicBezTo>
                  <a:cubicBezTo>
                    <a:pt x="749" y="2408"/>
                    <a:pt x="925" y="2408"/>
                    <a:pt x="1114" y="2408"/>
                  </a:cubicBezTo>
                  <a:cubicBezTo>
                    <a:pt x="1479" y="2408"/>
                    <a:pt x="1886" y="2408"/>
                    <a:pt x="2038" y="2426"/>
                  </a:cubicBezTo>
                  <a:cubicBezTo>
                    <a:pt x="2195" y="2463"/>
                    <a:pt x="2288" y="2482"/>
                    <a:pt x="2329" y="2500"/>
                  </a:cubicBezTo>
                  <a:cubicBezTo>
                    <a:pt x="2366" y="2523"/>
                    <a:pt x="2366" y="2523"/>
                    <a:pt x="2403" y="2579"/>
                  </a:cubicBezTo>
                  <a:cubicBezTo>
                    <a:pt x="2426" y="2616"/>
                    <a:pt x="2519" y="2773"/>
                    <a:pt x="2579" y="2907"/>
                  </a:cubicBezTo>
                  <a:cubicBezTo>
                    <a:pt x="2657" y="3041"/>
                    <a:pt x="2713" y="3156"/>
                    <a:pt x="2713" y="3156"/>
                  </a:cubicBezTo>
                  <a:cubicBezTo>
                    <a:pt x="2713" y="3156"/>
                    <a:pt x="2713" y="3175"/>
                    <a:pt x="2731" y="3193"/>
                  </a:cubicBezTo>
                  <a:cubicBezTo>
                    <a:pt x="2750" y="3217"/>
                    <a:pt x="2791" y="3254"/>
                    <a:pt x="2828" y="3290"/>
                  </a:cubicBezTo>
                  <a:cubicBezTo>
                    <a:pt x="2869" y="3305"/>
                    <a:pt x="2920" y="3315"/>
                    <a:pt x="2984" y="3315"/>
                  </a:cubicBezTo>
                  <a:cubicBezTo>
                    <a:pt x="3102" y="3315"/>
                    <a:pt x="3267" y="3283"/>
                    <a:pt x="3503" y="3193"/>
                  </a:cubicBezTo>
                  <a:cubicBezTo>
                    <a:pt x="3868" y="3078"/>
                    <a:pt x="4214" y="2907"/>
                    <a:pt x="4482" y="2773"/>
                  </a:cubicBezTo>
                  <a:cubicBezTo>
                    <a:pt x="4755" y="2639"/>
                    <a:pt x="4968" y="2523"/>
                    <a:pt x="5083" y="2482"/>
                  </a:cubicBezTo>
                  <a:cubicBezTo>
                    <a:pt x="5351" y="2408"/>
                    <a:pt x="5522" y="2080"/>
                    <a:pt x="5522" y="2080"/>
                  </a:cubicBezTo>
                  <a:lnTo>
                    <a:pt x="5522" y="2061"/>
                  </a:lnTo>
                  <a:lnTo>
                    <a:pt x="5522" y="2038"/>
                  </a:lnTo>
                  <a:lnTo>
                    <a:pt x="5023" y="1308"/>
                  </a:lnTo>
                  <a:cubicBezTo>
                    <a:pt x="5023" y="1271"/>
                    <a:pt x="4907" y="615"/>
                    <a:pt x="4542" y="232"/>
                  </a:cubicBezTo>
                  <a:cubicBezTo>
                    <a:pt x="4367" y="38"/>
                    <a:pt x="4099" y="1"/>
                    <a:pt x="378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5023179" y="2011796"/>
              <a:ext cx="423739" cy="388610"/>
            </a:xfrm>
            <a:custGeom>
              <a:avLst/>
              <a:gdLst/>
              <a:ahLst/>
              <a:cxnLst/>
              <a:rect l="l" t="t" r="r" b="b"/>
              <a:pathLst>
                <a:path w="3100" h="2843" extrusionOk="0">
                  <a:moveTo>
                    <a:pt x="912" y="1"/>
                  </a:moveTo>
                  <a:cubicBezTo>
                    <a:pt x="613" y="1"/>
                    <a:pt x="1" y="662"/>
                    <a:pt x="600" y="1474"/>
                  </a:cubicBezTo>
                  <a:cubicBezTo>
                    <a:pt x="1251" y="2342"/>
                    <a:pt x="2217" y="2823"/>
                    <a:pt x="2369" y="2841"/>
                  </a:cubicBezTo>
                  <a:cubicBezTo>
                    <a:pt x="2376" y="2842"/>
                    <a:pt x="2383" y="2842"/>
                    <a:pt x="2391" y="2842"/>
                  </a:cubicBezTo>
                  <a:cubicBezTo>
                    <a:pt x="2551" y="2842"/>
                    <a:pt x="2856" y="2655"/>
                    <a:pt x="2984" y="2416"/>
                  </a:cubicBezTo>
                  <a:cubicBezTo>
                    <a:pt x="3100" y="2167"/>
                    <a:pt x="3081" y="1899"/>
                    <a:pt x="3081" y="1899"/>
                  </a:cubicBezTo>
                  <a:cubicBezTo>
                    <a:pt x="3081" y="1899"/>
                    <a:pt x="2406" y="1626"/>
                    <a:pt x="1944" y="1164"/>
                  </a:cubicBezTo>
                  <a:cubicBezTo>
                    <a:pt x="1482" y="702"/>
                    <a:pt x="1251" y="106"/>
                    <a:pt x="965" y="9"/>
                  </a:cubicBezTo>
                  <a:cubicBezTo>
                    <a:pt x="949" y="3"/>
                    <a:pt x="931" y="1"/>
                    <a:pt x="912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5055164" y="2002775"/>
              <a:ext cx="368380" cy="389293"/>
            </a:xfrm>
            <a:custGeom>
              <a:avLst/>
              <a:gdLst/>
              <a:ahLst/>
              <a:cxnLst/>
              <a:rect l="l" t="t" r="r" b="b"/>
              <a:pathLst>
                <a:path w="2695" h="2848" extrusionOk="0">
                  <a:moveTo>
                    <a:pt x="671" y="1"/>
                  </a:moveTo>
                  <a:cubicBezTo>
                    <a:pt x="615" y="1"/>
                    <a:pt x="518" y="38"/>
                    <a:pt x="440" y="98"/>
                  </a:cubicBezTo>
                  <a:cubicBezTo>
                    <a:pt x="347" y="172"/>
                    <a:pt x="232" y="269"/>
                    <a:pt x="153" y="421"/>
                  </a:cubicBezTo>
                  <a:cubicBezTo>
                    <a:pt x="19" y="712"/>
                    <a:pt x="1" y="1114"/>
                    <a:pt x="324" y="1558"/>
                  </a:cubicBezTo>
                  <a:cubicBezTo>
                    <a:pt x="652" y="2002"/>
                    <a:pt x="1059" y="2348"/>
                    <a:pt x="1405" y="2579"/>
                  </a:cubicBezTo>
                  <a:cubicBezTo>
                    <a:pt x="1576" y="2695"/>
                    <a:pt x="1710" y="2792"/>
                    <a:pt x="1849" y="2847"/>
                  </a:cubicBezTo>
                  <a:cubicBezTo>
                    <a:pt x="1849" y="2810"/>
                    <a:pt x="1867" y="2773"/>
                    <a:pt x="1886" y="2755"/>
                  </a:cubicBezTo>
                  <a:cubicBezTo>
                    <a:pt x="1770" y="2695"/>
                    <a:pt x="1618" y="2598"/>
                    <a:pt x="1461" y="2501"/>
                  </a:cubicBezTo>
                  <a:cubicBezTo>
                    <a:pt x="1133" y="2270"/>
                    <a:pt x="731" y="1923"/>
                    <a:pt x="403" y="1503"/>
                  </a:cubicBezTo>
                  <a:cubicBezTo>
                    <a:pt x="93" y="1096"/>
                    <a:pt x="135" y="731"/>
                    <a:pt x="250" y="463"/>
                  </a:cubicBezTo>
                  <a:cubicBezTo>
                    <a:pt x="324" y="347"/>
                    <a:pt x="403" y="232"/>
                    <a:pt x="500" y="172"/>
                  </a:cubicBezTo>
                  <a:cubicBezTo>
                    <a:pt x="573" y="130"/>
                    <a:pt x="632" y="110"/>
                    <a:pt x="675" y="110"/>
                  </a:cubicBezTo>
                  <a:cubicBezTo>
                    <a:pt x="690" y="110"/>
                    <a:pt x="702" y="112"/>
                    <a:pt x="712" y="116"/>
                  </a:cubicBezTo>
                  <a:cubicBezTo>
                    <a:pt x="828" y="153"/>
                    <a:pt x="962" y="329"/>
                    <a:pt x="1114" y="537"/>
                  </a:cubicBezTo>
                  <a:cubicBezTo>
                    <a:pt x="1271" y="768"/>
                    <a:pt x="1442" y="1041"/>
                    <a:pt x="1673" y="1272"/>
                  </a:cubicBezTo>
                  <a:cubicBezTo>
                    <a:pt x="2001" y="1600"/>
                    <a:pt x="2385" y="1808"/>
                    <a:pt x="2598" y="1905"/>
                  </a:cubicBezTo>
                  <a:cubicBezTo>
                    <a:pt x="2634" y="1886"/>
                    <a:pt x="2676" y="1868"/>
                    <a:pt x="2695" y="1849"/>
                  </a:cubicBezTo>
                  <a:cubicBezTo>
                    <a:pt x="2464" y="1734"/>
                    <a:pt x="2057" y="1521"/>
                    <a:pt x="1752" y="1193"/>
                  </a:cubicBezTo>
                  <a:cubicBezTo>
                    <a:pt x="1521" y="962"/>
                    <a:pt x="1345" y="712"/>
                    <a:pt x="1193" y="481"/>
                  </a:cubicBezTo>
                  <a:cubicBezTo>
                    <a:pt x="1059" y="269"/>
                    <a:pt x="925" y="75"/>
                    <a:pt x="749" y="19"/>
                  </a:cubicBezTo>
                  <a:cubicBezTo>
                    <a:pt x="731" y="19"/>
                    <a:pt x="712" y="1"/>
                    <a:pt x="67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5486696" y="1889185"/>
              <a:ext cx="392164" cy="451624"/>
            </a:xfrm>
            <a:custGeom>
              <a:avLst/>
              <a:gdLst/>
              <a:ahLst/>
              <a:cxnLst/>
              <a:rect l="l" t="t" r="r" b="b"/>
              <a:pathLst>
                <a:path w="2869" h="3304" extrusionOk="0">
                  <a:moveTo>
                    <a:pt x="391" y="1"/>
                  </a:moveTo>
                  <a:cubicBezTo>
                    <a:pt x="219" y="1"/>
                    <a:pt x="1" y="287"/>
                    <a:pt x="18" y="772"/>
                  </a:cubicBezTo>
                  <a:cubicBezTo>
                    <a:pt x="55" y="1312"/>
                    <a:pt x="425" y="1696"/>
                    <a:pt x="559" y="1811"/>
                  </a:cubicBezTo>
                  <a:cubicBezTo>
                    <a:pt x="711" y="1945"/>
                    <a:pt x="711" y="2024"/>
                    <a:pt x="693" y="2218"/>
                  </a:cubicBezTo>
                  <a:cubicBezTo>
                    <a:pt x="674" y="2408"/>
                    <a:pt x="480" y="2662"/>
                    <a:pt x="134" y="2699"/>
                  </a:cubicBezTo>
                  <a:cubicBezTo>
                    <a:pt x="134" y="2699"/>
                    <a:pt x="1748" y="3304"/>
                    <a:pt x="2321" y="3304"/>
                  </a:cubicBezTo>
                  <a:cubicBezTo>
                    <a:pt x="2361" y="3304"/>
                    <a:pt x="2396" y="3301"/>
                    <a:pt x="2425" y="3295"/>
                  </a:cubicBezTo>
                  <a:cubicBezTo>
                    <a:pt x="2869" y="3198"/>
                    <a:pt x="2735" y="3064"/>
                    <a:pt x="2578" y="2662"/>
                  </a:cubicBezTo>
                  <a:cubicBezTo>
                    <a:pt x="2407" y="2237"/>
                    <a:pt x="2097" y="1945"/>
                    <a:pt x="1811" y="1677"/>
                  </a:cubicBezTo>
                  <a:cubicBezTo>
                    <a:pt x="1501" y="1391"/>
                    <a:pt x="1349" y="1275"/>
                    <a:pt x="1058" y="887"/>
                  </a:cubicBezTo>
                  <a:cubicBezTo>
                    <a:pt x="771" y="485"/>
                    <a:pt x="596" y="60"/>
                    <a:pt x="425" y="5"/>
                  </a:cubicBezTo>
                  <a:cubicBezTo>
                    <a:pt x="414" y="2"/>
                    <a:pt x="402" y="1"/>
                    <a:pt x="391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5481502" y="1883034"/>
              <a:ext cx="386696" cy="433171"/>
            </a:xfrm>
            <a:custGeom>
              <a:avLst/>
              <a:gdLst/>
              <a:ahLst/>
              <a:cxnLst/>
              <a:rect l="l" t="t" r="r" b="b"/>
              <a:pathLst>
                <a:path w="2829" h="3169" extrusionOk="0">
                  <a:moveTo>
                    <a:pt x="441" y="0"/>
                  </a:moveTo>
                  <a:cubicBezTo>
                    <a:pt x="434" y="0"/>
                    <a:pt x="427" y="2"/>
                    <a:pt x="421" y="8"/>
                  </a:cubicBezTo>
                  <a:cubicBezTo>
                    <a:pt x="366" y="8"/>
                    <a:pt x="324" y="8"/>
                    <a:pt x="287" y="27"/>
                  </a:cubicBezTo>
                  <a:cubicBezTo>
                    <a:pt x="232" y="68"/>
                    <a:pt x="190" y="124"/>
                    <a:pt x="135" y="202"/>
                  </a:cubicBezTo>
                  <a:cubicBezTo>
                    <a:pt x="56" y="336"/>
                    <a:pt x="1" y="549"/>
                    <a:pt x="19" y="817"/>
                  </a:cubicBezTo>
                  <a:cubicBezTo>
                    <a:pt x="38" y="1376"/>
                    <a:pt x="421" y="1783"/>
                    <a:pt x="578" y="1898"/>
                  </a:cubicBezTo>
                  <a:cubicBezTo>
                    <a:pt x="634" y="1954"/>
                    <a:pt x="652" y="2014"/>
                    <a:pt x="671" y="2051"/>
                  </a:cubicBezTo>
                  <a:cubicBezTo>
                    <a:pt x="694" y="2106"/>
                    <a:pt x="694" y="2166"/>
                    <a:pt x="671" y="2263"/>
                  </a:cubicBezTo>
                  <a:cubicBezTo>
                    <a:pt x="652" y="2434"/>
                    <a:pt x="500" y="2665"/>
                    <a:pt x="153" y="2707"/>
                  </a:cubicBezTo>
                  <a:lnTo>
                    <a:pt x="153" y="2725"/>
                  </a:lnTo>
                  <a:cubicBezTo>
                    <a:pt x="190" y="2725"/>
                    <a:pt x="306" y="2744"/>
                    <a:pt x="306" y="2744"/>
                  </a:cubicBezTo>
                  <a:cubicBezTo>
                    <a:pt x="578" y="2647"/>
                    <a:pt x="749" y="2453"/>
                    <a:pt x="768" y="2282"/>
                  </a:cubicBezTo>
                  <a:cubicBezTo>
                    <a:pt x="786" y="2185"/>
                    <a:pt x="786" y="2106"/>
                    <a:pt x="768" y="2032"/>
                  </a:cubicBezTo>
                  <a:cubicBezTo>
                    <a:pt x="749" y="1954"/>
                    <a:pt x="712" y="1898"/>
                    <a:pt x="634" y="1820"/>
                  </a:cubicBezTo>
                  <a:cubicBezTo>
                    <a:pt x="500" y="1722"/>
                    <a:pt x="135" y="1320"/>
                    <a:pt x="116" y="817"/>
                  </a:cubicBezTo>
                  <a:cubicBezTo>
                    <a:pt x="116" y="567"/>
                    <a:pt x="153" y="373"/>
                    <a:pt x="232" y="258"/>
                  </a:cubicBezTo>
                  <a:cubicBezTo>
                    <a:pt x="269" y="184"/>
                    <a:pt x="306" y="142"/>
                    <a:pt x="347" y="124"/>
                  </a:cubicBezTo>
                  <a:cubicBezTo>
                    <a:pt x="384" y="105"/>
                    <a:pt x="421" y="105"/>
                    <a:pt x="440" y="105"/>
                  </a:cubicBezTo>
                  <a:cubicBezTo>
                    <a:pt x="500" y="124"/>
                    <a:pt x="597" y="221"/>
                    <a:pt x="694" y="396"/>
                  </a:cubicBezTo>
                  <a:cubicBezTo>
                    <a:pt x="786" y="549"/>
                    <a:pt x="902" y="761"/>
                    <a:pt x="1059" y="951"/>
                  </a:cubicBezTo>
                  <a:cubicBezTo>
                    <a:pt x="1345" y="1357"/>
                    <a:pt x="1521" y="1473"/>
                    <a:pt x="1807" y="1759"/>
                  </a:cubicBezTo>
                  <a:cubicBezTo>
                    <a:pt x="2098" y="2032"/>
                    <a:pt x="2403" y="2319"/>
                    <a:pt x="2560" y="2725"/>
                  </a:cubicBezTo>
                  <a:cubicBezTo>
                    <a:pt x="2579" y="2762"/>
                    <a:pt x="2597" y="2822"/>
                    <a:pt x="2616" y="2859"/>
                  </a:cubicBezTo>
                  <a:cubicBezTo>
                    <a:pt x="2694" y="2938"/>
                    <a:pt x="2773" y="3072"/>
                    <a:pt x="2810" y="3169"/>
                  </a:cubicBezTo>
                  <a:cubicBezTo>
                    <a:pt x="2828" y="3169"/>
                    <a:pt x="2828" y="3146"/>
                    <a:pt x="2828" y="3146"/>
                  </a:cubicBezTo>
                  <a:cubicBezTo>
                    <a:pt x="2828" y="3012"/>
                    <a:pt x="2731" y="2878"/>
                    <a:pt x="2657" y="2684"/>
                  </a:cubicBezTo>
                  <a:cubicBezTo>
                    <a:pt x="2482" y="2263"/>
                    <a:pt x="2172" y="1954"/>
                    <a:pt x="1867" y="1686"/>
                  </a:cubicBezTo>
                  <a:cubicBezTo>
                    <a:pt x="1576" y="1394"/>
                    <a:pt x="1424" y="1297"/>
                    <a:pt x="1156" y="895"/>
                  </a:cubicBezTo>
                  <a:cubicBezTo>
                    <a:pt x="999" y="701"/>
                    <a:pt x="883" y="489"/>
                    <a:pt x="786" y="336"/>
                  </a:cubicBezTo>
                  <a:cubicBezTo>
                    <a:pt x="671" y="165"/>
                    <a:pt x="597" y="50"/>
                    <a:pt x="481" y="8"/>
                  </a:cubicBezTo>
                  <a:cubicBezTo>
                    <a:pt x="469" y="8"/>
                    <a:pt x="454" y="0"/>
                    <a:pt x="441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4962625" y="2021775"/>
              <a:ext cx="440142" cy="433991"/>
            </a:xfrm>
            <a:custGeom>
              <a:avLst/>
              <a:gdLst/>
              <a:ahLst/>
              <a:cxnLst/>
              <a:rect l="l" t="t" r="r" b="b"/>
              <a:pathLst>
                <a:path w="3220" h="3175" extrusionOk="0">
                  <a:moveTo>
                    <a:pt x="780" y="0"/>
                  </a:moveTo>
                  <a:cubicBezTo>
                    <a:pt x="422" y="0"/>
                    <a:pt x="0" y="605"/>
                    <a:pt x="350" y="1170"/>
                  </a:cubicBezTo>
                  <a:cubicBezTo>
                    <a:pt x="733" y="1826"/>
                    <a:pt x="1579" y="2616"/>
                    <a:pt x="2022" y="2939"/>
                  </a:cubicBezTo>
                  <a:cubicBezTo>
                    <a:pt x="2235" y="3105"/>
                    <a:pt x="2429" y="3175"/>
                    <a:pt x="2595" y="3175"/>
                  </a:cubicBezTo>
                  <a:cubicBezTo>
                    <a:pt x="2776" y="3175"/>
                    <a:pt x="2924" y="3092"/>
                    <a:pt x="3025" y="2962"/>
                  </a:cubicBezTo>
                  <a:cubicBezTo>
                    <a:pt x="3219" y="2690"/>
                    <a:pt x="3196" y="2172"/>
                    <a:pt x="3196" y="2172"/>
                  </a:cubicBezTo>
                  <a:lnTo>
                    <a:pt x="3196" y="2112"/>
                  </a:lnTo>
                  <a:cubicBezTo>
                    <a:pt x="3196" y="2112"/>
                    <a:pt x="2563" y="1844"/>
                    <a:pt x="1967" y="1285"/>
                  </a:cubicBezTo>
                  <a:cubicBezTo>
                    <a:pt x="1371" y="707"/>
                    <a:pt x="1311" y="305"/>
                    <a:pt x="946" y="51"/>
                  </a:cubicBezTo>
                  <a:cubicBezTo>
                    <a:pt x="895" y="16"/>
                    <a:pt x="838" y="0"/>
                    <a:pt x="780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4976294" y="2016034"/>
              <a:ext cx="402415" cy="439185"/>
            </a:xfrm>
            <a:custGeom>
              <a:avLst/>
              <a:gdLst/>
              <a:ahLst/>
              <a:cxnLst/>
              <a:rect l="l" t="t" r="r" b="b"/>
              <a:pathLst>
                <a:path w="2944" h="3213" extrusionOk="0">
                  <a:moveTo>
                    <a:pt x="693" y="1"/>
                  </a:moveTo>
                  <a:cubicBezTo>
                    <a:pt x="633" y="1"/>
                    <a:pt x="578" y="19"/>
                    <a:pt x="518" y="38"/>
                  </a:cubicBezTo>
                  <a:cubicBezTo>
                    <a:pt x="402" y="75"/>
                    <a:pt x="305" y="172"/>
                    <a:pt x="231" y="287"/>
                  </a:cubicBezTo>
                  <a:cubicBezTo>
                    <a:pt x="56" y="518"/>
                    <a:pt x="0" y="883"/>
                    <a:pt x="190" y="1230"/>
                  </a:cubicBezTo>
                  <a:cubicBezTo>
                    <a:pt x="596" y="1905"/>
                    <a:pt x="1442" y="2695"/>
                    <a:pt x="1885" y="3023"/>
                  </a:cubicBezTo>
                  <a:cubicBezTo>
                    <a:pt x="2001" y="3120"/>
                    <a:pt x="2098" y="3175"/>
                    <a:pt x="2195" y="3212"/>
                  </a:cubicBezTo>
                  <a:cubicBezTo>
                    <a:pt x="2213" y="3175"/>
                    <a:pt x="2232" y="3138"/>
                    <a:pt x="2250" y="3120"/>
                  </a:cubicBezTo>
                  <a:cubicBezTo>
                    <a:pt x="2153" y="3078"/>
                    <a:pt x="2056" y="3023"/>
                    <a:pt x="1941" y="2944"/>
                  </a:cubicBezTo>
                  <a:cubicBezTo>
                    <a:pt x="1520" y="2616"/>
                    <a:pt x="670" y="1826"/>
                    <a:pt x="287" y="1175"/>
                  </a:cubicBezTo>
                  <a:cubicBezTo>
                    <a:pt x="93" y="865"/>
                    <a:pt x="171" y="555"/>
                    <a:pt x="305" y="347"/>
                  </a:cubicBezTo>
                  <a:cubicBezTo>
                    <a:pt x="384" y="232"/>
                    <a:pt x="481" y="153"/>
                    <a:pt x="555" y="135"/>
                  </a:cubicBezTo>
                  <a:cubicBezTo>
                    <a:pt x="599" y="116"/>
                    <a:pt x="643" y="106"/>
                    <a:pt x="685" y="106"/>
                  </a:cubicBezTo>
                  <a:cubicBezTo>
                    <a:pt x="736" y="106"/>
                    <a:pt x="784" y="121"/>
                    <a:pt x="827" y="153"/>
                  </a:cubicBezTo>
                  <a:cubicBezTo>
                    <a:pt x="980" y="269"/>
                    <a:pt x="1095" y="421"/>
                    <a:pt x="1229" y="615"/>
                  </a:cubicBezTo>
                  <a:cubicBezTo>
                    <a:pt x="1363" y="828"/>
                    <a:pt x="1539" y="1078"/>
                    <a:pt x="1825" y="1364"/>
                  </a:cubicBezTo>
                  <a:cubicBezTo>
                    <a:pt x="2232" y="1752"/>
                    <a:pt x="2657" y="1983"/>
                    <a:pt x="2865" y="2099"/>
                  </a:cubicBezTo>
                  <a:cubicBezTo>
                    <a:pt x="2907" y="2080"/>
                    <a:pt x="2925" y="2057"/>
                    <a:pt x="2943" y="2020"/>
                  </a:cubicBezTo>
                  <a:cubicBezTo>
                    <a:pt x="2712" y="1905"/>
                    <a:pt x="2310" y="1674"/>
                    <a:pt x="1904" y="1290"/>
                  </a:cubicBezTo>
                  <a:cubicBezTo>
                    <a:pt x="1617" y="999"/>
                    <a:pt x="1442" y="768"/>
                    <a:pt x="1308" y="555"/>
                  </a:cubicBezTo>
                  <a:cubicBezTo>
                    <a:pt x="1174" y="366"/>
                    <a:pt x="1077" y="190"/>
                    <a:pt x="883" y="56"/>
                  </a:cubicBezTo>
                  <a:cubicBezTo>
                    <a:pt x="827" y="19"/>
                    <a:pt x="749" y="1"/>
                    <a:pt x="69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5002129" y="2150811"/>
              <a:ext cx="358264" cy="402279"/>
            </a:xfrm>
            <a:custGeom>
              <a:avLst/>
              <a:gdLst/>
              <a:ahLst/>
              <a:cxnLst/>
              <a:rect l="l" t="t" r="r" b="b"/>
              <a:pathLst>
                <a:path w="2621" h="2943" extrusionOk="0">
                  <a:moveTo>
                    <a:pt x="341" y="1"/>
                  </a:moveTo>
                  <a:cubicBezTo>
                    <a:pt x="211" y="1"/>
                    <a:pt x="111" y="113"/>
                    <a:pt x="79" y="304"/>
                  </a:cubicBezTo>
                  <a:cubicBezTo>
                    <a:pt x="1" y="632"/>
                    <a:pt x="158" y="1418"/>
                    <a:pt x="754" y="2134"/>
                  </a:cubicBezTo>
                  <a:cubicBezTo>
                    <a:pt x="1368" y="2827"/>
                    <a:pt x="1983" y="2942"/>
                    <a:pt x="1983" y="2942"/>
                  </a:cubicBezTo>
                  <a:cubicBezTo>
                    <a:pt x="1983" y="2942"/>
                    <a:pt x="2445" y="2711"/>
                    <a:pt x="2505" y="2457"/>
                  </a:cubicBezTo>
                  <a:cubicBezTo>
                    <a:pt x="2584" y="2226"/>
                    <a:pt x="2620" y="2037"/>
                    <a:pt x="2505" y="1843"/>
                  </a:cubicBezTo>
                  <a:cubicBezTo>
                    <a:pt x="2371" y="1630"/>
                    <a:pt x="2195" y="1672"/>
                    <a:pt x="1599" y="1210"/>
                  </a:cubicBezTo>
                  <a:cubicBezTo>
                    <a:pt x="1003" y="748"/>
                    <a:pt x="943" y="494"/>
                    <a:pt x="657" y="189"/>
                  </a:cubicBezTo>
                  <a:cubicBezTo>
                    <a:pt x="545" y="59"/>
                    <a:pt x="435" y="1"/>
                    <a:pt x="341" y="1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4999668" y="2144933"/>
              <a:ext cx="318351" cy="415674"/>
            </a:xfrm>
            <a:custGeom>
              <a:avLst/>
              <a:gdLst/>
              <a:ahLst/>
              <a:cxnLst/>
              <a:rect l="l" t="t" r="r" b="b"/>
              <a:pathLst>
                <a:path w="2329" h="3041" extrusionOk="0">
                  <a:moveTo>
                    <a:pt x="291" y="1"/>
                  </a:moveTo>
                  <a:cubicBezTo>
                    <a:pt x="153" y="38"/>
                    <a:pt x="79" y="172"/>
                    <a:pt x="37" y="347"/>
                  </a:cubicBezTo>
                  <a:cubicBezTo>
                    <a:pt x="0" y="518"/>
                    <a:pt x="19" y="809"/>
                    <a:pt x="134" y="1137"/>
                  </a:cubicBezTo>
                  <a:cubicBezTo>
                    <a:pt x="231" y="1461"/>
                    <a:pt x="425" y="1849"/>
                    <a:pt x="730" y="2195"/>
                  </a:cubicBezTo>
                  <a:cubicBezTo>
                    <a:pt x="1349" y="2907"/>
                    <a:pt x="1982" y="3041"/>
                    <a:pt x="1982" y="3041"/>
                  </a:cubicBezTo>
                  <a:lnTo>
                    <a:pt x="2024" y="3041"/>
                  </a:lnTo>
                  <a:cubicBezTo>
                    <a:pt x="2024" y="3041"/>
                    <a:pt x="2061" y="3004"/>
                    <a:pt x="2116" y="2985"/>
                  </a:cubicBezTo>
                  <a:cubicBezTo>
                    <a:pt x="2042" y="2962"/>
                    <a:pt x="1964" y="2944"/>
                    <a:pt x="1908" y="2907"/>
                  </a:cubicBezTo>
                  <a:cubicBezTo>
                    <a:pt x="1733" y="2847"/>
                    <a:pt x="1271" y="2676"/>
                    <a:pt x="809" y="2135"/>
                  </a:cubicBezTo>
                  <a:cubicBezTo>
                    <a:pt x="522" y="1789"/>
                    <a:pt x="328" y="1424"/>
                    <a:pt x="231" y="1096"/>
                  </a:cubicBezTo>
                  <a:cubicBezTo>
                    <a:pt x="134" y="791"/>
                    <a:pt x="116" y="518"/>
                    <a:pt x="134" y="366"/>
                  </a:cubicBezTo>
                  <a:cubicBezTo>
                    <a:pt x="176" y="213"/>
                    <a:pt x="231" y="116"/>
                    <a:pt x="328" y="98"/>
                  </a:cubicBezTo>
                  <a:cubicBezTo>
                    <a:pt x="341" y="94"/>
                    <a:pt x="355" y="92"/>
                    <a:pt x="369" y="92"/>
                  </a:cubicBezTo>
                  <a:cubicBezTo>
                    <a:pt x="439" y="92"/>
                    <a:pt x="523" y="142"/>
                    <a:pt x="638" y="269"/>
                  </a:cubicBezTo>
                  <a:cubicBezTo>
                    <a:pt x="906" y="560"/>
                    <a:pt x="984" y="828"/>
                    <a:pt x="1599" y="1290"/>
                  </a:cubicBezTo>
                  <a:cubicBezTo>
                    <a:pt x="1885" y="1521"/>
                    <a:pt x="2079" y="1636"/>
                    <a:pt x="2213" y="1692"/>
                  </a:cubicBezTo>
                  <a:cubicBezTo>
                    <a:pt x="2232" y="1715"/>
                    <a:pt x="2255" y="1733"/>
                    <a:pt x="2273" y="1733"/>
                  </a:cubicBezTo>
                  <a:cubicBezTo>
                    <a:pt x="2292" y="1715"/>
                    <a:pt x="2310" y="1673"/>
                    <a:pt x="2329" y="1636"/>
                  </a:cubicBezTo>
                  <a:cubicBezTo>
                    <a:pt x="2310" y="1636"/>
                    <a:pt x="2292" y="1618"/>
                    <a:pt x="2273" y="1618"/>
                  </a:cubicBezTo>
                  <a:cubicBezTo>
                    <a:pt x="2139" y="1539"/>
                    <a:pt x="1945" y="1424"/>
                    <a:pt x="1654" y="1211"/>
                  </a:cubicBezTo>
                  <a:cubicBezTo>
                    <a:pt x="1058" y="749"/>
                    <a:pt x="1003" y="500"/>
                    <a:pt x="712" y="190"/>
                  </a:cubicBezTo>
                  <a:cubicBezTo>
                    <a:pt x="596" y="56"/>
                    <a:pt x="481" y="1"/>
                    <a:pt x="365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6790722" y="1138889"/>
              <a:ext cx="282538" cy="281855"/>
            </a:xfrm>
            <a:custGeom>
              <a:avLst/>
              <a:gdLst/>
              <a:ahLst/>
              <a:cxnLst/>
              <a:rect l="l" t="t" r="r" b="b"/>
              <a:pathLst>
                <a:path w="2067" h="2062" extrusionOk="0">
                  <a:moveTo>
                    <a:pt x="1103" y="1"/>
                  </a:moveTo>
                  <a:cubicBezTo>
                    <a:pt x="802" y="1"/>
                    <a:pt x="528" y="65"/>
                    <a:pt x="528" y="65"/>
                  </a:cubicBezTo>
                  <a:cubicBezTo>
                    <a:pt x="528" y="65"/>
                    <a:pt x="144" y="139"/>
                    <a:pt x="66" y="448"/>
                  </a:cubicBezTo>
                  <a:cubicBezTo>
                    <a:pt x="1" y="705"/>
                    <a:pt x="257" y="2062"/>
                    <a:pt x="444" y="2062"/>
                  </a:cubicBezTo>
                  <a:cubicBezTo>
                    <a:pt x="482" y="2062"/>
                    <a:pt x="517" y="2005"/>
                    <a:pt x="546" y="1871"/>
                  </a:cubicBezTo>
                  <a:cubicBezTo>
                    <a:pt x="722" y="1081"/>
                    <a:pt x="1683" y="1104"/>
                    <a:pt x="1798" y="892"/>
                  </a:cubicBezTo>
                  <a:cubicBezTo>
                    <a:pt x="1932" y="661"/>
                    <a:pt x="2066" y="351"/>
                    <a:pt x="1664" y="120"/>
                  </a:cubicBezTo>
                  <a:cubicBezTo>
                    <a:pt x="1512" y="28"/>
                    <a:pt x="1302" y="1"/>
                    <a:pt x="1103" y="1"/>
                  </a:cubicBezTo>
                  <a:close/>
                </a:path>
              </a:pathLst>
            </a:custGeom>
            <a:solidFill>
              <a:srgbClr val="AA2C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6792089" y="1130825"/>
              <a:ext cx="268596" cy="296481"/>
            </a:xfrm>
            <a:custGeom>
              <a:avLst/>
              <a:gdLst/>
              <a:ahLst/>
              <a:cxnLst/>
              <a:rect l="l" t="t" r="r" b="b"/>
              <a:pathLst>
                <a:path w="1965" h="2169" extrusionOk="0">
                  <a:moveTo>
                    <a:pt x="943" y="101"/>
                  </a:moveTo>
                  <a:cubicBezTo>
                    <a:pt x="1174" y="101"/>
                    <a:pt x="1460" y="124"/>
                    <a:pt x="1636" y="216"/>
                  </a:cubicBezTo>
                  <a:cubicBezTo>
                    <a:pt x="1825" y="332"/>
                    <a:pt x="1867" y="447"/>
                    <a:pt x="1867" y="563"/>
                  </a:cubicBezTo>
                  <a:cubicBezTo>
                    <a:pt x="1867" y="678"/>
                    <a:pt x="1807" y="794"/>
                    <a:pt x="1752" y="909"/>
                  </a:cubicBezTo>
                  <a:cubicBezTo>
                    <a:pt x="1733" y="951"/>
                    <a:pt x="1654" y="988"/>
                    <a:pt x="1557" y="1025"/>
                  </a:cubicBezTo>
                  <a:cubicBezTo>
                    <a:pt x="1442" y="1085"/>
                    <a:pt x="1308" y="1122"/>
                    <a:pt x="1174" y="1182"/>
                  </a:cubicBezTo>
                  <a:cubicBezTo>
                    <a:pt x="883" y="1297"/>
                    <a:pt x="578" y="1510"/>
                    <a:pt x="499" y="1912"/>
                  </a:cubicBezTo>
                  <a:cubicBezTo>
                    <a:pt x="481" y="2009"/>
                    <a:pt x="439" y="2064"/>
                    <a:pt x="439" y="2064"/>
                  </a:cubicBezTo>
                  <a:lnTo>
                    <a:pt x="421" y="2046"/>
                  </a:lnTo>
                  <a:cubicBezTo>
                    <a:pt x="384" y="1990"/>
                    <a:pt x="305" y="1815"/>
                    <a:pt x="250" y="1625"/>
                  </a:cubicBezTo>
                  <a:cubicBezTo>
                    <a:pt x="208" y="1413"/>
                    <a:pt x="153" y="1182"/>
                    <a:pt x="134" y="969"/>
                  </a:cubicBezTo>
                  <a:cubicBezTo>
                    <a:pt x="116" y="854"/>
                    <a:pt x="93" y="757"/>
                    <a:pt x="93" y="678"/>
                  </a:cubicBezTo>
                  <a:cubicBezTo>
                    <a:pt x="93" y="604"/>
                    <a:pt x="93" y="544"/>
                    <a:pt x="116" y="526"/>
                  </a:cubicBezTo>
                  <a:cubicBezTo>
                    <a:pt x="171" y="258"/>
                    <a:pt x="536" y="161"/>
                    <a:pt x="536" y="161"/>
                  </a:cubicBezTo>
                  <a:cubicBezTo>
                    <a:pt x="536" y="161"/>
                    <a:pt x="712" y="124"/>
                    <a:pt x="943" y="101"/>
                  </a:cubicBezTo>
                  <a:close/>
                  <a:moveTo>
                    <a:pt x="1102" y="0"/>
                  </a:moveTo>
                  <a:cubicBezTo>
                    <a:pt x="1047" y="0"/>
                    <a:pt x="993" y="3"/>
                    <a:pt x="943" y="8"/>
                  </a:cubicBezTo>
                  <a:cubicBezTo>
                    <a:pt x="693" y="27"/>
                    <a:pt x="499" y="64"/>
                    <a:pt x="499" y="64"/>
                  </a:cubicBezTo>
                  <a:cubicBezTo>
                    <a:pt x="499" y="64"/>
                    <a:pt x="93" y="161"/>
                    <a:pt x="0" y="489"/>
                  </a:cubicBezTo>
                  <a:lnTo>
                    <a:pt x="0" y="701"/>
                  </a:lnTo>
                  <a:cubicBezTo>
                    <a:pt x="0" y="775"/>
                    <a:pt x="19" y="872"/>
                    <a:pt x="19" y="969"/>
                  </a:cubicBezTo>
                  <a:cubicBezTo>
                    <a:pt x="56" y="1182"/>
                    <a:pt x="93" y="1431"/>
                    <a:pt x="153" y="1644"/>
                  </a:cubicBezTo>
                  <a:cubicBezTo>
                    <a:pt x="208" y="1856"/>
                    <a:pt x="268" y="2027"/>
                    <a:pt x="347" y="2124"/>
                  </a:cubicBezTo>
                  <a:cubicBezTo>
                    <a:pt x="365" y="2143"/>
                    <a:pt x="384" y="2161"/>
                    <a:pt x="421" y="2161"/>
                  </a:cubicBezTo>
                  <a:cubicBezTo>
                    <a:pt x="426" y="2167"/>
                    <a:pt x="434" y="2169"/>
                    <a:pt x="442" y="2169"/>
                  </a:cubicBezTo>
                  <a:cubicBezTo>
                    <a:pt x="462" y="2169"/>
                    <a:pt x="486" y="2156"/>
                    <a:pt x="499" y="2143"/>
                  </a:cubicBezTo>
                  <a:cubicBezTo>
                    <a:pt x="555" y="2106"/>
                    <a:pt x="578" y="2046"/>
                    <a:pt x="596" y="1949"/>
                  </a:cubicBezTo>
                  <a:cubicBezTo>
                    <a:pt x="670" y="1565"/>
                    <a:pt x="943" y="1394"/>
                    <a:pt x="1211" y="1279"/>
                  </a:cubicBezTo>
                  <a:cubicBezTo>
                    <a:pt x="1345" y="1219"/>
                    <a:pt x="1479" y="1182"/>
                    <a:pt x="1594" y="1122"/>
                  </a:cubicBezTo>
                  <a:cubicBezTo>
                    <a:pt x="1710" y="1085"/>
                    <a:pt x="1807" y="1048"/>
                    <a:pt x="1849" y="969"/>
                  </a:cubicBezTo>
                  <a:cubicBezTo>
                    <a:pt x="1904" y="854"/>
                    <a:pt x="1964" y="720"/>
                    <a:pt x="1964" y="563"/>
                  </a:cubicBezTo>
                  <a:cubicBezTo>
                    <a:pt x="1964" y="410"/>
                    <a:pt x="1886" y="258"/>
                    <a:pt x="1691" y="142"/>
                  </a:cubicBezTo>
                  <a:cubicBezTo>
                    <a:pt x="1525" y="37"/>
                    <a:pt x="1302" y="0"/>
                    <a:pt x="110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5915357" y="865098"/>
              <a:ext cx="439732" cy="569451"/>
            </a:xfrm>
            <a:custGeom>
              <a:avLst/>
              <a:gdLst/>
              <a:ahLst/>
              <a:cxnLst/>
              <a:rect l="l" t="t" r="r" b="b"/>
              <a:pathLst>
                <a:path w="3217" h="4166" extrusionOk="0">
                  <a:moveTo>
                    <a:pt x="2719" y="0"/>
                  </a:moveTo>
                  <a:cubicBezTo>
                    <a:pt x="2078" y="0"/>
                    <a:pt x="819" y="24"/>
                    <a:pt x="731" y="81"/>
                  </a:cubicBezTo>
                  <a:cubicBezTo>
                    <a:pt x="616" y="159"/>
                    <a:pt x="1" y="950"/>
                    <a:pt x="250" y="2202"/>
                  </a:cubicBezTo>
                  <a:cubicBezTo>
                    <a:pt x="482" y="3472"/>
                    <a:pt x="907" y="4165"/>
                    <a:pt x="907" y="4165"/>
                  </a:cubicBezTo>
                  <a:lnTo>
                    <a:pt x="1849" y="4050"/>
                  </a:lnTo>
                  <a:cubicBezTo>
                    <a:pt x="1849" y="4050"/>
                    <a:pt x="1655" y="2950"/>
                    <a:pt x="2002" y="1837"/>
                  </a:cubicBezTo>
                  <a:cubicBezTo>
                    <a:pt x="2371" y="737"/>
                    <a:pt x="2926" y="196"/>
                    <a:pt x="3004" y="159"/>
                  </a:cubicBezTo>
                  <a:cubicBezTo>
                    <a:pt x="3044" y="141"/>
                    <a:pt x="3092" y="136"/>
                    <a:pt x="3131" y="136"/>
                  </a:cubicBezTo>
                  <a:cubicBezTo>
                    <a:pt x="3170" y="136"/>
                    <a:pt x="3198" y="141"/>
                    <a:pt x="3198" y="141"/>
                  </a:cubicBezTo>
                  <a:cubicBezTo>
                    <a:pt x="3198" y="141"/>
                    <a:pt x="3217" y="44"/>
                    <a:pt x="3083" y="7"/>
                  </a:cubicBezTo>
                  <a:cubicBezTo>
                    <a:pt x="3056" y="3"/>
                    <a:pt x="2917" y="0"/>
                    <a:pt x="27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5926156" y="857717"/>
              <a:ext cx="433991" cy="584350"/>
            </a:xfrm>
            <a:custGeom>
              <a:avLst/>
              <a:gdLst/>
              <a:ahLst/>
              <a:cxnLst/>
              <a:rect l="l" t="t" r="r" b="b"/>
              <a:pathLst>
                <a:path w="3175" h="4275" extrusionOk="0">
                  <a:moveTo>
                    <a:pt x="2597" y="98"/>
                  </a:moveTo>
                  <a:cubicBezTo>
                    <a:pt x="2713" y="116"/>
                    <a:pt x="2810" y="116"/>
                    <a:pt x="2870" y="116"/>
                  </a:cubicBezTo>
                  <a:lnTo>
                    <a:pt x="3004" y="116"/>
                  </a:lnTo>
                  <a:cubicBezTo>
                    <a:pt x="3041" y="135"/>
                    <a:pt x="3041" y="135"/>
                    <a:pt x="3041" y="158"/>
                  </a:cubicBezTo>
                  <a:cubicBezTo>
                    <a:pt x="3016" y="158"/>
                    <a:pt x="2990" y="148"/>
                    <a:pt x="2958" y="148"/>
                  </a:cubicBezTo>
                  <a:cubicBezTo>
                    <a:pt x="2942" y="148"/>
                    <a:pt x="2925" y="150"/>
                    <a:pt x="2907" y="158"/>
                  </a:cubicBezTo>
                  <a:cubicBezTo>
                    <a:pt x="2888" y="176"/>
                    <a:pt x="2870" y="195"/>
                    <a:pt x="2847" y="213"/>
                  </a:cubicBezTo>
                  <a:cubicBezTo>
                    <a:pt x="2810" y="232"/>
                    <a:pt x="2791" y="250"/>
                    <a:pt x="2754" y="292"/>
                  </a:cubicBezTo>
                  <a:cubicBezTo>
                    <a:pt x="2676" y="366"/>
                    <a:pt x="2579" y="481"/>
                    <a:pt x="2482" y="620"/>
                  </a:cubicBezTo>
                  <a:cubicBezTo>
                    <a:pt x="2292" y="906"/>
                    <a:pt x="2061" y="1313"/>
                    <a:pt x="1886" y="1868"/>
                  </a:cubicBezTo>
                  <a:cubicBezTo>
                    <a:pt x="1539" y="2949"/>
                    <a:pt x="1715" y="3970"/>
                    <a:pt x="1715" y="4044"/>
                  </a:cubicBezTo>
                  <a:lnTo>
                    <a:pt x="865" y="4159"/>
                  </a:lnTo>
                  <a:cubicBezTo>
                    <a:pt x="828" y="4122"/>
                    <a:pt x="444" y="3466"/>
                    <a:pt x="213" y="2256"/>
                  </a:cubicBezTo>
                  <a:cubicBezTo>
                    <a:pt x="98" y="1637"/>
                    <a:pt x="190" y="1137"/>
                    <a:pt x="329" y="772"/>
                  </a:cubicBezTo>
                  <a:cubicBezTo>
                    <a:pt x="384" y="597"/>
                    <a:pt x="463" y="463"/>
                    <a:pt x="537" y="347"/>
                  </a:cubicBezTo>
                  <a:cubicBezTo>
                    <a:pt x="597" y="250"/>
                    <a:pt x="675" y="195"/>
                    <a:pt x="675" y="176"/>
                  </a:cubicBezTo>
                  <a:cubicBezTo>
                    <a:pt x="675" y="183"/>
                    <a:pt x="677" y="185"/>
                    <a:pt x="681" y="185"/>
                  </a:cubicBezTo>
                  <a:cubicBezTo>
                    <a:pt x="687" y="185"/>
                    <a:pt x="700" y="176"/>
                    <a:pt x="712" y="176"/>
                  </a:cubicBezTo>
                  <a:cubicBezTo>
                    <a:pt x="731" y="176"/>
                    <a:pt x="749" y="176"/>
                    <a:pt x="791" y="158"/>
                  </a:cubicBezTo>
                  <a:cubicBezTo>
                    <a:pt x="846" y="158"/>
                    <a:pt x="943" y="158"/>
                    <a:pt x="1059" y="135"/>
                  </a:cubicBezTo>
                  <a:cubicBezTo>
                    <a:pt x="1271" y="135"/>
                    <a:pt x="1558" y="116"/>
                    <a:pt x="1830" y="116"/>
                  </a:cubicBezTo>
                  <a:cubicBezTo>
                    <a:pt x="2117" y="116"/>
                    <a:pt x="2385" y="98"/>
                    <a:pt x="2597" y="98"/>
                  </a:cubicBezTo>
                  <a:close/>
                  <a:moveTo>
                    <a:pt x="1830" y="1"/>
                  </a:moveTo>
                  <a:cubicBezTo>
                    <a:pt x="1539" y="19"/>
                    <a:pt x="1271" y="19"/>
                    <a:pt x="1059" y="42"/>
                  </a:cubicBezTo>
                  <a:cubicBezTo>
                    <a:pt x="943" y="42"/>
                    <a:pt x="846" y="61"/>
                    <a:pt x="768" y="61"/>
                  </a:cubicBezTo>
                  <a:cubicBezTo>
                    <a:pt x="731" y="61"/>
                    <a:pt x="712" y="61"/>
                    <a:pt x="694" y="79"/>
                  </a:cubicBezTo>
                  <a:cubicBezTo>
                    <a:pt x="652" y="79"/>
                    <a:pt x="634" y="79"/>
                    <a:pt x="615" y="98"/>
                  </a:cubicBezTo>
                  <a:cubicBezTo>
                    <a:pt x="578" y="116"/>
                    <a:pt x="518" y="195"/>
                    <a:pt x="444" y="292"/>
                  </a:cubicBezTo>
                  <a:cubicBezTo>
                    <a:pt x="366" y="407"/>
                    <a:pt x="287" y="560"/>
                    <a:pt x="232" y="736"/>
                  </a:cubicBezTo>
                  <a:cubicBezTo>
                    <a:pt x="74" y="1101"/>
                    <a:pt x="1" y="1637"/>
                    <a:pt x="116" y="2274"/>
                  </a:cubicBezTo>
                  <a:cubicBezTo>
                    <a:pt x="366" y="3545"/>
                    <a:pt x="791" y="4256"/>
                    <a:pt x="791" y="4256"/>
                  </a:cubicBezTo>
                  <a:lnTo>
                    <a:pt x="809" y="4275"/>
                  </a:lnTo>
                  <a:lnTo>
                    <a:pt x="1830" y="4141"/>
                  </a:lnTo>
                  <a:lnTo>
                    <a:pt x="1830" y="4085"/>
                  </a:lnTo>
                  <a:cubicBezTo>
                    <a:pt x="1830" y="4085"/>
                    <a:pt x="1636" y="3004"/>
                    <a:pt x="1983" y="1909"/>
                  </a:cubicBezTo>
                  <a:cubicBezTo>
                    <a:pt x="2154" y="1350"/>
                    <a:pt x="2385" y="943"/>
                    <a:pt x="2579" y="675"/>
                  </a:cubicBezTo>
                  <a:cubicBezTo>
                    <a:pt x="2676" y="541"/>
                    <a:pt x="2754" y="444"/>
                    <a:pt x="2828" y="366"/>
                  </a:cubicBezTo>
                  <a:lnTo>
                    <a:pt x="2907" y="292"/>
                  </a:lnTo>
                  <a:lnTo>
                    <a:pt x="2944" y="250"/>
                  </a:lnTo>
                  <a:cubicBezTo>
                    <a:pt x="2970" y="244"/>
                    <a:pt x="2996" y="242"/>
                    <a:pt x="3019" y="242"/>
                  </a:cubicBezTo>
                  <a:cubicBezTo>
                    <a:pt x="3066" y="242"/>
                    <a:pt x="3101" y="250"/>
                    <a:pt x="3101" y="250"/>
                  </a:cubicBezTo>
                  <a:lnTo>
                    <a:pt x="3156" y="250"/>
                  </a:lnTo>
                  <a:lnTo>
                    <a:pt x="3156" y="213"/>
                  </a:lnTo>
                  <a:cubicBezTo>
                    <a:pt x="3156" y="213"/>
                    <a:pt x="3175" y="176"/>
                    <a:pt x="3156" y="116"/>
                  </a:cubicBezTo>
                  <a:cubicBezTo>
                    <a:pt x="3138" y="79"/>
                    <a:pt x="3101" y="42"/>
                    <a:pt x="3022" y="19"/>
                  </a:cubicBezTo>
                  <a:lnTo>
                    <a:pt x="2962" y="19"/>
                  </a:lnTo>
                  <a:cubicBezTo>
                    <a:pt x="2944" y="1"/>
                    <a:pt x="2907" y="1"/>
                    <a:pt x="288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5944472" y="1118659"/>
              <a:ext cx="976513" cy="732658"/>
            </a:xfrm>
            <a:custGeom>
              <a:avLst/>
              <a:gdLst/>
              <a:ahLst/>
              <a:cxnLst/>
              <a:rect l="l" t="t" r="r" b="b"/>
              <a:pathLst>
                <a:path w="7144" h="5360" extrusionOk="0">
                  <a:moveTo>
                    <a:pt x="2657" y="0"/>
                  </a:moveTo>
                  <a:cubicBezTo>
                    <a:pt x="2657" y="0"/>
                    <a:pt x="2870" y="1174"/>
                    <a:pt x="2542" y="1654"/>
                  </a:cubicBezTo>
                  <a:cubicBezTo>
                    <a:pt x="2195" y="2135"/>
                    <a:pt x="1521" y="2153"/>
                    <a:pt x="1521" y="2153"/>
                  </a:cubicBezTo>
                  <a:cubicBezTo>
                    <a:pt x="1521" y="2153"/>
                    <a:pt x="1318" y="1886"/>
                    <a:pt x="975" y="1886"/>
                  </a:cubicBezTo>
                  <a:cubicBezTo>
                    <a:pt x="858" y="1886"/>
                    <a:pt x="725" y="1917"/>
                    <a:pt x="578" y="2001"/>
                  </a:cubicBezTo>
                  <a:cubicBezTo>
                    <a:pt x="1" y="2329"/>
                    <a:pt x="135" y="3156"/>
                    <a:pt x="541" y="3387"/>
                  </a:cubicBezTo>
                  <a:cubicBezTo>
                    <a:pt x="661" y="3447"/>
                    <a:pt x="777" y="3469"/>
                    <a:pt x="883" y="3469"/>
                  </a:cubicBezTo>
                  <a:cubicBezTo>
                    <a:pt x="1151" y="3469"/>
                    <a:pt x="1350" y="3332"/>
                    <a:pt x="1350" y="3332"/>
                  </a:cubicBezTo>
                  <a:lnTo>
                    <a:pt x="1350" y="3332"/>
                  </a:lnTo>
                  <a:cubicBezTo>
                    <a:pt x="1350" y="3332"/>
                    <a:pt x="1211" y="3812"/>
                    <a:pt x="1812" y="4427"/>
                  </a:cubicBezTo>
                  <a:cubicBezTo>
                    <a:pt x="2272" y="4886"/>
                    <a:pt x="3065" y="5359"/>
                    <a:pt x="4122" y="5359"/>
                  </a:cubicBezTo>
                  <a:cubicBezTo>
                    <a:pt x="4478" y="5359"/>
                    <a:pt x="4864" y="5305"/>
                    <a:pt x="5277" y="5180"/>
                  </a:cubicBezTo>
                  <a:cubicBezTo>
                    <a:pt x="6931" y="4676"/>
                    <a:pt x="7144" y="3174"/>
                    <a:pt x="6950" y="2213"/>
                  </a:cubicBezTo>
                  <a:cubicBezTo>
                    <a:pt x="6779" y="1252"/>
                    <a:pt x="6719" y="213"/>
                    <a:pt x="6719" y="213"/>
                  </a:cubicBezTo>
                  <a:cubicBezTo>
                    <a:pt x="6719" y="213"/>
                    <a:pt x="6336" y="157"/>
                    <a:pt x="5789" y="157"/>
                  </a:cubicBezTo>
                  <a:cubicBezTo>
                    <a:pt x="5420" y="157"/>
                    <a:pt x="4975" y="182"/>
                    <a:pt x="4524" y="268"/>
                  </a:cubicBezTo>
                  <a:cubicBezTo>
                    <a:pt x="4330" y="302"/>
                    <a:pt x="4147" y="316"/>
                    <a:pt x="3977" y="316"/>
                  </a:cubicBezTo>
                  <a:cubicBezTo>
                    <a:pt x="3169" y="316"/>
                    <a:pt x="2657" y="0"/>
                    <a:pt x="2657" y="0"/>
                  </a:cubicBezTo>
                  <a:close/>
                </a:path>
              </a:pathLst>
            </a:custGeom>
            <a:solidFill>
              <a:srgbClr val="FFEB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5960328" y="1105400"/>
              <a:ext cx="955053" cy="753435"/>
            </a:xfrm>
            <a:custGeom>
              <a:avLst/>
              <a:gdLst/>
              <a:ahLst/>
              <a:cxnLst/>
              <a:rect l="l" t="t" r="r" b="b"/>
              <a:pathLst>
                <a:path w="6987" h="5512" extrusionOk="0">
                  <a:moveTo>
                    <a:pt x="2597" y="171"/>
                  </a:moveTo>
                  <a:lnTo>
                    <a:pt x="2597" y="171"/>
                  </a:lnTo>
                  <a:cubicBezTo>
                    <a:pt x="2688" y="219"/>
                    <a:pt x="3121" y="458"/>
                    <a:pt x="3814" y="458"/>
                  </a:cubicBezTo>
                  <a:cubicBezTo>
                    <a:pt x="3995" y="458"/>
                    <a:pt x="4193" y="442"/>
                    <a:pt x="4408" y="402"/>
                  </a:cubicBezTo>
                  <a:cubicBezTo>
                    <a:pt x="4854" y="324"/>
                    <a:pt x="5287" y="301"/>
                    <a:pt x="5647" y="301"/>
                  </a:cubicBezTo>
                  <a:cubicBezTo>
                    <a:pt x="6157" y="301"/>
                    <a:pt x="6520" y="347"/>
                    <a:pt x="6566" y="347"/>
                  </a:cubicBezTo>
                  <a:cubicBezTo>
                    <a:pt x="6566" y="402"/>
                    <a:pt x="6603" y="1386"/>
                    <a:pt x="6797" y="2310"/>
                  </a:cubicBezTo>
                  <a:cubicBezTo>
                    <a:pt x="6871" y="2791"/>
                    <a:pt x="6871" y="3387"/>
                    <a:pt x="6640" y="3946"/>
                  </a:cubicBezTo>
                  <a:cubicBezTo>
                    <a:pt x="6409" y="4487"/>
                    <a:pt x="5970" y="4967"/>
                    <a:pt x="5161" y="5217"/>
                  </a:cubicBezTo>
                  <a:cubicBezTo>
                    <a:pt x="4736" y="5352"/>
                    <a:pt x="4340" y="5410"/>
                    <a:pt x="3978" y="5410"/>
                  </a:cubicBezTo>
                  <a:cubicBezTo>
                    <a:pt x="2943" y="5410"/>
                    <a:pt x="2174" y="4942"/>
                    <a:pt x="1733" y="4487"/>
                  </a:cubicBezTo>
                  <a:cubicBezTo>
                    <a:pt x="1442" y="4196"/>
                    <a:pt x="1326" y="3928"/>
                    <a:pt x="1289" y="3734"/>
                  </a:cubicBezTo>
                  <a:cubicBezTo>
                    <a:pt x="1252" y="3544"/>
                    <a:pt x="1289" y="3429"/>
                    <a:pt x="1289" y="3429"/>
                  </a:cubicBezTo>
                  <a:lnTo>
                    <a:pt x="1326" y="3290"/>
                  </a:lnTo>
                  <a:lnTo>
                    <a:pt x="1211" y="3368"/>
                  </a:lnTo>
                  <a:cubicBezTo>
                    <a:pt x="1211" y="3368"/>
                    <a:pt x="1021" y="3508"/>
                    <a:pt x="772" y="3508"/>
                  </a:cubicBezTo>
                  <a:cubicBezTo>
                    <a:pt x="675" y="3508"/>
                    <a:pt x="569" y="3487"/>
                    <a:pt x="462" y="3429"/>
                  </a:cubicBezTo>
                  <a:cubicBezTo>
                    <a:pt x="268" y="3332"/>
                    <a:pt x="134" y="3082"/>
                    <a:pt x="116" y="2828"/>
                  </a:cubicBezTo>
                  <a:cubicBezTo>
                    <a:pt x="116" y="2560"/>
                    <a:pt x="213" y="2292"/>
                    <a:pt x="481" y="2135"/>
                  </a:cubicBezTo>
                  <a:cubicBezTo>
                    <a:pt x="615" y="2059"/>
                    <a:pt x="735" y="2030"/>
                    <a:pt x="841" y="2030"/>
                  </a:cubicBezTo>
                  <a:cubicBezTo>
                    <a:pt x="947" y="2030"/>
                    <a:pt x="1040" y="2059"/>
                    <a:pt x="1118" y="2098"/>
                  </a:cubicBezTo>
                  <a:cubicBezTo>
                    <a:pt x="1271" y="2176"/>
                    <a:pt x="1368" y="2273"/>
                    <a:pt x="1368" y="2273"/>
                  </a:cubicBezTo>
                  <a:lnTo>
                    <a:pt x="1386" y="2292"/>
                  </a:lnTo>
                  <a:lnTo>
                    <a:pt x="1405" y="2292"/>
                  </a:lnTo>
                  <a:cubicBezTo>
                    <a:pt x="1405" y="2292"/>
                    <a:pt x="2098" y="2292"/>
                    <a:pt x="2463" y="1788"/>
                  </a:cubicBezTo>
                  <a:cubicBezTo>
                    <a:pt x="2638" y="1520"/>
                    <a:pt x="2675" y="1095"/>
                    <a:pt x="2657" y="749"/>
                  </a:cubicBezTo>
                  <a:cubicBezTo>
                    <a:pt x="2657" y="444"/>
                    <a:pt x="2620" y="250"/>
                    <a:pt x="2597" y="171"/>
                  </a:cubicBezTo>
                  <a:close/>
                  <a:moveTo>
                    <a:pt x="2463" y="0"/>
                  </a:moveTo>
                  <a:lnTo>
                    <a:pt x="2481" y="116"/>
                  </a:lnTo>
                  <a:cubicBezTo>
                    <a:pt x="2481" y="116"/>
                    <a:pt x="2541" y="402"/>
                    <a:pt x="2560" y="749"/>
                  </a:cubicBezTo>
                  <a:cubicBezTo>
                    <a:pt x="2560" y="1095"/>
                    <a:pt x="2541" y="1502"/>
                    <a:pt x="2366" y="1733"/>
                  </a:cubicBezTo>
                  <a:cubicBezTo>
                    <a:pt x="2061" y="2176"/>
                    <a:pt x="1442" y="2195"/>
                    <a:pt x="1405" y="2195"/>
                  </a:cubicBezTo>
                  <a:cubicBezTo>
                    <a:pt x="1386" y="2176"/>
                    <a:pt x="1326" y="2079"/>
                    <a:pt x="1174" y="2001"/>
                  </a:cubicBezTo>
                  <a:cubicBezTo>
                    <a:pt x="1077" y="1964"/>
                    <a:pt x="966" y="1935"/>
                    <a:pt x="841" y="1935"/>
                  </a:cubicBezTo>
                  <a:cubicBezTo>
                    <a:pt x="716" y="1935"/>
                    <a:pt x="578" y="1964"/>
                    <a:pt x="425" y="2042"/>
                  </a:cubicBezTo>
                  <a:cubicBezTo>
                    <a:pt x="116" y="2213"/>
                    <a:pt x="0" y="2541"/>
                    <a:pt x="19" y="2828"/>
                  </a:cubicBezTo>
                  <a:cubicBezTo>
                    <a:pt x="37" y="3119"/>
                    <a:pt x="171" y="3405"/>
                    <a:pt x="402" y="3521"/>
                  </a:cubicBezTo>
                  <a:cubicBezTo>
                    <a:pt x="543" y="3592"/>
                    <a:pt x="673" y="3616"/>
                    <a:pt x="787" y="3616"/>
                  </a:cubicBezTo>
                  <a:cubicBezTo>
                    <a:pt x="985" y="3616"/>
                    <a:pt x="1130" y="3541"/>
                    <a:pt x="1192" y="3502"/>
                  </a:cubicBezTo>
                  <a:lnTo>
                    <a:pt x="1192" y="3502"/>
                  </a:lnTo>
                  <a:cubicBezTo>
                    <a:pt x="1174" y="3544"/>
                    <a:pt x="1155" y="3600"/>
                    <a:pt x="1192" y="3752"/>
                  </a:cubicBezTo>
                  <a:cubicBezTo>
                    <a:pt x="1234" y="3965"/>
                    <a:pt x="1368" y="4256"/>
                    <a:pt x="1673" y="4561"/>
                  </a:cubicBezTo>
                  <a:cubicBezTo>
                    <a:pt x="2122" y="5038"/>
                    <a:pt x="2933" y="5512"/>
                    <a:pt x="4008" y="5512"/>
                  </a:cubicBezTo>
                  <a:cubicBezTo>
                    <a:pt x="4370" y="5512"/>
                    <a:pt x="4762" y="5458"/>
                    <a:pt x="5180" y="5332"/>
                  </a:cubicBezTo>
                  <a:cubicBezTo>
                    <a:pt x="6025" y="5064"/>
                    <a:pt x="6506" y="4542"/>
                    <a:pt x="6737" y="3983"/>
                  </a:cubicBezTo>
                  <a:cubicBezTo>
                    <a:pt x="6986" y="3405"/>
                    <a:pt x="6986" y="2791"/>
                    <a:pt x="6894" y="2292"/>
                  </a:cubicBezTo>
                  <a:cubicBezTo>
                    <a:pt x="6700" y="1349"/>
                    <a:pt x="6663" y="310"/>
                    <a:pt x="6663" y="310"/>
                  </a:cubicBezTo>
                  <a:lnTo>
                    <a:pt x="6663" y="250"/>
                  </a:lnTo>
                  <a:lnTo>
                    <a:pt x="6603" y="250"/>
                  </a:lnTo>
                  <a:cubicBezTo>
                    <a:pt x="6603" y="250"/>
                    <a:pt x="6241" y="205"/>
                    <a:pt x="5715" y="205"/>
                  </a:cubicBezTo>
                  <a:cubicBezTo>
                    <a:pt x="5334" y="205"/>
                    <a:pt x="4867" y="228"/>
                    <a:pt x="4390" y="310"/>
                  </a:cubicBezTo>
                  <a:cubicBezTo>
                    <a:pt x="4196" y="343"/>
                    <a:pt x="4014" y="357"/>
                    <a:pt x="3845" y="357"/>
                  </a:cubicBezTo>
                  <a:cubicBezTo>
                    <a:pt x="3056" y="357"/>
                    <a:pt x="2560" y="56"/>
                    <a:pt x="2560" y="56"/>
                  </a:cubicBezTo>
                  <a:lnTo>
                    <a:pt x="2463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6015278" y="1428674"/>
              <a:ext cx="110582" cy="110719"/>
            </a:xfrm>
            <a:custGeom>
              <a:avLst/>
              <a:gdLst/>
              <a:ahLst/>
              <a:cxnLst/>
              <a:rect l="l" t="t" r="r" b="b"/>
              <a:pathLst>
                <a:path w="809" h="810" extrusionOk="0">
                  <a:moveTo>
                    <a:pt x="407" y="1"/>
                  </a:moveTo>
                  <a:cubicBezTo>
                    <a:pt x="176" y="1"/>
                    <a:pt x="0" y="195"/>
                    <a:pt x="0" y="407"/>
                  </a:cubicBezTo>
                  <a:cubicBezTo>
                    <a:pt x="0" y="638"/>
                    <a:pt x="176" y="809"/>
                    <a:pt x="407" y="809"/>
                  </a:cubicBezTo>
                  <a:cubicBezTo>
                    <a:pt x="619" y="809"/>
                    <a:pt x="809" y="638"/>
                    <a:pt x="809" y="407"/>
                  </a:cubicBezTo>
                  <a:cubicBezTo>
                    <a:pt x="809" y="195"/>
                    <a:pt x="619" y="1"/>
                    <a:pt x="407" y="1"/>
                  </a:cubicBezTo>
                  <a:close/>
                </a:path>
              </a:pathLst>
            </a:custGeom>
            <a:solidFill>
              <a:srgbClr val="FFCB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6007623" y="1423616"/>
              <a:ext cx="123978" cy="123978"/>
            </a:xfrm>
            <a:custGeom>
              <a:avLst/>
              <a:gdLst/>
              <a:ahLst/>
              <a:cxnLst/>
              <a:rect l="l" t="t" r="r" b="b"/>
              <a:pathLst>
                <a:path w="907" h="907" extrusionOk="0">
                  <a:moveTo>
                    <a:pt x="463" y="98"/>
                  </a:moveTo>
                  <a:cubicBezTo>
                    <a:pt x="657" y="98"/>
                    <a:pt x="809" y="250"/>
                    <a:pt x="809" y="444"/>
                  </a:cubicBezTo>
                  <a:cubicBezTo>
                    <a:pt x="809" y="639"/>
                    <a:pt x="657" y="791"/>
                    <a:pt x="463" y="791"/>
                  </a:cubicBezTo>
                  <a:cubicBezTo>
                    <a:pt x="269" y="791"/>
                    <a:pt x="116" y="639"/>
                    <a:pt x="116" y="444"/>
                  </a:cubicBezTo>
                  <a:cubicBezTo>
                    <a:pt x="116" y="250"/>
                    <a:pt x="269" y="98"/>
                    <a:pt x="463" y="98"/>
                  </a:cubicBezTo>
                  <a:close/>
                  <a:moveTo>
                    <a:pt x="463" y="1"/>
                  </a:moveTo>
                  <a:cubicBezTo>
                    <a:pt x="213" y="1"/>
                    <a:pt x="1" y="195"/>
                    <a:pt x="1" y="444"/>
                  </a:cubicBezTo>
                  <a:cubicBezTo>
                    <a:pt x="1" y="694"/>
                    <a:pt x="213" y="906"/>
                    <a:pt x="463" y="906"/>
                  </a:cubicBezTo>
                  <a:cubicBezTo>
                    <a:pt x="712" y="906"/>
                    <a:pt x="906" y="694"/>
                    <a:pt x="906" y="444"/>
                  </a:cubicBezTo>
                  <a:cubicBezTo>
                    <a:pt x="906" y="195"/>
                    <a:pt x="712" y="1"/>
                    <a:pt x="463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6420701" y="1352947"/>
              <a:ext cx="47431" cy="91719"/>
            </a:xfrm>
            <a:custGeom>
              <a:avLst/>
              <a:gdLst/>
              <a:ahLst/>
              <a:cxnLst/>
              <a:rect l="l" t="t" r="r" b="b"/>
              <a:pathLst>
                <a:path w="347" h="671" extrusionOk="0">
                  <a:moveTo>
                    <a:pt x="176" y="0"/>
                  </a:moveTo>
                  <a:cubicBezTo>
                    <a:pt x="79" y="0"/>
                    <a:pt x="0" y="153"/>
                    <a:pt x="0" y="324"/>
                  </a:cubicBezTo>
                  <a:cubicBezTo>
                    <a:pt x="0" y="518"/>
                    <a:pt x="79" y="670"/>
                    <a:pt x="176" y="670"/>
                  </a:cubicBezTo>
                  <a:cubicBezTo>
                    <a:pt x="268" y="670"/>
                    <a:pt x="347" y="518"/>
                    <a:pt x="347" y="324"/>
                  </a:cubicBezTo>
                  <a:cubicBezTo>
                    <a:pt x="347" y="153"/>
                    <a:pt x="268" y="0"/>
                    <a:pt x="17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6749715" y="1352947"/>
              <a:ext cx="50029" cy="91719"/>
            </a:xfrm>
            <a:custGeom>
              <a:avLst/>
              <a:gdLst/>
              <a:ahLst/>
              <a:cxnLst/>
              <a:rect l="l" t="t" r="r" b="b"/>
              <a:pathLst>
                <a:path w="366" h="671" extrusionOk="0">
                  <a:moveTo>
                    <a:pt x="195" y="0"/>
                  </a:moveTo>
                  <a:cubicBezTo>
                    <a:pt x="98" y="0"/>
                    <a:pt x="1" y="153"/>
                    <a:pt x="1" y="324"/>
                  </a:cubicBezTo>
                  <a:cubicBezTo>
                    <a:pt x="1" y="518"/>
                    <a:pt x="98" y="670"/>
                    <a:pt x="195" y="670"/>
                  </a:cubicBezTo>
                  <a:cubicBezTo>
                    <a:pt x="287" y="670"/>
                    <a:pt x="366" y="518"/>
                    <a:pt x="366" y="324"/>
                  </a:cubicBezTo>
                  <a:cubicBezTo>
                    <a:pt x="366" y="153"/>
                    <a:pt x="287" y="0"/>
                    <a:pt x="19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6662643" y="1423616"/>
              <a:ext cx="55633" cy="75180"/>
            </a:xfrm>
            <a:custGeom>
              <a:avLst/>
              <a:gdLst/>
              <a:ahLst/>
              <a:cxnLst/>
              <a:rect l="l" t="t" r="r" b="b"/>
              <a:pathLst>
                <a:path w="407" h="550" extrusionOk="0">
                  <a:moveTo>
                    <a:pt x="97" y="1"/>
                  </a:moveTo>
                  <a:cubicBezTo>
                    <a:pt x="79" y="1"/>
                    <a:pt x="42" y="19"/>
                    <a:pt x="42" y="38"/>
                  </a:cubicBezTo>
                  <a:cubicBezTo>
                    <a:pt x="42" y="79"/>
                    <a:pt x="60" y="98"/>
                    <a:pt x="97" y="98"/>
                  </a:cubicBezTo>
                  <a:cubicBezTo>
                    <a:pt x="97" y="98"/>
                    <a:pt x="139" y="98"/>
                    <a:pt x="194" y="135"/>
                  </a:cubicBezTo>
                  <a:cubicBezTo>
                    <a:pt x="254" y="153"/>
                    <a:pt x="291" y="213"/>
                    <a:pt x="291" y="310"/>
                  </a:cubicBezTo>
                  <a:cubicBezTo>
                    <a:pt x="291" y="347"/>
                    <a:pt x="273" y="384"/>
                    <a:pt x="254" y="407"/>
                  </a:cubicBezTo>
                  <a:cubicBezTo>
                    <a:pt x="231" y="426"/>
                    <a:pt x="213" y="444"/>
                    <a:pt x="176" y="444"/>
                  </a:cubicBezTo>
                  <a:cubicBezTo>
                    <a:pt x="163" y="451"/>
                    <a:pt x="148" y="453"/>
                    <a:pt x="134" y="453"/>
                  </a:cubicBezTo>
                  <a:cubicBezTo>
                    <a:pt x="105" y="453"/>
                    <a:pt x="79" y="444"/>
                    <a:pt x="79" y="444"/>
                  </a:cubicBezTo>
                  <a:cubicBezTo>
                    <a:pt x="42" y="444"/>
                    <a:pt x="23" y="463"/>
                    <a:pt x="23" y="481"/>
                  </a:cubicBezTo>
                  <a:cubicBezTo>
                    <a:pt x="0" y="523"/>
                    <a:pt x="23" y="541"/>
                    <a:pt x="60" y="541"/>
                  </a:cubicBezTo>
                  <a:cubicBezTo>
                    <a:pt x="60" y="541"/>
                    <a:pt x="95" y="550"/>
                    <a:pt x="140" y="550"/>
                  </a:cubicBezTo>
                  <a:cubicBezTo>
                    <a:pt x="163" y="550"/>
                    <a:pt x="188" y="548"/>
                    <a:pt x="213" y="541"/>
                  </a:cubicBezTo>
                  <a:cubicBezTo>
                    <a:pt x="254" y="541"/>
                    <a:pt x="291" y="523"/>
                    <a:pt x="328" y="481"/>
                  </a:cubicBezTo>
                  <a:cubicBezTo>
                    <a:pt x="370" y="444"/>
                    <a:pt x="388" y="384"/>
                    <a:pt x="388" y="310"/>
                  </a:cubicBezTo>
                  <a:cubicBezTo>
                    <a:pt x="407" y="176"/>
                    <a:pt x="328" y="79"/>
                    <a:pt x="254" y="38"/>
                  </a:cubicBezTo>
                  <a:cubicBezTo>
                    <a:pt x="176" y="1"/>
                    <a:pt x="97" y="1"/>
                    <a:pt x="9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6458701" y="1497293"/>
              <a:ext cx="282948" cy="180567"/>
            </a:xfrm>
            <a:custGeom>
              <a:avLst/>
              <a:gdLst/>
              <a:ahLst/>
              <a:cxnLst/>
              <a:rect l="l" t="t" r="r" b="b"/>
              <a:pathLst>
                <a:path w="2070" h="1321" extrusionOk="0">
                  <a:moveTo>
                    <a:pt x="206" y="1"/>
                  </a:moveTo>
                  <a:cubicBezTo>
                    <a:pt x="47" y="1"/>
                    <a:pt x="0" y="610"/>
                    <a:pt x="300" y="964"/>
                  </a:cubicBezTo>
                  <a:cubicBezTo>
                    <a:pt x="499" y="1213"/>
                    <a:pt x="795" y="1320"/>
                    <a:pt x="1079" y="1320"/>
                  </a:cubicBezTo>
                  <a:cubicBezTo>
                    <a:pt x="1211" y="1320"/>
                    <a:pt x="1340" y="1297"/>
                    <a:pt x="1455" y="1255"/>
                  </a:cubicBezTo>
                  <a:cubicBezTo>
                    <a:pt x="1820" y="1116"/>
                    <a:pt x="1996" y="885"/>
                    <a:pt x="2033" y="696"/>
                  </a:cubicBezTo>
                  <a:cubicBezTo>
                    <a:pt x="2070" y="501"/>
                    <a:pt x="1977" y="483"/>
                    <a:pt x="1839" y="446"/>
                  </a:cubicBezTo>
                  <a:cubicBezTo>
                    <a:pt x="1705" y="404"/>
                    <a:pt x="1187" y="289"/>
                    <a:pt x="1187" y="289"/>
                  </a:cubicBezTo>
                  <a:cubicBezTo>
                    <a:pt x="744" y="192"/>
                    <a:pt x="379" y="21"/>
                    <a:pt x="221" y="2"/>
                  </a:cubicBezTo>
                  <a:cubicBezTo>
                    <a:pt x="216" y="1"/>
                    <a:pt x="211" y="1"/>
                    <a:pt x="206" y="1"/>
                  </a:cubicBezTo>
                  <a:close/>
                </a:path>
              </a:pathLst>
            </a:custGeom>
            <a:solidFill>
              <a:srgbClr val="C5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6463075" y="1489364"/>
              <a:ext cx="284315" cy="195603"/>
            </a:xfrm>
            <a:custGeom>
              <a:avLst/>
              <a:gdLst/>
              <a:ahLst/>
              <a:cxnLst/>
              <a:rect l="l" t="t" r="r" b="b"/>
              <a:pathLst>
                <a:path w="2080" h="1431" extrusionOk="0">
                  <a:moveTo>
                    <a:pt x="171" y="97"/>
                  </a:moveTo>
                  <a:cubicBezTo>
                    <a:pt x="250" y="116"/>
                    <a:pt x="384" y="176"/>
                    <a:pt x="559" y="231"/>
                  </a:cubicBezTo>
                  <a:cubicBezTo>
                    <a:pt x="712" y="291"/>
                    <a:pt x="924" y="347"/>
                    <a:pt x="1137" y="407"/>
                  </a:cubicBezTo>
                  <a:cubicBezTo>
                    <a:pt x="1137" y="407"/>
                    <a:pt x="1271" y="425"/>
                    <a:pt x="1405" y="462"/>
                  </a:cubicBezTo>
                  <a:cubicBezTo>
                    <a:pt x="1557" y="504"/>
                    <a:pt x="1733" y="541"/>
                    <a:pt x="1788" y="559"/>
                  </a:cubicBezTo>
                  <a:cubicBezTo>
                    <a:pt x="1848" y="578"/>
                    <a:pt x="1904" y="596"/>
                    <a:pt x="1922" y="620"/>
                  </a:cubicBezTo>
                  <a:cubicBezTo>
                    <a:pt x="1964" y="638"/>
                    <a:pt x="1964" y="657"/>
                    <a:pt x="1945" y="754"/>
                  </a:cubicBezTo>
                  <a:cubicBezTo>
                    <a:pt x="1922" y="906"/>
                    <a:pt x="1751" y="1137"/>
                    <a:pt x="1405" y="1271"/>
                  </a:cubicBezTo>
                  <a:cubicBezTo>
                    <a:pt x="1299" y="1306"/>
                    <a:pt x="1182" y="1326"/>
                    <a:pt x="1063" y="1326"/>
                  </a:cubicBezTo>
                  <a:cubicBezTo>
                    <a:pt x="792" y="1326"/>
                    <a:pt x="507" y="1225"/>
                    <a:pt x="305" y="985"/>
                  </a:cubicBezTo>
                  <a:cubicBezTo>
                    <a:pt x="152" y="827"/>
                    <a:pt x="97" y="578"/>
                    <a:pt x="97" y="389"/>
                  </a:cubicBezTo>
                  <a:cubicBezTo>
                    <a:pt x="97" y="291"/>
                    <a:pt x="116" y="213"/>
                    <a:pt x="134" y="158"/>
                  </a:cubicBezTo>
                  <a:cubicBezTo>
                    <a:pt x="134" y="134"/>
                    <a:pt x="152" y="116"/>
                    <a:pt x="171" y="116"/>
                  </a:cubicBezTo>
                  <a:lnTo>
                    <a:pt x="171" y="97"/>
                  </a:lnTo>
                  <a:close/>
                  <a:moveTo>
                    <a:pt x="189" y="0"/>
                  </a:moveTo>
                  <a:cubicBezTo>
                    <a:pt x="152" y="0"/>
                    <a:pt x="116" y="0"/>
                    <a:pt x="97" y="42"/>
                  </a:cubicBezTo>
                  <a:cubicBezTo>
                    <a:pt x="74" y="60"/>
                    <a:pt x="55" y="79"/>
                    <a:pt x="37" y="116"/>
                  </a:cubicBezTo>
                  <a:cubicBezTo>
                    <a:pt x="0" y="194"/>
                    <a:pt x="0" y="291"/>
                    <a:pt x="0" y="389"/>
                  </a:cubicBezTo>
                  <a:cubicBezTo>
                    <a:pt x="0" y="596"/>
                    <a:pt x="55" y="869"/>
                    <a:pt x="213" y="1059"/>
                  </a:cubicBezTo>
                  <a:cubicBezTo>
                    <a:pt x="438" y="1316"/>
                    <a:pt x="760" y="1430"/>
                    <a:pt x="1064" y="1430"/>
                  </a:cubicBezTo>
                  <a:cubicBezTo>
                    <a:pt x="1197" y="1430"/>
                    <a:pt x="1325" y="1409"/>
                    <a:pt x="1442" y="1368"/>
                  </a:cubicBezTo>
                  <a:cubicBezTo>
                    <a:pt x="1830" y="1216"/>
                    <a:pt x="2019" y="985"/>
                    <a:pt x="2061" y="772"/>
                  </a:cubicBezTo>
                  <a:cubicBezTo>
                    <a:pt x="2079" y="657"/>
                    <a:pt x="2061" y="578"/>
                    <a:pt x="2001" y="541"/>
                  </a:cubicBezTo>
                  <a:cubicBezTo>
                    <a:pt x="1945" y="481"/>
                    <a:pt x="1885" y="481"/>
                    <a:pt x="1830" y="444"/>
                  </a:cubicBezTo>
                  <a:cubicBezTo>
                    <a:pt x="1751" y="425"/>
                    <a:pt x="1576" y="389"/>
                    <a:pt x="1442" y="365"/>
                  </a:cubicBezTo>
                  <a:cubicBezTo>
                    <a:pt x="1289" y="328"/>
                    <a:pt x="1155" y="291"/>
                    <a:pt x="1155" y="291"/>
                  </a:cubicBezTo>
                  <a:cubicBezTo>
                    <a:pt x="943" y="250"/>
                    <a:pt x="749" y="176"/>
                    <a:pt x="578" y="116"/>
                  </a:cubicBezTo>
                  <a:cubicBezTo>
                    <a:pt x="420" y="79"/>
                    <a:pt x="286" y="19"/>
                    <a:pt x="18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6492054" y="1500026"/>
              <a:ext cx="242078" cy="100057"/>
            </a:xfrm>
            <a:custGeom>
              <a:avLst/>
              <a:gdLst/>
              <a:ahLst/>
              <a:cxnLst/>
              <a:rect l="l" t="t" r="r" b="b"/>
              <a:pathLst>
                <a:path w="1771" h="732" extrusionOk="0">
                  <a:moveTo>
                    <a:pt x="56" y="1"/>
                  </a:moveTo>
                  <a:lnTo>
                    <a:pt x="56" y="1"/>
                  </a:lnTo>
                  <a:cubicBezTo>
                    <a:pt x="19" y="80"/>
                    <a:pt x="1" y="213"/>
                    <a:pt x="74" y="269"/>
                  </a:cubicBezTo>
                  <a:cubicBezTo>
                    <a:pt x="205" y="382"/>
                    <a:pt x="1382" y="732"/>
                    <a:pt x="1581" y="732"/>
                  </a:cubicBezTo>
                  <a:cubicBezTo>
                    <a:pt x="1587" y="732"/>
                    <a:pt x="1591" y="731"/>
                    <a:pt x="1595" y="731"/>
                  </a:cubicBezTo>
                  <a:cubicBezTo>
                    <a:pt x="1673" y="731"/>
                    <a:pt x="1733" y="615"/>
                    <a:pt x="1770" y="518"/>
                  </a:cubicBezTo>
                  <a:cubicBezTo>
                    <a:pt x="1733" y="463"/>
                    <a:pt x="1673" y="445"/>
                    <a:pt x="1595" y="426"/>
                  </a:cubicBezTo>
                  <a:cubicBezTo>
                    <a:pt x="1461" y="384"/>
                    <a:pt x="943" y="269"/>
                    <a:pt x="943" y="269"/>
                  </a:cubicBezTo>
                  <a:cubicBezTo>
                    <a:pt x="555" y="172"/>
                    <a:pt x="232" y="56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6488910" y="1489364"/>
              <a:ext cx="252740" cy="118920"/>
            </a:xfrm>
            <a:custGeom>
              <a:avLst/>
              <a:gdLst/>
              <a:ahLst/>
              <a:cxnLst/>
              <a:rect l="l" t="t" r="r" b="b"/>
              <a:pathLst>
                <a:path w="1849" h="870" extrusionOk="0">
                  <a:moveTo>
                    <a:pt x="116" y="134"/>
                  </a:moveTo>
                  <a:cubicBezTo>
                    <a:pt x="310" y="194"/>
                    <a:pt x="601" y="310"/>
                    <a:pt x="948" y="407"/>
                  </a:cubicBezTo>
                  <a:cubicBezTo>
                    <a:pt x="948" y="407"/>
                    <a:pt x="1082" y="425"/>
                    <a:pt x="1216" y="462"/>
                  </a:cubicBezTo>
                  <a:cubicBezTo>
                    <a:pt x="1368" y="504"/>
                    <a:pt x="1544" y="541"/>
                    <a:pt x="1599" y="559"/>
                  </a:cubicBezTo>
                  <a:cubicBezTo>
                    <a:pt x="1659" y="578"/>
                    <a:pt x="1696" y="596"/>
                    <a:pt x="1733" y="620"/>
                  </a:cubicBezTo>
                  <a:cubicBezTo>
                    <a:pt x="1715" y="638"/>
                    <a:pt x="1696" y="675"/>
                    <a:pt x="1678" y="712"/>
                  </a:cubicBezTo>
                  <a:cubicBezTo>
                    <a:pt x="1659" y="735"/>
                    <a:pt x="1641" y="754"/>
                    <a:pt x="1618" y="772"/>
                  </a:cubicBezTo>
                  <a:cubicBezTo>
                    <a:pt x="1599" y="772"/>
                    <a:pt x="1562" y="772"/>
                    <a:pt x="1525" y="754"/>
                  </a:cubicBezTo>
                  <a:cubicBezTo>
                    <a:pt x="1465" y="754"/>
                    <a:pt x="1410" y="735"/>
                    <a:pt x="1350" y="712"/>
                  </a:cubicBezTo>
                  <a:cubicBezTo>
                    <a:pt x="1216" y="693"/>
                    <a:pt x="1040" y="638"/>
                    <a:pt x="869" y="578"/>
                  </a:cubicBezTo>
                  <a:cubicBezTo>
                    <a:pt x="694" y="541"/>
                    <a:pt x="523" y="481"/>
                    <a:pt x="389" y="425"/>
                  </a:cubicBezTo>
                  <a:cubicBezTo>
                    <a:pt x="329" y="407"/>
                    <a:pt x="273" y="389"/>
                    <a:pt x="213" y="365"/>
                  </a:cubicBezTo>
                  <a:cubicBezTo>
                    <a:pt x="176" y="347"/>
                    <a:pt x="139" y="328"/>
                    <a:pt x="139" y="310"/>
                  </a:cubicBezTo>
                  <a:cubicBezTo>
                    <a:pt x="116" y="291"/>
                    <a:pt x="97" y="250"/>
                    <a:pt x="97" y="213"/>
                  </a:cubicBezTo>
                  <a:cubicBezTo>
                    <a:pt x="97" y="194"/>
                    <a:pt x="116" y="176"/>
                    <a:pt x="116" y="134"/>
                  </a:cubicBezTo>
                  <a:close/>
                  <a:moveTo>
                    <a:pt x="42" y="0"/>
                  </a:moveTo>
                  <a:lnTo>
                    <a:pt x="24" y="60"/>
                  </a:lnTo>
                  <a:cubicBezTo>
                    <a:pt x="0" y="97"/>
                    <a:pt x="0" y="158"/>
                    <a:pt x="0" y="213"/>
                  </a:cubicBezTo>
                  <a:cubicBezTo>
                    <a:pt x="0" y="273"/>
                    <a:pt x="24" y="347"/>
                    <a:pt x="61" y="389"/>
                  </a:cubicBezTo>
                  <a:cubicBezTo>
                    <a:pt x="97" y="425"/>
                    <a:pt x="139" y="425"/>
                    <a:pt x="176" y="462"/>
                  </a:cubicBezTo>
                  <a:cubicBezTo>
                    <a:pt x="213" y="481"/>
                    <a:pt x="292" y="504"/>
                    <a:pt x="347" y="523"/>
                  </a:cubicBezTo>
                  <a:cubicBezTo>
                    <a:pt x="486" y="578"/>
                    <a:pt x="657" y="638"/>
                    <a:pt x="832" y="693"/>
                  </a:cubicBezTo>
                  <a:cubicBezTo>
                    <a:pt x="1003" y="735"/>
                    <a:pt x="1179" y="791"/>
                    <a:pt x="1313" y="809"/>
                  </a:cubicBezTo>
                  <a:cubicBezTo>
                    <a:pt x="1387" y="827"/>
                    <a:pt x="1447" y="851"/>
                    <a:pt x="1502" y="851"/>
                  </a:cubicBezTo>
                  <a:cubicBezTo>
                    <a:pt x="1562" y="869"/>
                    <a:pt x="1599" y="869"/>
                    <a:pt x="1618" y="869"/>
                  </a:cubicBezTo>
                  <a:cubicBezTo>
                    <a:pt x="1696" y="851"/>
                    <a:pt x="1733" y="809"/>
                    <a:pt x="1775" y="772"/>
                  </a:cubicBezTo>
                  <a:cubicBezTo>
                    <a:pt x="1812" y="712"/>
                    <a:pt x="1830" y="657"/>
                    <a:pt x="1849" y="620"/>
                  </a:cubicBezTo>
                  <a:lnTo>
                    <a:pt x="1849" y="578"/>
                  </a:lnTo>
                  <a:lnTo>
                    <a:pt x="1830" y="559"/>
                  </a:lnTo>
                  <a:cubicBezTo>
                    <a:pt x="1793" y="504"/>
                    <a:pt x="1715" y="481"/>
                    <a:pt x="1641" y="444"/>
                  </a:cubicBezTo>
                  <a:cubicBezTo>
                    <a:pt x="1562" y="425"/>
                    <a:pt x="1387" y="389"/>
                    <a:pt x="1253" y="365"/>
                  </a:cubicBezTo>
                  <a:cubicBezTo>
                    <a:pt x="1100" y="328"/>
                    <a:pt x="966" y="291"/>
                    <a:pt x="966" y="291"/>
                  </a:cubicBezTo>
                  <a:cubicBezTo>
                    <a:pt x="601" y="213"/>
                    <a:pt x="273" y="79"/>
                    <a:pt x="79" y="19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6486313" y="1592293"/>
              <a:ext cx="197927" cy="85568"/>
            </a:xfrm>
            <a:custGeom>
              <a:avLst/>
              <a:gdLst/>
              <a:ahLst/>
              <a:cxnLst/>
              <a:rect l="l" t="t" r="r" b="b"/>
              <a:pathLst>
                <a:path w="1448" h="626" extrusionOk="0">
                  <a:moveTo>
                    <a:pt x="505" y="1"/>
                  </a:moveTo>
                  <a:cubicBezTo>
                    <a:pt x="274" y="1"/>
                    <a:pt x="98" y="98"/>
                    <a:pt x="1" y="135"/>
                  </a:cubicBezTo>
                  <a:cubicBezTo>
                    <a:pt x="19" y="190"/>
                    <a:pt x="61" y="232"/>
                    <a:pt x="98" y="269"/>
                  </a:cubicBezTo>
                  <a:cubicBezTo>
                    <a:pt x="297" y="518"/>
                    <a:pt x="593" y="625"/>
                    <a:pt x="877" y="625"/>
                  </a:cubicBezTo>
                  <a:cubicBezTo>
                    <a:pt x="1009" y="625"/>
                    <a:pt x="1138" y="602"/>
                    <a:pt x="1253" y="560"/>
                  </a:cubicBezTo>
                  <a:cubicBezTo>
                    <a:pt x="1332" y="537"/>
                    <a:pt x="1387" y="500"/>
                    <a:pt x="1447" y="481"/>
                  </a:cubicBezTo>
                  <a:cubicBezTo>
                    <a:pt x="1369" y="366"/>
                    <a:pt x="1216" y="232"/>
                    <a:pt x="907" y="98"/>
                  </a:cubicBezTo>
                  <a:cubicBezTo>
                    <a:pt x="773" y="19"/>
                    <a:pt x="620" y="1"/>
                    <a:pt x="505" y="1"/>
                  </a:cubicBezTo>
                  <a:close/>
                </a:path>
              </a:pathLst>
            </a:custGeom>
            <a:solidFill>
              <a:srgbClr val="FF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6476334" y="1584091"/>
              <a:ext cx="218021" cy="100877"/>
            </a:xfrm>
            <a:custGeom>
              <a:avLst/>
              <a:gdLst/>
              <a:ahLst/>
              <a:cxnLst/>
              <a:rect l="l" t="t" r="r" b="b"/>
              <a:pathLst>
                <a:path w="1595" h="738" extrusionOk="0">
                  <a:moveTo>
                    <a:pt x="578" y="116"/>
                  </a:moveTo>
                  <a:cubicBezTo>
                    <a:pt x="693" y="116"/>
                    <a:pt x="827" y="134"/>
                    <a:pt x="961" y="195"/>
                  </a:cubicBezTo>
                  <a:cubicBezTo>
                    <a:pt x="1211" y="310"/>
                    <a:pt x="1345" y="426"/>
                    <a:pt x="1423" y="523"/>
                  </a:cubicBezTo>
                  <a:cubicBezTo>
                    <a:pt x="1386" y="541"/>
                    <a:pt x="1345" y="560"/>
                    <a:pt x="1308" y="578"/>
                  </a:cubicBezTo>
                  <a:cubicBezTo>
                    <a:pt x="1202" y="613"/>
                    <a:pt x="1084" y="633"/>
                    <a:pt x="963" y="633"/>
                  </a:cubicBezTo>
                  <a:cubicBezTo>
                    <a:pt x="687" y="633"/>
                    <a:pt x="397" y="532"/>
                    <a:pt x="208" y="292"/>
                  </a:cubicBezTo>
                  <a:cubicBezTo>
                    <a:pt x="189" y="273"/>
                    <a:pt x="171" y="250"/>
                    <a:pt x="153" y="232"/>
                  </a:cubicBezTo>
                  <a:cubicBezTo>
                    <a:pt x="250" y="176"/>
                    <a:pt x="384" y="116"/>
                    <a:pt x="578" y="116"/>
                  </a:cubicBezTo>
                  <a:close/>
                  <a:moveTo>
                    <a:pt x="578" y="0"/>
                  </a:moveTo>
                  <a:cubicBezTo>
                    <a:pt x="323" y="0"/>
                    <a:pt x="153" y="98"/>
                    <a:pt x="55" y="158"/>
                  </a:cubicBezTo>
                  <a:lnTo>
                    <a:pt x="0" y="195"/>
                  </a:lnTo>
                  <a:lnTo>
                    <a:pt x="37" y="232"/>
                  </a:lnTo>
                  <a:cubicBezTo>
                    <a:pt x="55" y="273"/>
                    <a:pt x="92" y="329"/>
                    <a:pt x="116" y="366"/>
                  </a:cubicBezTo>
                  <a:cubicBezTo>
                    <a:pt x="341" y="623"/>
                    <a:pt x="663" y="737"/>
                    <a:pt x="967" y="737"/>
                  </a:cubicBezTo>
                  <a:cubicBezTo>
                    <a:pt x="1100" y="737"/>
                    <a:pt x="1228" y="716"/>
                    <a:pt x="1345" y="675"/>
                  </a:cubicBezTo>
                  <a:cubicBezTo>
                    <a:pt x="1423" y="638"/>
                    <a:pt x="1479" y="620"/>
                    <a:pt x="1539" y="578"/>
                  </a:cubicBezTo>
                  <a:lnTo>
                    <a:pt x="1594" y="541"/>
                  </a:lnTo>
                  <a:lnTo>
                    <a:pt x="1557" y="504"/>
                  </a:lnTo>
                  <a:cubicBezTo>
                    <a:pt x="1479" y="389"/>
                    <a:pt x="1308" y="232"/>
                    <a:pt x="998" y="98"/>
                  </a:cubicBezTo>
                  <a:cubicBezTo>
                    <a:pt x="846" y="42"/>
                    <a:pt x="712" y="0"/>
                    <a:pt x="57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6354953" y="1239084"/>
              <a:ext cx="155553" cy="69575"/>
            </a:xfrm>
            <a:custGeom>
              <a:avLst/>
              <a:gdLst/>
              <a:ahLst/>
              <a:cxnLst/>
              <a:rect l="l" t="t" r="r" b="b"/>
              <a:pathLst>
                <a:path w="1138" h="509" extrusionOk="0">
                  <a:moveTo>
                    <a:pt x="466" y="0"/>
                  </a:moveTo>
                  <a:cubicBezTo>
                    <a:pt x="445" y="0"/>
                    <a:pt x="424" y="1"/>
                    <a:pt x="403" y="2"/>
                  </a:cubicBezTo>
                  <a:cubicBezTo>
                    <a:pt x="38" y="25"/>
                    <a:pt x="19" y="99"/>
                    <a:pt x="1" y="159"/>
                  </a:cubicBezTo>
                  <a:cubicBezTo>
                    <a:pt x="1" y="214"/>
                    <a:pt x="19" y="348"/>
                    <a:pt x="56" y="427"/>
                  </a:cubicBezTo>
                  <a:cubicBezTo>
                    <a:pt x="73" y="458"/>
                    <a:pt x="91" y="467"/>
                    <a:pt x="108" y="467"/>
                  </a:cubicBezTo>
                  <a:cubicBezTo>
                    <a:pt x="133" y="467"/>
                    <a:pt x="153" y="445"/>
                    <a:pt x="153" y="445"/>
                  </a:cubicBezTo>
                  <a:cubicBezTo>
                    <a:pt x="270" y="365"/>
                    <a:pt x="412" y="333"/>
                    <a:pt x="537" y="333"/>
                  </a:cubicBezTo>
                  <a:cubicBezTo>
                    <a:pt x="620" y="333"/>
                    <a:pt x="696" y="347"/>
                    <a:pt x="749" y="371"/>
                  </a:cubicBezTo>
                  <a:cubicBezTo>
                    <a:pt x="853" y="438"/>
                    <a:pt x="942" y="508"/>
                    <a:pt x="989" y="508"/>
                  </a:cubicBezTo>
                  <a:cubicBezTo>
                    <a:pt x="995" y="508"/>
                    <a:pt x="999" y="507"/>
                    <a:pt x="1004" y="505"/>
                  </a:cubicBezTo>
                  <a:cubicBezTo>
                    <a:pt x="1059" y="464"/>
                    <a:pt x="1138" y="274"/>
                    <a:pt x="1096" y="214"/>
                  </a:cubicBezTo>
                  <a:cubicBezTo>
                    <a:pt x="1079" y="144"/>
                    <a:pt x="822" y="0"/>
                    <a:pt x="466" y="0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6346752" y="1231019"/>
              <a:ext cx="166352" cy="84201"/>
            </a:xfrm>
            <a:custGeom>
              <a:avLst/>
              <a:gdLst/>
              <a:ahLst/>
              <a:cxnLst/>
              <a:rect l="l" t="t" r="r" b="b"/>
              <a:pathLst>
                <a:path w="1217" h="616" extrusionOk="0">
                  <a:moveTo>
                    <a:pt x="578" y="116"/>
                  </a:moveTo>
                  <a:cubicBezTo>
                    <a:pt x="712" y="116"/>
                    <a:pt x="831" y="146"/>
                    <a:pt x="925" y="176"/>
                  </a:cubicBezTo>
                  <a:cubicBezTo>
                    <a:pt x="985" y="199"/>
                    <a:pt x="1022" y="236"/>
                    <a:pt x="1064" y="255"/>
                  </a:cubicBezTo>
                  <a:cubicBezTo>
                    <a:pt x="1101" y="273"/>
                    <a:pt x="1119" y="292"/>
                    <a:pt x="1119" y="292"/>
                  </a:cubicBezTo>
                  <a:lnTo>
                    <a:pt x="1119" y="333"/>
                  </a:lnTo>
                  <a:cubicBezTo>
                    <a:pt x="1119" y="352"/>
                    <a:pt x="1101" y="389"/>
                    <a:pt x="1101" y="407"/>
                  </a:cubicBezTo>
                  <a:cubicBezTo>
                    <a:pt x="1082" y="449"/>
                    <a:pt x="1082" y="467"/>
                    <a:pt x="1064" y="486"/>
                  </a:cubicBezTo>
                  <a:cubicBezTo>
                    <a:pt x="1040" y="504"/>
                    <a:pt x="1040" y="523"/>
                    <a:pt x="1040" y="523"/>
                  </a:cubicBezTo>
                  <a:lnTo>
                    <a:pt x="1040" y="504"/>
                  </a:lnTo>
                  <a:cubicBezTo>
                    <a:pt x="1022" y="504"/>
                    <a:pt x="1022" y="504"/>
                    <a:pt x="985" y="486"/>
                  </a:cubicBezTo>
                  <a:cubicBezTo>
                    <a:pt x="948" y="467"/>
                    <a:pt x="888" y="430"/>
                    <a:pt x="833" y="389"/>
                  </a:cubicBezTo>
                  <a:cubicBezTo>
                    <a:pt x="754" y="352"/>
                    <a:pt x="638" y="333"/>
                    <a:pt x="523" y="333"/>
                  </a:cubicBezTo>
                  <a:cubicBezTo>
                    <a:pt x="407" y="352"/>
                    <a:pt x="292" y="389"/>
                    <a:pt x="176" y="467"/>
                  </a:cubicBezTo>
                  <a:lnTo>
                    <a:pt x="158" y="467"/>
                  </a:lnTo>
                  <a:cubicBezTo>
                    <a:pt x="158" y="430"/>
                    <a:pt x="139" y="389"/>
                    <a:pt x="116" y="333"/>
                  </a:cubicBezTo>
                  <a:lnTo>
                    <a:pt x="116" y="236"/>
                  </a:lnTo>
                  <a:cubicBezTo>
                    <a:pt x="116" y="199"/>
                    <a:pt x="116" y="199"/>
                    <a:pt x="158" y="176"/>
                  </a:cubicBezTo>
                  <a:cubicBezTo>
                    <a:pt x="195" y="139"/>
                    <a:pt x="292" y="121"/>
                    <a:pt x="486" y="121"/>
                  </a:cubicBezTo>
                  <a:cubicBezTo>
                    <a:pt x="517" y="117"/>
                    <a:pt x="548" y="116"/>
                    <a:pt x="578" y="116"/>
                  </a:cubicBezTo>
                  <a:close/>
                  <a:moveTo>
                    <a:pt x="570" y="0"/>
                  </a:moveTo>
                  <a:cubicBezTo>
                    <a:pt x="536" y="0"/>
                    <a:pt x="500" y="2"/>
                    <a:pt x="463" y="5"/>
                  </a:cubicBezTo>
                  <a:cubicBezTo>
                    <a:pt x="273" y="24"/>
                    <a:pt x="176" y="42"/>
                    <a:pt x="116" y="84"/>
                  </a:cubicBezTo>
                  <a:cubicBezTo>
                    <a:pt x="42" y="121"/>
                    <a:pt x="24" y="176"/>
                    <a:pt x="24" y="218"/>
                  </a:cubicBezTo>
                  <a:cubicBezTo>
                    <a:pt x="1" y="255"/>
                    <a:pt x="24" y="315"/>
                    <a:pt x="24" y="352"/>
                  </a:cubicBezTo>
                  <a:cubicBezTo>
                    <a:pt x="42" y="407"/>
                    <a:pt x="42" y="467"/>
                    <a:pt x="79" y="504"/>
                  </a:cubicBezTo>
                  <a:cubicBezTo>
                    <a:pt x="79" y="546"/>
                    <a:pt x="98" y="564"/>
                    <a:pt x="116" y="564"/>
                  </a:cubicBezTo>
                  <a:cubicBezTo>
                    <a:pt x="158" y="583"/>
                    <a:pt x="176" y="583"/>
                    <a:pt x="195" y="583"/>
                  </a:cubicBezTo>
                  <a:cubicBezTo>
                    <a:pt x="232" y="564"/>
                    <a:pt x="255" y="546"/>
                    <a:pt x="255" y="546"/>
                  </a:cubicBezTo>
                  <a:lnTo>
                    <a:pt x="232" y="546"/>
                  </a:lnTo>
                  <a:cubicBezTo>
                    <a:pt x="329" y="486"/>
                    <a:pt x="444" y="449"/>
                    <a:pt x="541" y="449"/>
                  </a:cubicBezTo>
                  <a:cubicBezTo>
                    <a:pt x="570" y="443"/>
                    <a:pt x="598" y="441"/>
                    <a:pt x="625" y="441"/>
                  </a:cubicBezTo>
                  <a:cubicBezTo>
                    <a:pt x="690" y="441"/>
                    <a:pt x="746" y="454"/>
                    <a:pt x="772" y="467"/>
                  </a:cubicBezTo>
                  <a:cubicBezTo>
                    <a:pt x="833" y="504"/>
                    <a:pt x="888" y="546"/>
                    <a:pt x="948" y="583"/>
                  </a:cubicBezTo>
                  <a:cubicBezTo>
                    <a:pt x="967" y="583"/>
                    <a:pt x="985" y="601"/>
                    <a:pt x="1003" y="601"/>
                  </a:cubicBezTo>
                  <a:cubicBezTo>
                    <a:pt x="1022" y="611"/>
                    <a:pt x="1037" y="615"/>
                    <a:pt x="1052" y="615"/>
                  </a:cubicBezTo>
                  <a:cubicBezTo>
                    <a:pt x="1067" y="615"/>
                    <a:pt x="1082" y="611"/>
                    <a:pt x="1101" y="601"/>
                  </a:cubicBezTo>
                  <a:cubicBezTo>
                    <a:pt x="1119" y="583"/>
                    <a:pt x="1137" y="564"/>
                    <a:pt x="1156" y="546"/>
                  </a:cubicBezTo>
                  <a:cubicBezTo>
                    <a:pt x="1179" y="504"/>
                    <a:pt x="1179" y="486"/>
                    <a:pt x="1198" y="449"/>
                  </a:cubicBezTo>
                  <a:cubicBezTo>
                    <a:pt x="1198" y="407"/>
                    <a:pt x="1216" y="370"/>
                    <a:pt x="1216" y="352"/>
                  </a:cubicBezTo>
                  <a:lnTo>
                    <a:pt x="1216" y="255"/>
                  </a:lnTo>
                  <a:cubicBezTo>
                    <a:pt x="1198" y="218"/>
                    <a:pt x="1156" y="199"/>
                    <a:pt x="1119" y="158"/>
                  </a:cubicBezTo>
                  <a:cubicBezTo>
                    <a:pt x="1082" y="139"/>
                    <a:pt x="1022" y="102"/>
                    <a:pt x="967" y="84"/>
                  </a:cubicBezTo>
                  <a:cubicBezTo>
                    <a:pt x="856" y="34"/>
                    <a:pt x="730" y="0"/>
                    <a:pt x="57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6684104" y="1218170"/>
              <a:ext cx="142158" cy="69165"/>
            </a:xfrm>
            <a:custGeom>
              <a:avLst/>
              <a:gdLst/>
              <a:ahLst/>
              <a:cxnLst/>
              <a:rect l="l" t="t" r="r" b="b"/>
              <a:pathLst>
                <a:path w="1040" h="506" extrusionOk="0">
                  <a:moveTo>
                    <a:pt x="454" y="0"/>
                  </a:moveTo>
                  <a:cubicBezTo>
                    <a:pt x="437" y="0"/>
                    <a:pt x="420" y="1"/>
                    <a:pt x="402" y="2"/>
                  </a:cubicBezTo>
                  <a:cubicBezTo>
                    <a:pt x="134" y="2"/>
                    <a:pt x="19" y="136"/>
                    <a:pt x="0" y="196"/>
                  </a:cubicBezTo>
                  <a:cubicBezTo>
                    <a:pt x="0" y="233"/>
                    <a:pt x="19" y="446"/>
                    <a:pt x="97" y="483"/>
                  </a:cubicBezTo>
                  <a:cubicBezTo>
                    <a:pt x="109" y="491"/>
                    <a:pt x="122" y="495"/>
                    <a:pt x="136" y="495"/>
                  </a:cubicBezTo>
                  <a:cubicBezTo>
                    <a:pt x="189" y="495"/>
                    <a:pt x="250" y="446"/>
                    <a:pt x="250" y="446"/>
                  </a:cubicBezTo>
                  <a:cubicBezTo>
                    <a:pt x="322" y="385"/>
                    <a:pt x="434" y="355"/>
                    <a:pt x="535" y="355"/>
                  </a:cubicBezTo>
                  <a:cubicBezTo>
                    <a:pt x="594" y="355"/>
                    <a:pt x="650" y="365"/>
                    <a:pt x="693" y="386"/>
                  </a:cubicBezTo>
                  <a:cubicBezTo>
                    <a:pt x="795" y="438"/>
                    <a:pt x="896" y="505"/>
                    <a:pt x="957" y="505"/>
                  </a:cubicBezTo>
                  <a:cubicBezTo>
                    <a:pt x="965" y="505"/>
                    <a:pt x="973" y="504"/>
                    <a:pt x="980" y="501"/>
                  </a:cubicBezTo>
                  <a:cubicBezTo>
                    <a:pt x="1040" y="483"/>
                    <a:pt x="998" y="252"/>
                    <a:pt x="961" y="178"/>
                  </a:cubicBezTo>
                  <a:cubicBezTo>
                    <a:pt x="944" y="122"/>
                    <a:pt x="708" y="0"/>
                    <a:pt x="454" y="0"/>
                  </a:cubicBezTo>
                  <a:close/>
                </a:path>
              </a:pathLst>
            </a:custGeom>
            <a:solidFill>
              <a:srgbClr val="FF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6675902" y="1210789"/>
              <a:ext cx="152956" cy="84201"/>
            </a:xfrm>
            <a:custGeom>
              <a:avLst/>
              <a:gdLst/>
              <a:ahLst/>
              <a:cxnLst/>
              <a:rect l="l" t="t" r="r" b="b"/>
              <a:pathLst>
                <a:path w="1119" h="616" extrusionOk="0">
                  <a:moveTo>
                    <a:pt x="462" y="93"/>
                  </a:moveTo>
                  <a:cubicBezTo>
                    <a:pt x="578" y="93"/>
                    <a:pt x="712" y="116"/>
                    <a:pt x="809" y="153"/>
                  </a:cubicBezTo>
                  <a:cubicBezTo>
                    <a:pt x="869" y="172"/>
                    <a:pt x="906" y="209"/>
                    <a:pt x="943" y="232"/>
                  </a:cubicBezTo>
                  <a:cubicBezTo>
                    <a:pt x="966" y="250"/>
                    <a:pt x="984" y="269"/>
                    <a:pt x="984" y="269"/>
                  </a:cubicBezTo>
                  <a:cubicBezTo>
                    <a:pt x="1003" y="269"/>
                    <a:pt x="1003" y="347"/>
                    <a:pt x="1021" y="421"/>
                  </a:cubicBezTo>
                  <a:lnTo>
                    <a:pt x="1021" y="500"/>
                  </a:lnTo>
                  <a:lnTo>
                    <a:pt x="1003" y="500"/>
                  </a:lnTo>
                  <a:cubicBezTo>
                    <a:pt x="984" y="500"/>
                    <a:pt x="966" y="500"/>
                    <a:pt x="943" y="481"/>
                  </a:cubicBezTo>
                  <a:cubicBezTo>
                    <a:pt x="887" y="463"/>
                    <a:pt x="827" y="421"/>
                    <a:pt x="772" y="403"/>
                  </a:cubicBezTo>
                  <a:cubicBezTo>
                    <a:pt x="714" y="376"/>
                    <a:pt x="659" y="359"/>
                    <a:pt x="596" y="359"/>
                  </a:cubicBezTo>
                  <a:cubicBezTo>
                    <a:pt x="573" y="359"/>
                    <a:pt x="548" y="361"/>
                    <a:pt x="522" y="366"/>
                  </a:cubicBezTo>
                  <a:cubicBezTo>
                    <a:pt x="425" y="366"/>
                    <a:pt x="347" y="384"/>
                    <a:pt x="273" y="440"/>
                  </a:cubicBezTo>
                  <a:lnTo>
                    <a:pt x="273" y="463"/>
                  </a:lnTo>
                  <a:cubicBezTo>
                    <a:pt x="273" y="463"/>
                    <a:pt x="250" y="463"/>
                    <a:pt x="231" y="481"/>
                  </a:cubicBezTo>
                  <a:cubicBezTo>
                    <a:pt x="213" y="500"/>
                    <a:pt x="194" y="500"/>
                    <a:pt x="176" y="500"/>
                  </a:cubicBezTo>
                  <a:cubicBezTo>
                    <a:pt x="176" y="481"/>
                    <a:pt x="157" y="481"/>
                    <a:pt x="157" y="463"/>
                  </a:cubicBezTo>
                  <a:cubicBezTo>
                    <a:pt x="134" y="440"/>
                    <a:pt x="134" y="403"/>
                    <a:pt x="134" y="384"/>
                  </a:cubicBezTo>
                  <a:cubicBezTo>
                    <a:pt x="116" y="347"/>
                    <a:pt x="116" y="324"/>
                    <a:pt x="116" y="306"/>
                  </a:cubicBezTo>
                  <a:lnTo>
                    <a:pt x="116" y="250"/>
                  </a:lnTo>
                  <a:lnTo>
                    <a:pt x="134" y="232"/>
                  </a:lnTo>
                  <a:cubicBezTo>
                    <a:pt x="134" y="209"/>
                    <a:pt x="157" y="190"/>
                    <a:pt x="194" y="172"/>
                  </a:cubicBezTo>
                  <a:cubicBezTo>
                    <a:pt x="250" y="153"/>
                    <a:pt x="328" y="116"/>
                    <a:pt x="462" y="93"/>
                  </a:cubicBezTo>
                  <a:close/>
                  <a:moveTo>
                    <a:pt x="462" y="1"/>
                  </a:moveTo>
                  <a:cubicBezTo>
                    <a:pt x="310" y="1"/>
                    <a:pt x="213" y="38"/>
                    <a:pt x="134" y="93"/>
                  </a:cubicBezTo>
                  <a:cubicBezTo>
                    <a:pt x="97" y="116"/>
                    <a:pt x="79" y="135"/>
                    <a:pt x="60" y="153"/>
                  </a:cubicBezTo>
                  <a:cubicBezTo>
                    <a:pt x="42" y="190"/>
                    <a:pt x="19" y="209"/>
                    <a:pt x="19" y="232"/>
                  </a:cubicBezTo>
                  <a:cubicBezTo>
                    <a:pt x="0" y="250"/>
                    <a:pt x="0" y="287"/>
                    <a:pt x="0" y="306"/>
                  </a:cubicBezTo>
                  <a:cubicBezTo>
                    <a:pt x="19" y="347"/>
                    <a:pt x="19" y="366"/>
                    <a:pt x="19" y="403"/>
                  </a:cubicBezTo>
                  <a:cubicBezTo>
                    <a:pt x="42" y="440"/>
                    <a:pt x="42" y="481"/>
                    <a:pt x="60" y="500"/>
                  </a:cubicBezTo>
                  <a:cubicBezTo>
                    <a:pt x="79" y="537"/>
                    <a:pt x="97" y="555"/>
                    <a:pt x="116" y="578"/>
                  </a:cubicBezTo>
                  <a:cubicBezTo>
                    <a:pt x="141" y="594"/>
                    <a:pt x="166" y="600"/>
                    <a:pt x="189" y="600"/>
                  </a:cubicBezTo>
                  <a:cubicBezTo>
                    <a:pt x="220" y="600"/>
                    <a:pt x="249" y="589"/>
                    <a:pt x="273" y="578"/>
                  </a:cubicBezTo>
                  <a:cubicBezTo>
                    <a:pt x="310" y="555"/>
                    <a:pt x="328" y="537"/>
                    <a:pt x="347" y="537"/>
                  </a:cubicBezTo>
                  <a:cubicBezTo>
                    <a:pt x="388" y="500"/>
                    <a:pt x="462" y="463"/>
                    <a:pt x="522" y="463"/>
                  </a:cubicBezTo>
                  <a:cubicBezTo>
                    <a:pt x="596" y="463"/>
                    <a:pt x="675" y="463"/>
                    <a:pt x="735" y="500"/>
                  </a:cubicBezTo>
                  <a:cubicBezTo>
                    <a:pt x="790" y="518"/>
                    <a:pt x="850" y="555"/>
                    <a:pt x="887" y="578"/>
                  </a:cubicBezTo>
                  <a:cubicBezTo>
                    <a:pt x="924" y="597"/>
                    <a:pt x="943" y="597"/>
                    <a:pt x="984" y="615"/>
                  </a:cubicBezTo>
                  <a:lnTo>
                    <a:pt x="1058" y="615"/>
                  </a:lnTo>
                  <a:cubicBezTo>
                    <a:pt x="1081" y="597"/>
                    <a:pt x="1100" y="578"/>
                    <a:pt x="1100" y="555"/>
                  </a:cubicBezTo>
                  <a:cubicBezTo>
                    <a:pt x="1118" y="555"/>
                    <a:pt x="1118" y="537"/>
                    <a:pt x="1118" y="518"/>
                  </a:cubicBezTo>
                  <a:lnTo>
                    <a:pt x="1118" y="403"/>
                  </a:lnTo>
                  <a:cubicBezTo>
                    <a:pt x="1118" y="347"/>
                    <a:pt x="1100" y="269"/>
                    <a:pt x="1081" y="209"/>
                  </a:cubicBezTo>
                  <a:cubicBezTo>
                    <a:pt x="1058" y="172"/>
                    <a:pt x="1021" y="153"/>
                    <a:pt x="984" y="135"/>
                  </a:cubicBezTo>
                  <a:cubicBezTo>
                    <a:pt x="966" y="116"/>
                    <a:pt x="906" y="75"/>
                    <a:pt x="850" y="56"/>
                  </a:cubicBezTo>
                  <a:cubicBezTo>
                    <a:pt x="735" y="19"/>
                    <a:pt x="596" y="1"/>
                    <a:pt x="46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6384068" y="1353084"/>
              <a:ext cx="76000" cy="24057"/>
            </a:xfrm>
            <a:custGeom>
              <a:avLst/>
              <a:gdLst/>
              <a:ahLst/>
              <a:cxnLst/>
              <a:rect l="l" t="t" r="r" b="b"/>
              <a:pathLst>
                <a:path w="556" h="176" extrusionOk="0">
                  <a:moveTo>
                    <a:pt x="391" y="1"/>
                  </a:moveTo>
                  <a:cubicBezTo>
                    <a:pt x="329" y="1"/>
                    <a:pt x="267" y="22"/>
                    <a:pt x="213" y="55"/>
                  </a:cubicBezTo>
                  <a:cubicBezTo>
                    <a:pt x="172" y="80"/>
                    <a:pt x="128" y="87"/>
                    <a:pt x="91" y="87"/>
                  </a:cubicBezTo>
                  <a:cubicBezTo>
                    <a:pt x="39" y="87"/>
                    <a:pt x="0" y="73"/>
                    <a:pt x="0" y="73"/>
                  </a:cubicBezTo>
                  <a:lnTo>
                    <a:pt x="0" y="73"/>
                  </a:lnTo>
                  <a:cubicBezTo>
                    <a:pt x="0" y="73"/>
                    <a:pt x="0" y="133"/>
                    <a:pt x="56" y="170"/>
                  </a:cubicBezTo>
                  <a:cubicBezTo>
                    <a:pt x="71" y="174"/>
                    <a:pt x="85" y="175"/>
                    <a:pt x="99" y="175"/>
                  </a:cubicBezTo>
                  <a:cubicBezTo>
                    <a:pt x="156" y="175"/>
                    <a:pt x="205" y="148"/>
                    <a:pt x="268" y="133"/>
                  </a:cubicBezTo>
                  <a:cubicBezTo>
                    <a:pt x="288" y="130"/>
                    <a:pt x="303" y="128"/>
                    <a:pt x="317" y="128"/>
                  </a:cubicBezTo>
                  <a:cubicBezTo>
                    <a:pt x="369" y="128"/>
                    <a:pt x="385" y="152"/>
                    <a:pt x="463" y="152"/>
                  </a:cubicBezTo>
                  <a:cubicBezTo>
                    <a:pt x="469" y="153"/>
                    <a:pt x="475" y="154"/>
                    <a:pt x="480" y="154"/>
                  </a:cubicBezTo>
                  <a:cubicBezTo>
                    <a:pt x="540" y="154"/>
                    <a:pt x="556" y="70"/>
                    <a:pt x="518" y="36"/>
                  </a:cubicBezTo>
                  <a:cubicBezTo>
                    <a:pt x="478" y="11"/>
                    <a:pt x="435" y="1"/>
                    <a:pt x="3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6765571" y="1352947"/>
              <a:ext cx="65748" cy="21324"/>
            </a:xfrm>
            <a:custGeom>
              <a:avLst/>
              <a:gdLst/>
              <a:ahLst/>
              <a:cxnLst/>
              <a:rect l="l" t="t" r="r" b="b"/>
              <a:pathLst>
                <a:path w="481" h="156" extrusionOk="0">
                  <a:moveTo>
                    <a:pt x="37" y="0"/>
                  </a:moveTo>
                  <a:cubicBezTo>
                    <a:pt x="19" y="19"/>
                    <a:pt x="0" y="74"/>
                    <a:pt x="37" y="116"/>
                  </a:cubicBezTo>
                  <a:cubicBezTo>
                    <a:pt x="45" y="119"/>
                    <a:pt x="50" y="121"/>
                    <a:pt x="55" y="121"/>
                  </a:cubicBezTo>
                  <a:cubicBezTo>
                    <a:pt x="74" y="121"/>
                    <a:pt x="73" y="93"/>
                    <a:pt x="153" y="93"/>
                  </a:cubicBezTo>
                  <a:cubicBezTo>
                    <a:pt x="240" y="93"/>
                    <a:pt x="249" y="156"/>
                    <a:pt x="332" y="156"/>
                  </a:cubicBezTo>
                  <a:cubicBezTo>
                    <a:pt x="342" y="156"/>
                    <a:pt x="353" y="155"/>
                    <a:pt x="365" y="153"/>
                  </a:cubicBezTo>
                  <a:cubicBezTo>
                    <a:pt x="462" y="134"/>
                    <a:pt x="481" y="19"/>
                    <a:pt x="481" y="19"/>
                  </a:cubicBezTo>
                  <a:lnTo>
                    <a:pt x="481" y="19"/>
                  </a:lnTo>
                  <a:cubicBezTo>
                    <a:pt x="481" y="19"/>
                    <a:pt x="419" y="66"/>
                    <a:pt x="356" y="66"/>
                  </a:cubicBezTo>
                  <a:cubicBezTo>
                    <a:pt x="340" y="66"/>
                    <a:pt x="325" y="63"/>
                    <a:pt x="310" y="56"/>
                  </a:cubicBezTo>
                  <a:cubicBezTo>
                    <a:pt x="231" y="0"/>
                    <a:pt x="153" y="0"/>
                    <a:pt x="37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9"/>
          <p:cNvGrpSpPr/>
          <p:nvPr/>
        </p:nvGrpSpPr>
        <p:grpSpPr>
          <a:xfrm>
            <a:off x="281250" y="281700"/>
            <a:ext cx="8581500" cy="4580100"/>
            <a:chOff x="281250" y="281700"/>
            <a:chExt cx="8581500" cy="4580100"/>
          </a:xfrm>
        </p:grpSpPr>
        <p:sp>
          <p:nvSpPr>
            <p:cNvPr id="459" name="Google Shape;459;p29"/>
            <p:cNvSpPr/>
            <p:nvPr/>
          </p:nvSpPr>
          <p:spPr>
            <a:xfrm>
              <a:off x="281250" y="281700"/>
              <a:ext cx="8581500" cy="4580100"/>
            </a:xfrm>
            <a:prstGeom prst="roundRect">
              <a:avLst>
                <a:gd name="adj" fmla="val 2793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" name="Google Shape;460;p29"/>
            <p:cNvGrpSpPr/>
            <p:nvPr/>
          </p:nvGrpSpPr>
          <p:grpSpPr>
            <a:xfrm>
              <a:off x="517475" y="382105"/>
              <a:ext cx="400500" cy="95700"/>
              <a:chOff x="517475" y="395577"/>
              <a:chExt cx="400500" cy="95700"/>
            </a:xfrm>
          </p:grpSpPr>
          <p:sp>
            <p:nvSpPr>
              <p:cNvPr id="461" name="Google Shape;461;p29"/>
              <p:cNvSpPr/>
              <p:nvPr/>
            </p:nvSpPr>
            <p:spPr>
              <a:xfrm>
                <a:off x="5174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9"/>
              <p:cNvSpPr/>
              <p:nvPr/>
            </p:nvSpPr>
            <p:spPr>
              <a:xfrm>
                <a:off x="6698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822275" y="395577"/>
                <a:ext cx="95700" cy="95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4" name="Google Shape;464;p29"/>
            <p:cNvSpPr/>
            <p:nvPr/>
          </p:nvSpPr>
          <p:spPr>
            <a:xfrm>
              <a:off x="7552875" y="357952"/>
              <a:ext cx="1159200" cy="148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5" name="Google Shape;465;p29"/>
            <p:cNvCxnSpPr/>
            <p:nvPr/>
          </p:nvCxnSpPr>
          <p:spPr>
            <a:xfrm>
              <a:off x="283350" y="574700"/>
              <a:ext cx="857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6" name="Google Shape;466;p29"/>
          <p:cNvGrpSpPr/>
          <p:nvPr/>
        </p:nvGrpSpPr>
        <p:grpSpPr>
          <a:xfrm flipH="1">
            <a:off x="7258295" y="2477759"/>
            <a:ext cx="1172483" cy="2130823"/>
            <a:chOff x="1403000" y="292300"/>
            <a:chExt cx="2566732" cy="4664675"/>
          </a:xfrm>
        </p:grpSpPr>
        <p:sp>
          <p:nvSpPr>
            <p:cNvPr id="467" name="Google Shape;467;p29"/>
            <p:cNvSpPr/>
            <p:nvPr/>
          </p:nvSpPr>
          <p:spPr>
            <a:xfrm>
              <a:off x="2576566" y="4571564"/>
              <a:ext cx="1035537" cy="363600"/>
            </a:xfrm>
            <a:custGeom>
              <a:avLst/>
              <a:gdLst/>
              <a:ahLst/>
              <a:cxnLst/>
              <a:rect l="l" t="t" r="r" b="b"/>
              <a:pathLst>
                <a:path w="3466" h="1217" extrusionOk="0">
                  <a:moveTo>
                    <a:pt x="1483" y="1"/>
                  </a:moveTo>
                  <a:cubicBezTo>
                    <a:pt x="1349" y="1"/>
                    <a:pt x="1252" y="98"/>
                    <a:pt x="1252" y="232"/>
                  </a:cubicBezTo>
                  <a:lnTo>
                    <a:pt x="1252" y="366"/>
                  </a:lnTo>
                  <a:lnTo>
                    <a:pt x="0" y="597"/>
                  </a:lnTo>
                  <a:lnTo>
                    <a:pt x="97" y="1216"/>
                  </a:lnTo>
                  <a:lnTo>
                    <a:pt x="3294" y="615"/>
                  </a:lnTo>
                  <a:cubicBezTo>
                    <a:pt x="3392" y="597"/>
                    <a:pt x="3465" y="500"/>
                    <a:pt x="3465" y="384"/>
                  </a:cubicBezTo>
                  <a:lnTo>
                    <a:pt x="3465" y="232"/>
                  </a:lnTo>
                  <a:cubicBezTo>
                    <a:pt x="3465" y="98"/>
                    <a:pt x="3350" y="1"/>
                    <a:pt x="32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2559834" y="4555132"/>
              <a:ext cx="1070194" cy="396464"/>
            </a:xfrm>
            <a:custGeom>
              <a:avLst/>
              <a:gdLst/>
              <a:ahLst/>
              <a:cxnLst/>
              <a:rect l="l" t="t" r="r" b="b"/>
              <a:pathLst>
                <a:path w="3582" h="1327" extrusionOk="0">
                  <a:moveTo>
                    <a:pt x="3272" y="93"/>
                  </a:moveTo>
                  <a:cubicBezTo>
                    <a:pt x="3387" y="93"/>
                    <a:pt x="3484" y="190"/>
                    <a:pt x="3484" y="287"/>
                  </a:cubicBezTo>
                  <a:lnTo>
                    <a:pt x="3484" y="439"/>
                  </a:lnTo>
                  <a:cubicBezTo>
                    <a:pt x="3484" y="536"/>
                    <a:pt x="3424" y="615"/>
                    <a:pt x="3332" y="633"/>
                  </a:cubicBezTo>
                  <a:lnTo>
                    <a:pt x="3290" y="633"/>
                  </a:lnTo>
                  <a:lnTo>
                    <a:pt x="190" y="1211"/>
                  </a:lnTo>
                  <a:lnTo>
                    <a:pt x="116" y="693"/>
                  </a:lnTo>
                  <a:lnTo>
                    <a:pt x="1345" y="462"/>
                  </a:lnTo>
                  <a:lnTo>
                    <a:pt x="1345" y="287"/>
                  </a:lnTo>
                  <a:cubicBezTo>
                    <a:pt x="1345" y="190"/>
                    <a:pt x="1442" y="93"/>
                    <a:pt x="1539" y="93"/>
                  </a:cubicBezTo>
                  <a:close/>
                  <a:moveTo>
                    <a:pt x="1539" y="0"/>
                  </a:moveTo>
                  <a:cubicBezTo>
                    <a:pt x="1387" y="0"/>
                    <a:pt x="1253" y="134"/>
                    <a:pt x="1253" y="287"/>
                  </a:cubicBezTo>
                  <a:lnTo>
                    <a:pt x="1253" y="384"/>
                  </a:lnTo>
                  <a:lnTo>
                    <a:pt x="1" y="615"/>
                  </a:lnTo>
                  <a:lnTo>
                    <a:pt x="116" y="1326"/>
                  </a:lnTo>
                  <a:lnTo>
                    <a:pt x="3406" y="712"/>
                  </a:lnTo>
                  <a:lnTo>
                    <a:pt x="3406" y="670"/>
                  </a:lnTo>
                  <a:cubicBezTo>
                    <a:pt x="3484" y="633"/>
                    <a:pt x="3581" y="555"/>
                    <a:pt x="3581" y="439"/>
                  </a:cubicBezTo>
                  <a:lnTo>
                    <a:pt x="3581" y="287"/>
                  </a:lnTo>
                  <a:cubicBezTo>
                    <a:pt x="3581" y="134"/>
                    <a:pt x="3448" y="0"/>
                    <a:pt x="327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029818" y="2933116"/>
              <a:ext cx="87241" cy="1880443"/>
            </a:xfrm>
            <a:custGeom>
              <a:avLst/>
              <a:gdLst/>
              <a:ahLst/>
              <a:cxnLst/>
              <a:rect l="l" t="t" r="r" b="b"/>
              <a:pathLst>
                <a:path w="292" h="6294" extrusionOk="0">
                  <a:moveTo>
                    <a:pt x="116" y="0"/>
                  </a:moveTo>
                  <a:cubicBezTo>
                    <a:pt x="42" y="0"/>
                    <a:pt x="0" y="37"/>
                    <a:pt x="0" y="116"/>
                  </a:cubicBezTo>
                  <a:lnTo>
                    <a:pt x="0" y="6159"/>
                  </a:lnTo>
                  <a:cubicBezTo>
                    <a:pt x="0" y="6238"/>
                    <a:pt x="42" y="6293"/>
                    <a:pt x="116" y="6293"/>
                  </a:cubicBezTo>
                  <a:lnTo>
                    <a:pt x="291" y="6293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2013087" y="2915190"/>
              <a:ext cx="120404" cy="1909423"/>
            </a:xfrm>
            <a:custGeom>
              <a:avLst/>
              <a:gdLst/>
              <a:ahLst/>
              <a:cxnLst/>
              <a:rect l="l" t="t" r="r" b="b"/>
              <a:pathLst>
                <a:path w="403" h="6391" extrusionOk="0">
                  <a:moveTo>
                    <a:pt x="310" y="97"/>
                  </a:moveTo>
                  <a:lnTo>
                    <a:pt x="310" y="6298"/>
                  </a:lnTo>
                  <a:lnTo>
                    <a:pt x="172" y="6298"/>
                  </a:lnTo>
                  <a:cubicBezTo>
                    <a:pt x="135" y="6298"/>
                    <a:pt x="98" y="6256"/>
                    <a:pt x="98" y="6219"/>
                  </a:cubicBezTo>
                  <a:lnTo>
                    <a:pt x="98" y="176"/>
                  </a:lnTo>
                  <a:cubicBezTo>
                    <a:pt x="98" y="134"/>
                    <a:pt x="135" y="97"/>
                    <a:pt x="172" y="97"/>
                  </a:cubicBezTo>
                  <a:close/>
                  <a:moveTo>
                    <a:pt x="172" y="0"/>
                  </a:moveTo>
                  <a:cubicBezTo>
                    <a:pt x="79" y="0"/>
                    <a:pt x="1" y="79"/>
                    <a:pt x="1" y="176"/>
                  </a:cubicBezTo>
                  <a:lnTo>
                    <a:pt x="1" y="6219"/>
                  </a:lnTo>
                  <a:cubicBezTo>
                    <a:pt x="1" y="6316"/>
                    <a:pt x="79" y="6390"/>
                    <a:pt x="172" y="6390"/>
                  </a:cubicBezTo>
                  <a:lnTo>
                    <a:pt x="403" y="639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2098834" y="2926245"/>
              <a:ext cx="921108" cy="1887314"/>
            </a:xfrm>
            <a:custGeom>
              <a:avLst/>
              <a:gdLst/>
              <a:ahLst/>
              <a:cxnLst/>
              <a:rect l="l" t="t" r="r" b="b"/>
              <a:pathLst>
                <a:path w="3083" h="6317" extrusionOk="0">
                  <a:moveTo>
                    <a:pt x="116" y="0"/>
                  </a:moveTo>
                  <a:cubicBezTo>
                    <a:pt x="60" y="0"/>
                    <a:pt x="0" y="60"/>
                    <a:pt x="0" y="116"/>
                  </a:cubicBezTo>
                  <a:lnTo>
                    <a:pt x="0" y="6201"/>
                  </a:lnTo>
                  <a:cubicBezTo>
                    <a:pt x="0" y="6279"/>
                    <a:pt x="60" y="6316"/>
                    <a:pt x="116" y="6316"/>
                  </a:cubicBezTo>
                  <a:lnTo>
                    <a:pt x="2985" y="5757"/>
                  </a:lnTo>
                  <a:cubicBezTo>
                    <a:pt x="3045" y="5757"/>
                    <a:pt x="3082" y="5702"/>
                    <a:pt x="3082" y="5642"/>
                  </a:cubicBezTo>
                  <a:lnTo>
                    <a:pt x="3082" y="485"/>
                  </a:lnTo>
                  <a:cubicBezTo>
                    <a:pt x="3082" y="425"/>
                    <a:pt x="3045" y="370"/>
                    <a:pt x="2985" y="370"/>
                  </a:cubicBezTo>
                  <a:lnTo>
                    <a:pt x="1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2082102" y="2914294"/>
              <a:ext cx="948894" cy="1913008"/>
            </a:xfrm>
            <a:custGeom>
              <a:avLst/>
              <a:gdLst/>
              <a:ahLst/>
              <a:cxnLst/>
              <a:rect l="l" t="t" r="r" b="b"/>
              <a:pathLst>
                <a:path w="3176" h="6403" extrusionOk="0">
                  <a:moveTo>
                    <a:pt x="172" y="100"/>
                  </a:moveTo>
                  <a:lnTo>
                    <a:pt x="3041" y="447"/>
                  </a:lnTo>
                  <a:cubicBezTo>
                    <a:pt x="3060" y="447"/>
                    <a:pt x="3083" y="484"/>
                    <a:pt x="3083" y="525"/>
                  </a:cubicBezTo>
                  <a:lnTo>
                    <a:pt x="3083" y="5682"/>
                  </a:lnTo>
                  <a:cubicBezTo>
                    <a:pt x="3083" y="5723"/>
                    <a:pt x="3060" y="5760"/>
                    <a:pt x="3041" y="5760"/>
                  </a:cubicBezTo>
                  <a:lnTo>
                    <a:pt x="153" y="6301"/>
                  </a:lnTo>
                  <a:lnTo>
                    <a:pt x="116" y="6301"/>
                  </a:lnTo>
                  <a:cubicBezTo>
                    <a:pt x="116" y="6278"/>
                    <a:pt x="98" y="6259"/>
                    <a:pt x="98" y="6241"/>
                  </a:cubicBezTo>
                  <a:lnTo>
                    <a:pt x="98" y="156"/>
                  </a:lnTo>
                  <a:cubicBezTo>
                    <a:pt x="98" y="119"/>
                    <a:pt x="135" y="100"/>
                    <a:pt x="172" y="100"/>
                  </a:cubicBezTo>
                  <a:close/>
                  <a:moveTo>
                    <a:pt x="149" y="0"/>
                  </a:moveTo>
                  <a:cubicBezTo>
                    <a:pt x="80" y="0"/>
                    <a:pt x="1" y="72"/>
                    <a:pt x="1" y="156"/>
                  </a:cubicBezTo>
                  <a:lnTo>
                    <a:pt x="1" y="6241"/>
                  </a:lnTo>
                  <a:cubicBezTo>
                    <a:pt x="1" y="6301"/>
                    <a:pt x="19" y="6338"/>
                    <a:pt x="56" y="6356"/>
                  </a:cubicBezTo>
                  <a:cubicBezTo>
                    <a:pt x="86" y="6383"/>
                    <a:pt x="114" y="6403"/>
                    <a:pt x="141" y="6403"/>
                  </a:cubicBezTo>
                  <a:cubicBezTo>
                    <a:pt x="151" y="6403"/>
                    <a:pt x="162" y="6400"/>
                    <a:pt x="172" y="6393"/>
                  </a:cubicBezTo>
                  <a:lnTo>
                    <a:pt x="3060" y="5857"/>
                  </a:lnTo>
                  <a:cubicBezTo>
                    <a:pt x="3138" y="5839"/>
                    <a:pt x="3175" y="5760"/>
                    <a:pt x="3175" y="5682"/>
                  </a:cubicBezTo>
                  <a:lnTo>
                    <a:pt x="3175" y="525"/>
                  </a:lnTo>
                  <a:cubicBezTo>
                    <a:pt x="3175" y="447"/>
                    <a:pt x="3138" y="368"/>
                    <a:pt x="3060" y="350"/>
                  </a:cubicBezTo>
                  <a:lnTo>
                    <a:pt x="172" y="3"/>
                  </a:lnTo>
                  <a:cubicBezTo>
                    <a:pt x="164" y="1"/>
                    <a:pt x="157" y="0"/>
                    <a:pt x="149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1415548" y="735374"/>
              <a:ext cx="183744" cy="3773135"/>
            </a:xfrm>
            <a:custGeom>
              <a:avLst/>
              <a:gdLst/>
              <a:ahLst/>
              <a:cxnLst/>
              <a:rect l="l" t="t" r="r" b="b"/>
              <a:pathLst>
                <a:path w="615" h="12629" extrusionOk="0">
                  <a:moveTo>
                    <a:pt x="250" y="0"/>
                  </a:moveTo>
                  <a:cubicBezTo>
                    <a:pt x="116" y="0"/>
                    <a:pt x="0" y="97"/>
                    <a:pt x="0" y="231"/>
                  </a:cubicBezTo>
                  <a:lnTo>
                    <a:pt x="0" y="12397"/>
                  </a:lnTo>
                  <a:cubicBezTo>
                    <a:pt x="0" y="12531"/>
                    <a:pt x="116" y="12628"/>
                    <a:pt x="250" y="12628"/>
                  </a:cubicBezTo>
                  <a:lnTo>
                    <a:pt x="615" y="12628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1403000" y="717448"/>
              <a:ext cx="207346" cy="3808987"/>
            </a:xfrm>
            <a:custGeom>
              <a:avLst/>
              <a:gdLst/>
              <a:ahLst/>
              <a:cxnLst/>
              <a:rect l="l" t="t" r="r" b="b"/>
              <a:pathLst>
                <a:path w="694" h="12749" extrusionOk="0">
                  <a:moveTo>
                    <a:pt x="597" y="97"/>
                  </a:moveTo>
                  <a:lnTo>
                    <a:pt x="597" y="12651"/>
                  </a:lnTo>
                  <a:lnTo>
                    <a:pt x="292" y="12651"/>
                  </a:lnTo>
                  <a:cubicBezTo>
                    <a:pt x="176" y="12651"/>
                    <a:pt x="98" y="12554"/>
                    <a:pt x="98" y="12457"/>
                  </a:cubicBezTo>
                  <a:lnTo>
                    <a:pt x="98" y="291"/>
                  </a:lnTo>
                  <a:cubicBezTo>
                    <a:pt x="98" y="194"/>
                    <a:pt x="176" y="97"/>
                    <a:pt x="292" y="97"/>
                  </a:cubicBezTo>
                  <a:close/>
                  <a:moveTo>
                    <a:pt x="292" y="0"/>
                  </a:moveTo>
                  <a:cubicBezTo>
                    <a:pt x="116" y="0"/>
                    <a:pt x="1" y="139"/>
                    <a:pt x="1" y="291"/>
                  </a:cubicBezTo>
                  <a:lnTo>
                    <a:pt x="1" y="12457"/>
                  </a:lnTo>
                  <a:cubicBezTo>
                    <a:pt x="1" y="12614"/>
                    <a:pt x="116" y="12748"/>
                    <a:pt x="292" y="12748"/>
                  </a:cubicBezTo>
                  <a:lnTo>
                    <a:pt x="694" y="12748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1558958" y="729697"/>
              <a:ext cx="2024167" cy="3785384"/>
            </a:xfrm>
            <a:custGeom>
              <a:avLst/>
              <a:gdLst/>
              <a:ahLst/>
              <a:cxnLst/>
              <a:rect l="l" t="t" r="r" b="b"/>
              <a:pathLst>
                <a:path w="6775" h="12670" extrusionOk="0">
                  <a:moveTo>
                    <a:pt x="250" y="1"/>
                  </a:moveTo>
                  <a:cubicBezTo>
                    <a:pt x="116" y="1"/>
                    <a:pt x="1" y="98"/>
                    <a:pt x="1" y="232"/>
                  </a:cubicBezTo>
                  <a:lnTo>
                    <a:pt x="1" y="12458"/>
                  </a:lnTo>
                  <a:cubicBezTo>
                    <a:pt x="1" y="12578"/>
                    <a:pt x="94" y="12669"/>
                    <a:pt x="211" y="12669"/>
                  </a:cubicBezTo>
                  <a:cubicBezTo>
                    <a:pt x="224" y="12669"/>
                    <a:pt x="237" y="12668"/>
                    <a:pt x="250" y="12666"/>
                  </a:cubicBezTo>
                  <a:lnTo>
                    <a:pt x="6585" y="11552"/>
                  </a:lnTo>
                  <a:cubicBezTo>
                    <a:pt x="6682" y="11534"/>
                    <a:pt x="6774" y="11418"/>
                    <a:pt x="6774" y="11303"/>
                  </a:cubicBezTo>
                  <a:lnTo>
                    <a:pt x="6774" y="943"/>
                  </a:lnTo>
                  <a:cubicBezTo>
                    <a:pt x="6774" y="828"/>
                    <a:pt x="6682" y="731"/>
                    <a:pt x="6585" y="712"/>
                  </a:cubicBezTo>
                  <a:lnTo>
                    <a:pt x="2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1546708" y="716850"/>
              <a:ext cx="2048666" cy="3811676"/>
            </a:xfrm>
            <a:custGeom>
              <a:avLst/>
              <a:gdLst/>
              <a:ahLst/>
              <a:cxnLst/>
              <a:rect l="l" t="t" r="r" b="b"/>
              <a:pathLst>
                <a:path w="6857" h="12758" extrusionOk="0">
                  <a:moveTo>
                    <a:pt x="258" y="97"/>
                  </a:moveTo>
                  <a:cubicBezTo>
                    <a:pt x="269" y="97"/>
                    <a:pt x="280" y="97"/>
                    <a:pt x="291" y="99"/>
                  </a:cubicBezTo>
                  <a:lnTo>
                    <a:pt x="6626" y="811"/>
                  </a:lnTo>
                  <a:cubicBezTo>
                    <a:pt x="6700" y="811"/>
                    <a:pt x="6760" y="889"/>
                    <a:pt x="6760" y="986"/>
                  </a:cubicBezTo>
                  <a:lnTo>
                    <a:pt x="6760" y="11346"/>
                  </a:lnTo>
                  <a:cubicBezTo>
                    <a:pt x="6760" y="11438"/>
                    <a:pt x="6700" y="11535"/>
                    <a:pt x="6626" y="11554"/>
                  </a:cubicBezTo>
                  <a:lnTo>
                    <a:pt x="291" y="12653"/>
                  </a:lnTo>
                  <a:cubicBezTo>
                    <a:pt x="275" y="12658"/>
                    <a:pt x="259" y="12661"/>
                    <a:pt x="244" y="12661"/>
                  </a:cubicBezTo>
                  <a:cubicBezTo>
                    <a:pt x="204" y="12661"/>
                    <a:pt x="171" y="12643"/>
                    <a:pt x="157" y="12616"/>
                  </a:cubicBezTo>
                  <a:cubicBezTo>
                    <a:pt x="116" y="12593"/>
                    <a:pt x="97" y="12556"/>
                    <a:pt x="97" y="12501"/>
                  </a:cubicBezTo>
                  <a:lnTo>
                    <a:pt x="97" y="275"/>
                  </a:lnTo>
                  <a:cubicBezTo>
                    <a:pt x="97" y="171"/>
                    <a:pt x="161" y="97"/>
                    <a:pt x="258" y="97"/>
                  </a:cubicBezTo>
                  <a:close/>
                  <a:moveTo>
                    <a:pt x="274" y="0"/>
                  </a:moveTo>
                  <a:cubicBezTo>
                    <a:pt x="120" y="0"/>
                    <a:pt x="0" y="112"/>
                    <a:pt x="0" y="275"/>
                  </a:cubicBezTo>
                  <a:lnTo>
                    <a:pt x="0" y="12501"/>
                  </a:lnTo>
                  <a:cubicBezTo>
                    <a:pt x="0" y="12575"/>
                    <a:pt x="23" y="12653"/>
                    <a:pt x="79" y="12690"/>
                  </a:cubicBezTo>
                  <a:cubicBezTo>
                    <a:pt x="124" y="12736"/>
                    <a:pt x="177" y="12757"/>
                    <a:pt x="242" y="12757"/>
                  </a:cubicBezTo>
                  <a:cubicBezTo>
                    <a:pt x="263" y="12757"/>
                    <a:pt x="286" y="12755"/>
                    <a:pt x="310" y="12750"/>
                  </a:cubicBezTo>
                  <a:lnTo>
                    <a:pt x="6644" y="11651"/>
                  </a:lnTo>
                  <a:cubicBezTo>
                    <a:pt x="6760" y="11614"/>
                    <a:pt x="6857" y="11498"/>
                    <a:pt x="6857" y="11346"/>
                  </a:cubicBezTo>
                  <a:lnTo>
                    <a:pt x="6857" y="986"/>
                  </a:lnTo>
                  <a:cubicBezTo>
                    <a:pt x="6857" y="852"/>
                    <a:pt x="6760" y="718"/>
                    <a:pt x="6626" y="718"/>
                  </a:cubicBezTo>
                  <a:lnTo>
                    <a:pt x="310" y="2"/>
                  </a:lnTo>
                  <a:cubicBezTo>
                    <a:pt x="298" y="1"/>
                    <a:pt x="286" y="0"/>
                    <a:pt x="274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1656954" y="867131"/>
              <a:ext cx="1851478" cy="3504244"/>
            </a:xfrm>
            <a:custGeom>
              <a:avLst/>
              <a:gdLst/>
              <a:ahLst/>
              <a:cxnLst/>
              <a:rect l="l" t="t" r="r" b="b"/>
              <a:pathLst>
                <a:path w="6197" h="11729" extrusionOk="0">
                  <a:moveTo>
                    <a:pt x="216" y="1"/>
                  </a:moveTo>
                  <a:cubicBezTo>
                    <a:pt x="97" y="1"/>
                    <a:pt x="1" y="89"/>
                    <a:pt x="1" y="215"/>
                  </a:cubicBezTo>
                  <a:lnTo>
                    <a:pt x="1" y="11536"/>
                  </a:lnTo>
                  <a:cubicBezTo>
                    <a:pt x="1" y="11656"/>
                    <a:pt x="94" y="11728"/>
                    <a:pt x="210" y="11728"/>
                  </a:cubicBezTo>
                  <a:cubicBezTo>
                    <a:pt x="223" y="11728"/>
                    <a:pt x="237" y="11727"/>
                    <a:pt x="250" y="11725"/>
                  </a:cubicBezTo>
                  <a:lnTo>
                    <a:pt x="6026" y="10783"/>
                  </a:lnTo>
                  <a:cubicBezTo>
                    <a:pt x="6123" y="10764"/>
                    <a:pt x="6197" y="10649"/>
                    <a:pt x="6197" y="10552"/>
                  </a:cubicBezTo>
                  <a:lnTo>
                    <a:pt x="6197" y="811"/>
                  </a:lnTo>
                  <a:cubicBezTo>
                    <a:pt x="6197" y="696"/>
                    <a:pt x="6123" y="599"/>
                    <a:pt x="6026" y="580"/>
                  </a:cubicBezTo>
                  <a:lnTo>
                    <a:pt x="250" y="3"/>
                  </a:lnTo>
                  <a:cubicBezTo>
                    <a:pt x="239" y="1"/>
                    <a:pt x="227" y="1"/>
                    <a:pt x="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1644704" y="849504"/>
              <a:ext cx="1881653" cy="3539499"/>
            </a:xfrm>
            <a:custGeom>
              <a:avLst/>
              <a:gdLst/>
              <a:ahLst/>
              <a:cxnLst/>
              <a:rect l="l" t="t" r="r" b="b"/>
              <a:pathLst>
                <a:path w="6298" h="11847" extrusionOk="0">
                  <a:moveTo>
                    <a:pt x="273" y="99"/>
                  </a:moveTo>
                  <a:lnTo>
                    <a:pt x="6067" y="695"/>
                  </a:lnTo>
                  <a:cubicBezTo>
                    <a:pt x="6122" y="695"/>
                    <a:pt x="6201" y="773"/>
                    <a:pt x="6201" y="870"/>
                  </a:cubicBezTo>
                  <a:lnTo>
                    <a:pt x="6201" y="10611"/>
                  </a:lnTo>
                  <a:cubicBezTo>
                    <a:pt x="6201" y="10689"/>
                    <a:pt x="6122" y="10786"/>
                    <a:pt x="6067" y="10786"/>
                  </a:cubicBezTo>
                  <a:lnTo>
                    <a:pt x="273" y="11747"/>
                  </a:lnTo>
                  <a:cubicBezTo>
                    <a:pt x="263" y="11749"/>
                    <a:pt x="254" y="11750"/>
                    <a:pt x="244" y="11750"/>
                  </a:cubicBezTo>
                  <a:cubicBezTo>
                    <a:pt x="161" y="11750"/>
                    <a:pt x="97" y="11678"/>
                    <a:pt x="97" y="11595"/>
                  </a:cubicBezTo>
                  <a:lnTo>
                    <a:pt x="97" y="274"/>
                  </a:lnTo>
                  <a:cubicBezTo>
                    <a:pt x="97" y="159"/>
                    <a:pt x="176" y="99"/>
                    <a:pt x="273" y="99"/>
                  </a:cubicBezTo>
                  <a:close/>
                  <a:moveTo>
                    <a:pt x="262" y="0"/>
                  </a:moveTo>
                  <a:cubicBezTo>
                    <a:pt x="118" y="0"/>
                    <a:pt x="0" y="127"/>
                    <a:pt x="0" y="274"/>
                  </a:cubicBezTo>
                  <a:lnTo>
                    <a:pt x="0" y="11595"/>
                  </a:lnTo>
                  <a:cubicBezTo>
                    <a:pt x="0" y="11736"/>
                    <a:pt x="116" y="11846"/>
                    <a:pt x="258" y="11846"/>
                  </a:cubicBezTo>
                  <a:cubicBezTo>
                    <a:pt x="269" y="11846"/>
                    <a:pt x="280" y="11846"/>
                    <a:pt x="291" y="11844"/>
                  </a:cubicBezTo>
                  <a:lnTo>
                    <a:pt x="6067" y="10879"/>
                  </a:lnTo>
                  <a:cubicBezTo>
                    <a:pt x="6201" y="10860"/>
                    <a:pt x="6298" y="10745"/>
                    <a:pt x="6298" y="10611"/>
                  </a:cubicBezTo>
                  <a:lnTo>
                    <a:pt x="6298" y="870"/>
                  </a:lnTo>
                  <a:cubicBezTo>
                    <a:pt x="6298" y="736"/>
                    <a:pt x="6201" y="621"/>
                    <a:pt x="6067" y="598"/>
                  </a:cubicBezTo>
                  <a:lnTo>
                    <a:pt x="291" y="2"/>
                  </a:lnTo>
                  <a:cubicBezTo>
                    <a:pt x="281" y="1"/>
                    <a:pt x="272" y="0"/>
                    <a:pt x="26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1989783" y="4749630"/>
              <a:ext cx="661477" cy="190912"/>
            </a:xfrm>
            <a:custGeom>
              <a:avLst/>
              <a:gdLst/>
              <a:ahLst/>
              <a:cxnLst/>
              <a:rect l="l" t="t" r="r" b="b"/>
              <a:pathLst>
                <a:path w="2214" h="639" extrusionOk="0">
                  <a:moveTo>
                    <a:pt x="231" y="1"/>
                  </a:moveTo>
                  <a:cubicBezTo>
                    <a:pt x="97" y="1"/>
                    <a:pt x="0" y="116"/>
                    <a:pt x="0" y="250"/>
                  </a:cubicBezTo>
                  <a:lnTo>
                    <a:pt x="0" y="407"/>
                  </a:lnTo>
                  <a:cubicBezTo>
                    <a:pt x="0" y="541"/>
                    <a:pt x="97" y="639"/>
                    <a:pt x="231" y="639"/>
                  </a:cubicBezTo>
                  <a:lnTo>
                    <a:pt x="1964" y="639"/>
                  </a:lnTo>
                  <a:cubicBezTo>
                    <a:pt x="2098" y="639"/>
                    <a:pt x="2214" y="541"/>
                    <a:pt x="2214" y="407"/>
                  </a:cubicBezTo>
                  <a:lnTo>
                    <a:pt x="2214" y="250"/>
                  </a:lnTo>
                  <a:cubicBezTo>
                    <a:pt x="2214" y="116"/>
                    <a:pt x="2098" y="1"/>
                    <a:pt x="19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1973052" y="4738576"/>
              <a:ext cx="690756" cy="218399"/>
            </a:xfrm>
            <a:custGeom>
              <a:avLst/>
              <a:gdLst/>
              <a:ahLst/>
              <a:cxnLst/>
              <a:rect l="l" t="t" r="r" b="b"/>
              <a:pathLst>
                <a:path w="2312" h="731" extrusionOk="0">
                  <a:moveTo>
                    <a:pt x="2020" y="98"/>
                  </a:moveTo>
                  <a:cubicBezTo>
                    <a:pt x="2136" y="98"/>
                    <a:pt x="2233" y="172"/>
                    <a:pt x="2233" y="287"/>
                  </a:cubicBezTo>
                  <a:lnTo>
                    <a:pt x="2233" y="444"/>
                  </a:lnTo>
                  <a:cubicBezTo>
                    <a:pt x="2233" y="542"/>
                    <a:pt x="2136" y="634"/>
                    <a:pt x="2020" y="634"/>
                  </a:cubicBezTo>
                  <a:lnTo>
                    <a:pt x="287" y="634"/>
                  </a:lnTo>
                  <a:cubicBezTo>
                    <a:pt x="190" y="634"/>
                    <a:pt x="98" y="542"/>
                    <a:pt x="98" y="444"/>
                  </a:cubicBezTo>
                  <a:lnTo>
                    <a:pt x="98" y="287"/>
                  </a:lnTo>
                  <a:cubicBezTo>
                    <a:pt x="98" y="172"/>
                    <a:pt x="190" y="98"/>
                    <a:pt x="287" y="98"/>
                  </a:cubicBezTo>
                  <a:close/>
                  <a:moveTo>
                    <a:pt x="287" y="1"/>
                  </a:moveTo>
                  <a:cubicBezTo>
                    <a:pt x="135" y="1"/>
                    <a:pt x="1" y="135"/>
                    <a:pt x="1" y="287"/>
                  </a:cubicBezTo>
                  <a:lnTo>
                    <a:pt x="1" y="444"/>
                  </a:lnTo>
                  <a:cubicBezTo>
                    <a:pt x="1" y="597"/>
                    <a:pt x="135" y="731"/>
                    <a:pt x="287" y="731"/>
                  </a:cubicBezTo>
                  <a:lnTo>
                    <a:pt x="2020" y="731"/>
                  </a:lnTo>
                  <a:cubicBezTo>
                    <a:pt x="2196" y="731"/>
                    <a:pt x="2311" y="597"/>
                    <a:pt x="2311" y="444"/>
                  </a:cubicBezTo>
                  <a:lnTo>
                    <a:pt x="2311" y="287"/>
                  </a:lnTo>
                  <a:cubicBezTo>
                    <a:pt x="2311" y="135"/>
                    <a:pt x="2196" y="1"/>
                    <a:pt x="2020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2047744" y="4566186"/>
              <a:ext cx="1489667" cy="183742"/>
            </a:xfrm>
            <a:custGeom>
              <a:avLst/>
              <a:gdLst/>
              <a:ahLst/>
              <a:cxnLst/>
              <a:rect l="l" t="t" r="r" b="b"/>
              <a:pathLst>
                <a:path w="4986" h="615" extrusionOk="0">
                  <a:moveTo>
                    <a:pt x="3387" y="0"/>
                  </a:moveTo>
                  <a:lnTo>
                    <a:pt x="0" y="615"/>
                  </a:lnTo>
                  <a:lnTo>
                    <a:pt x="1770" y="615"/>
                  </a:lnTo>
                  <a:lnTo>
                    <a:pt x="4986" y="19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2042067" y="4555132"/>
              <a:ext cx="1501020" cy="212722"/>
            </a:xfrm>
            <a:custGeom>
              <a:avLst/>
              <a:gdLst/>
              <a:ahLst/>
              <a:cxnLst/>
              <a:rect l="l" t="t" r="r" b="b"/>
              <a:pathLst>
                <a:path w="5024" h="712" extrusionOk="0">
                  <a:moveTo>
                    <a:pt x="4524" y="93"/>
                  </a:moveTo>
                  <a:lnTo>
                    <a:pt x="1789" y="615"/>
                  </a:lnTo>
                  <a:lnTo>
                    <a:pt x="537" y="615"/>
                  </a:lnTo>
                  <a:lnTo>
                    <a:pt x="3425" y="93"/>
                  </a:lnTo>
                  <a:close/>
                  <a:moveTo>
                    <a:pt x="3406" y="0"/>
                  </a:moveTo>
                  <a:lnTo>
                    <a:pt x="1" y="615"/>
                  </a:lnTo>
                  <a:lnTo>
                    <a:pt x="19" y="712"/>
                  </a:lnTo>
                  <a:lnTo>
                    <a:pt x="1789" y="712"/>
                  </a:lnTo>
                  <a:lnTo>
                    <a:pt x="5023" y="93"/>
                  </a:lnTo>
                  <a:lnTo>
                    <a:pt x="5005" y="0"/>
                  </a:ln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3433734" y="1154845"/>
              <a:ext cx="40334" cy="420067"/>
            </a:xfrm>
            <a:custGeom>
              <a:avLst/>
              <a:gdLst/>
              <a:ahLst/>
              <a:cxnLst/>
              <a:rect l="l" t="t" r="r" b="b"/>
              <a:pathLst>
                <a:path w="135" h="1406" extrusionOk="0">
                  <a:moveTo>
                    <a:pt x="19" y="1"/>
                  </a:moveTo>
                  <a:cubicBezTo>
                    <a:pt x="0" y="19"/>
                    <a:pt x="0" y="19"/>
                    <a:pt x="0" y="61"/>
                  </a:cubicBezTo>
                  <a:cubicBezTo>
                    <a:pt x="60" y="481"/>
                    <a:pt x="60" y="925"/>
                    <a:pt x="0" y="1369"/>
                  </a:cubicBezTo>
                  <a:cubicBezTo>
                    <a:pt x="0" y="1387"/>
                    <a:pt x="19" y="1406"/>
                    <a:pt x="37" y="1406"/>
                  </a:cubicBezTo>
                  <a:cubicBezTo>
                    <a:pt x="60" y="1406"/>
                    <a:pt x="79" y="1387"/>
                    <a:pt x="79" y="1369"/>
                  </a:cubicBezTo>
                  <a:cubicBezTo>
                    <a:pt x="116" y="925"/>
                    <a:pt x="134" y="481"/>
                    <a:pt x="60" y="38"/>
                  </a:cubicBezTo>
                  <a:cubicBezTo>
                    <a:pt x="60" y="19"/>
                    <a:pt x="37" y="1"/>
                    <a:pt x="19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3364719" y="1143791"/>
              <a:ext cx="23603" cy="98593"/>
            </a:xfrm>
            <a:custGeom>
              <a:avLst/>
              <a:gdLst/>
              <a:ahLst/>
              <a:cxnLst/>
              <a:rect l="l" t="t" r="r" b="b"/>
              <a:pathLst>
                <a:path w="79" h="330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287"/>
                  </a:lnTo>
                  <a:cubicBezTo>
                    <a:pt x="0" y="306"/>
                    <a:pt x="19" y="329"/>
                    <a:pt x="37" y="329"/>
                  </a:cubicBezTo>
                  <a:cubicBezTo>
                    <a:pt x="60" y="329"/>
                    <a:pt x="79" y="306"/>
                    <a:pt x="79" y="287"/>
                  </a:cubicBezTo>
                  <a:lnTo>
                    <a:pt x="79" y="38"/>
                  </a:lnTo>
                  <a:cubicBezTo>
                    <a:pt x="79" y="19"/>
                    <a:pt x="60" y="1"/>
                    <a:pt x="37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1995161" y="303354"/>
              <a:ext cx="1956645" cy="2744478"/>
            </a:xfrm>
            <a:custGeom>
              <a:avLst/>
              <a:gdLst/>
              <a:ahLst/>
              <a:cxnLst/>
              <a:rect l="l" t="t" r="r" b="b"/>
              <a:pathLst>
                <a:path w="6549" h="9186" extrusionOk="0">
                  <a:moveTo>
                    <a:pt x="176" y="0"/>
                  </a:moveTo>
                  <a:cubicBezTo>
                    <a:pt x="79" y="0"/>
                    <a:pt x="1" y="79"/>
                    <a:pt x="1" y="157"/>
                  </a:cubicBezTo>
                  <a:lnTo>
                    <a:pt x="1" y="9010"/>
                  </a:lnTo>
                  <a:cubicBezTo>
                    <a:pt x="1" y="9107"/>
                    <a:pt x="79" y="9186"/>
                    <a:pt x="176" y="9186"/>
                  </a:cubicBezTo>
                  <a:lnTo>
                    <a:pt x="6396" y="9186"/>
                  </a:lnTo>
                  <a:cubicBezTo>
                    <a:pt x="6493" y="9186"/>
                    <a:pt x="6548" y="9107"/>
                    <a:pt x="6548" y="9010"/>
                  </a:cubicBezTo>
                  <a:lnTo>
                    <a:pt x="6548" y="157"/>
                  </a:lnTo>
                  <a:cubicBezTo>
                    <a:pt x="6548" y="79"/>
                    <a:pt x="6493" y="0"/>
                    <a:pt x="6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1984106" y="292300"/>
              <a:ext cx="1985625" cy="2766587"/>
            </a:xfrm>
            <a:custGeom>
              <a:avLst/>
              <a:gdLst/>
              <a:ahLst/>
              <a:cxnLst/>
              <a:rect l="l" t="t" r="r" b="b"/>
              <a:pathLst>
                <a:path w="6646" h="9260" extrusionOk="0">
                  <a:moveTo>
                    <a:pt x="6433" y="97"/>
                  </a:moveTo>
                  <a:cubicBezTo>
                    <a:pt x="6488" y="97"/>
                    <a:pt x="6548" y="134"/>
                    <a:pt x="6548" y="194"/>
                  </a:cubicBezTo>
                  <a:lnTo>
                    <a:pt x="6548" y="9047"/>
                  </a:lnTo>
                  <a:cubicBezTo>
                    <a:pt x="6548" y="9126"/>
                    <a:pt x="6488" y="9163"/>
                    <a:pt x="6433" y="9163"/>
                  </a:cubicBezTo>
                  <a:lnTo>
                    <a:pt x="213" y="9163"/>
                  </a:lnTo>
                  <a:cubicBezTo>
                    <a:pt x="135" y="9163"/>
                    <a:pt x="98" y="9126"/>
                    <a:pt x="98" y="9047"/>
                  </a:cubicBezTo>
                  <a:lnTo>
                    <a:pt x="98" y="194"/>
                  </a:ln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194"/>
                  </a:cubicBezTo>
                  <a:lnTo>
                    <a:pt x="1" y="9047"/>
                  </a:lnTo>
                  <a:cubicBezTo>
                    <a:pt x="1" y="9163"/>
                    <a:pt x="98" y="9260"/>
                    <a:pt x="213" y="9260"/>
                  </a:cubicBezTo>
                  <a:lnTo>
                    <a:pt x="6433" y="9260"/>
                  </a:lnTo>
                  <a:cubicBezTo>
                    <a:pt x="6548" y="9260"/>
                    <a:pt x="6645" y="9163"/>
                    <a:pt x="6645" y="9047"/>
                  </a:cubicBezTo>
                  <a:lnTo>
                    <a:pt x="6645" y="194"/>
                  </a:lnTo>
                  <a:cubicBezTo>
                    <a:pt x="6645" y="97"/>
                    <a:pt x="6548" y="0"/>
                    <a:pt x="643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1995161" y="303354"/>
              <a:ext cx="1956645" cy="207345"/>
            </a:xfrm>
            <a:custGeom>
              <a:avLst/>
              <a:gdLst/>
              <a:ahLst/>
              <a:cxnLst/>
              <a:rect l="l" t="t" r="r" b="b"/>
              <a:pathLst>
                <a:path w="6549" h="694" extrusionOk="0">
                  <a:moveTo>
                    <a:pt x="176" y="0"/>
                  </a:moveTo>
                  <a:cubicBezTo>
                    <a:pt x="79" y="0"/>
                    <a:pt x="1" y="79"/>
                    <a:pt x="1" y="157"/>
                  </a:cubicBezTo>
                  <a:lnTo>
                    <a:pt x="1" y="693"/>
                  </a:lnTo>
                  <a:lnTo>
                    <a:pt x="6548" y="693"/>
                  </a:lnTo>
                  <a:lnTo>
                    <a:pt x="6548" y="157"/>
                  </a:lnTo>
                  <a:cubicBezTo>
                    <a:pt x="6548" y="79"/>
                    <a:pt x="6493" y="0"/>
                    <a:pt x="63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984106" y="292300"/>
              <a:ext cx="1985625" cy="230649"/>
            </a:xfrm>
            <a:custGeom>
              <a:avLst/>
              <a:gdLst/>
              <a:ahLst/>
              <a:cxnLst/>
              <a:rect l="l" t="t" r="r" b="b"/>
              <a:pathLst>
                <a:path w="6646" h="772" extrusionOk="0">
                  <a:moveTo>
                    <a:pt x="6433" y="97"/>
                  </a:moveTo>
                  <a:cubicBezTo>
                    <a:pt x="6488" y="97"/>
                    <a:pt x="6548" y="134"/>
                    <a:pt x="6548" y="194"/>
                  </a:cubicBezTo>
                  <a:lnTo>
                    <a:pt x="6548" y="675"/>
                  </a:lnTo>
                  <a:lnTo>
                    <a:pt x="98" y="675"/>
                  </a:lnTo>
                  <a:lnTo>
                    <a:pt x="98" y="194"/>
                  </a:ln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194"/>
                  </a:cubicBezTo>
                  <a:lnTo>
                    <a:pt x="1" y="730"/>
                  </a:lnTo>
                  <a:lnTo>
                    <a:pt x="38" y="772"/>
                  </a:lnTo>
                  <a:lnTo>
                    <a:pt x="6585" y="772"/>
                  </a:lnTo>
                  <a:lnTo>
                    <a:pt x="6645" y="730"/>
                  </a:lnTo>
                  <a:lnTo>
                    <a:pt x="6645" y="194"/>
                  </a:lnTo>
                  <a:cubicBezTo>
                    <a:pt x="6645" y="97"/>
                    <a:pt x="6548" y="0"/>
                    <a:pt x="6433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3428058" y="337713"/>
              <a:ext cx="120404" cy="121897"/>
            </a:xfrm>
            <a:custGeom>
              <a:avLst/>
              <a:gdLst/>
              <a:ahLst/>
              <a:cxnLst/>
              <a:rect l="l" t="t" r="r" b="b"/>
              <a:pathLst>
                <a:path w="403" h="408" extrusionOk="0">
                  <a:moveTo>
                    <a:pt x="213" y="1"/>
                  </a:moveTo>
                  <a:cubicBezTo>
                    <a:pt x="98" y="1"/>
                    <a:pt x="1" y="79"/>
                    <a:pt x="1" y="195"/>
                  </a:cubicBezTo>
                  <a:cubicBezTo>
                    <a:pt x="1" y="310"/>
                    <a:pt x="98" y="407"/>
                    <a:pt x="213" y="407"/>
                  </a:cubicBezTo>
                  <a:cubicBezTo>
                    <a:pt x="310" y="407"/>
                    <a:pt x="403" y="310"/>
                    <a:pt x="403" y="195"/>
                  </a:cubicBezTo>
                  <a:cubicBezTo>
                    <a:pt x="403" y="79"/>
                    <a:pt x="310" y="1"/>
                    <a:pt x="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3412367" y="321281"/>
              <a:ext cx="144007" cy="149384"/>
            </a:xfrm>
            <a:custGeom>
              <a:avLst/>
              <a:gdLst/>
              <a:ahLst/>
              <a:cxnLst/>
              <a:rect l="l" t="t" r="r" b="b"/>
              <a:pathLst>
                <a:path w="482" h="500" extrusionOk="0">
                  <a:moveTo>
                    <a:pt x="250" y="97"/>
                  </a:moveTo>
                  <a:cubicBezTo>
                    <a:pt x="324" y="97"/>
                    <a:pt x="403" y="171"/>
                    <a:pt x="403" y="250"/>
                  </a:cubicBezTo>
                  <a:cubicBezTo>
                    <a:pt x="403" y="347"/>
                    <a:pt x="324" y="402"/>
                    <a:pt x="250" y="402"/>
                  </a:cubicBezTo>
                  <a:cubicBezTo>
                    <a:pt x="153" y="402"/>
                    <a:pt x="75" y="347"/>
                    <a:pt x="75" y="250"/>
                  </a:cubicBezTo>
                  <a:cubicBezTo>
                    <a:pt x="75" y="171"/>
                    <a:pt x="153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93" y="0"/>
                    <a:pt x="1" y="116"/>
                    <a:pt x="1" y="250"/>
                  </a:cubicBezTo>
                  <a:cubicBezTo>
                    <a:pt x="1" y="384"/>
                    <a:pt x="93" y="499"/>
                    <a:pt x="250" y="499"/>
                  </a:cubicBezTo>
                  <a:cubicBezTo>
                    <a:pt x="384" y="499"/>
                    <a:pt x="481" y="384"/>
                    <a:pt x="481" y="250"/>
                  </a:cubicBezTo>
                  <a:cubicBezTo>
                    <a:pt x="481" y="116"/>
                    <a:pt x="384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3629727" y="337713"/>
              <a:ext cx="120404" cy="121897"/>
            </a:xfrm>
            <a:custGeom>
              <a:avLst/>
              <a:gdLst/>
              <a:ahLst/>
              <a:cxnLst/>
              <a:rect l="l" t="t" r="r" b="b"/>
              <a:pathLst>
                <a:path w="403" h="408" extrusionOk="0">
                  <a:moveTo>
                    <a:pt x="213" y="1"/>
                  </a:moveTo>
                  <a:cubicBezTo>
                    <a:pt x="98" y="1"/>
                    <a:pt x="0" y="79"/>
                    <a:pt x="0" y="195"/>
                  </a:cubicBezTo>
                  <a:cubicBezTo>
                    <a:pt x="0" y="310"/>
                    <a:pt x="98" y="407"/>
                    <a:pt x="213" y="407"/>
                  </a:cubicBezTo>
                  <a:cubicBezTo>
                    <a:pt x="329" y="407"/>
                    <a:pt x="402" y="310"/>
                    <a:pt x="402" y="195"/>
                  </a:cubicBezTo>
                  <a:cubicBezTo>
                    <a:pt x="402" y="79"/>
                    <a:pt x="329" y="1"/>
                    <a:pt x="2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3612543" y="321281"/>
              <a:ext cx="150879" cy="149384"/>
            </a:xfrm>
            <a:custGeom>
              <a:avLst/>
              <a:gdLst/>
              <a:ahLst/>
              <a:cxnLst/>
              <a:rect l="l" t="t" r="r" b="b"/>
              <a:pathLst>
                <a:path w="505" h="500" extrusionOk="0">
                  <a:moveTo>
                    <a:pt x="255" y="97"/>
                  </a:moveTo>
                  <a:cubicBezTo>
                    <a:pt x="347" y="97"/>
                    <a:pt x="408" y="171"/>
                    <a:pt x="408" y="250"/>
                  </a:cubicBezTo>
                  <a:cubicBezTo>
                    <a:pt x="408" y="347"/>
                    <a:pt x="347" y="402"/>
                    <a:pt x="255" y="402"/>
                  </a:cubicBezTo>
                  <a:cubicBezTo>
                    <a:pt x="158" y="402"/>
                    <a:pt x="98" y="347"/>
                    <a:pt x="98" y="250"/>
                  </a:cubicBezTo>
                  <a:cubicBezTo>
                    <a:pt x="98" y="171"/>
                    <a:pt x="158" y="97"/>
                    <a:pt x="255" y="97"/>
                  </a:cubicBezTo>
                  <a:close/>
                  <a:moveTo>
                    <a:pt x="255" y="0"/>
                  </a:moveTo>
                  <a:cubicBezTo>
                    <a:pt x="116" y="0"/>
                    <a:pt x="1" y="116"/>
                    <a:pt x="1" y="250"/>
                  </a:cubicBezTo>
                  <a:cubicBezTo>
                    <a:pt x="1" y="384"/>
                    <a:pt x="116" y="499"/>
                    <a:pt x="255" y="499"/>
                  </a:cubicBezTo>
                  <a:cubicBezTo>
                    <a:pt x="389" y="499"/>
                    <a:pt x="505" y="384"/>
                    <a:pt x="505" y="250"/>
                  </a:cubicBezTo>
                  <a:cubicBezTo>
                    <a:pt x="505" y="116"/>
                    <a:pt x="389" y="0"/>
                    <a:pt x="255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3778813" y="337713"/>
              <a:ext cx="121898" cy="121897"/>
            </a:xfrm>
            <a:custGeom>
              <a:avLst/>
              <a:gdLst/>
              <a:ahLst/>
              <a:cxnLst/>
              <a:rect l="l" t="t" r="r" b="b"/>
              <a:pathLst>
                <a:path w="408" h="408" extrusionOk="0">
                  <a:moveTo>
                    <a:pt x="195" y="1"/>
                  </a:moveTo>
                  <a:cubicBezTo>
                    <a:pt x="79" y="1"/>
                    <a:pt x="1" y="79"/>
                    <a:pt x="1" y="195"/>
                  </a:cubicBezTo>
                  <a:cubicBezTo>
                    <a:pt x="1" y="310"/>
                    <a:pt x="79" y="407"/>
                    <a:pt x="195" y="407"/>
                  </a:cubicBezTo>
                  <a:cubicBezTo>
                    <a:pt x="310" y="407"/>
                    <a:pt x="407" y="310"/>
                    <a:pt x="407" y="195"/>
                  </a:cubicBezTo>
                  <a:cubicBezTo>
                    <a:pt x="407" y="79"/>
                    <a:pt x="310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3757745" y="321281"/>
              <a:ext cx="149385" cy="149384"/>
            </a:xfrm>
            <a:custGeom>
              <a:avLst/>
              <a:gdLst/>
              <a:ahLst/>
              <a:cxnLst/>
              <a:rect l="l" t="t" r="r" b="b"/>
              <a:pathLst>
                <a:path w="500" h="500" extrusionOk="0">
                  <a:moveTo>
                    <a:pt x="250" y="97"/>
                  </a:moveTo>
                  <a:cubicBezTo>
                    <a:pt x="347" y="97"/>
                    <a:pt x="402" y="171"/>
                    <a:pt x="402" y="250"/>
                  </a:cubicBezTo>
                  <a:cubicBezTo>
                    <a:pt x="402" y="347"/>
                    <a:pt x="347" y="402"/>
                    <a:pt x="250" y="402"/>
                  </a:cubicBezTo>
                  <a:cubicBezTo>
                    <a:pt x="171" y="402"/>
                    <a:pt x="92" y="347"/>
                    <a:pt x="92" y="250"/>
                  </a:cubicBezTo>
                  <a:cubicBezTo>
                    <a:pt x="92" y="171"/>
                    <a:pt x="171" y="97"/>
                    <a:pt x="250" y="97"/>
                  </a:cubicBezTo>
                  <a:close/>
                  <a:moveTo>
                    <a:pt x="250" y="0"/>
                  </a:moveTo>
                  <a:cubicBezTo>
                    <a:pt x="116" y="0"/>
                    <a:pt x="0" y="116"/>
                    <a:pt x="0" y="250"/>
                  </a:cubicBezTo>
                  <a:cubicBezTo>
                    <a:pt x="0" y="384"/>
                    <a:pt x="116" y="499"/>
                    <a:pt x="250" y="499"/>
                  </a:cubicBezTo>
                  <a:cubicBezTo>
                    <a:pt x="384" y="499"/>
                    <a:pt x="499" y="384"/>
                    <a:pt x="499" y="250"/>
                  </a:cubicBezTo>
                  <a:cubicBezTo>
                    <a:pt x="499" y="116"/>
                    <a:pt x="384" y="0"/>
                    <a:pt x="250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2105705" y="597343"/>
              <a:ext cx="356433" cy="98295"/>
            </a:xfrm>
            <a:custGeom>
              <a:avLst/>
              <a:gdLst/>
              <a:ahLst/>
              <a:cxnLst/>
              <a:rect l="l" t="t" r="r" b="b"/>
              <a:pathLst>
                <a:path w="1193" h="329" extrusionOk="0">
                  <a:moveTo>
                    <a:pt x="171" y="0"/>
                  </a:moveTo>
                  <a:cubicBezTo>
                    <a:pt x="74" y="0"/>
                    <a:pt x="0" y="79"/>
                    <a:pt x="0" y="153"/>
                  </a:cubicBezTo>
                  <a:cubicBezTo>
                    <a:pt x="0" y="250"/>
                    <a:pt x="74" y="328"/>
                    <a:pt x="171" y="328"/>
                  </a:cubicBezTo>
                  <a:lnTo>
                    <a:pt x="1040" y="328"/>
                  </a:lnTo>
                  <a:cubicBezTo>
                    <a:pt x="1114" y="328"/>
                    <a:pt x="1192" y="250"/>
                    <a:pt x="1192" y="153"/>
                  </a:cubicBezTo>
                  <a:cubicBezTo>
                    <a:pt x="1192" y="79"/>
                    <a:pt x="1114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2093157" y="586288"/>
              <a:ext cx="380035" cy="120403"/>
            </a:xfrm>
            <a:custGeom>
              <a:avLst/>
              <a:gdLst/>
              <a:ahLst/>
              <a:cxnLst/>
              <a:rect l="l" t="t" r="r" b="b"/>
              <a:pathLst>
                <a:path w="1272" h="403" extrusionOk="0">
                  <a:moveTo>
                    <a:pt x="1082" y="74"/>
                  </a:moveTo>
                  <a:cubicBezTo>
                    <a:pt x="1137" y="74"/>
                    <a:pt x="1198" y="134"/>
                    <a:pt x="1198" y="190"/>
                  </a:cubicBezTo>
                  <a:cubicBezTo>
                    <a:pt x="1198" y="268"/>
                    <a:pt x="1137" y="305"/>
                    <a:pt x="1082" y="305"/>
                  </a:cubicBezTo>
                  <a:lnTo>
                    <a:pt x="213" y="305"/>
                  </a:lnTo>
                  <a:cubicBezTo>
                    <a:pt x="135" y="305"/>
                    <a:pt x="98" y="268"/>
                    <a:pt x="98" y="190"/>
                  </a:cubicBezTo>
                  <a:cubicBezTo>
                    <a:pt x="98" y="134"/>
                    <a:pt x="135" y="74"/>
                    <a:pt x="213" y="74"/>
                  </a:cubicBezTo>
                  <a:close/>
                  <a:moveTo>
                    <a:pt x="213" y="0"/>
                  </a:moveTo>
                  <a:cubicBezTo>
                    <a:pt x="98" y="0"/>
                    <a:pt x="1" y="74"/>
                    <a:pt x="1" y="190"/>
                  </a:cubicBezTo>
                  <a:cubicBezTo>
                    <a:pt x="1" y="305"/>
                    <a:pt x="98" y="402"/>
                    <a:pt x="213" y="402"/>
                  </a:cubicBezTo>
                  <a:lnTo>
                    <a:pt x="1082" y="402"/>
                  </a:lnTo>
                  <a:cubicBezTo>
                    <a:pt x="1174" y="402"/>
                    <a:pt x="1271" y="305"/>
                    <a:pt x="1271" y="190"/>
                  </a:cubicBezTo>
                  <a:cubicBezTo>
                    <a:pt x="1271" y="74"/>
                    <a:pt x="1174" y="0"/>
                    <a:pt x="10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2105705" y="1200557"/>
              <a:ext cx="356433" cy="92618"/>
            </a:xfrm>
            <a:custGeom>
              <a:avLst/>
              <a:gdLst/>
              <a:ahLst/>
              <a:cxnLst/>
              <a:rect l="l" t="t" r="r" b="b"/>
              <a:pathLst>
                <a:path w="1193" h="310" extrusionOk="0">
                  <a:moveTo>
                    <a:pt x="171" y="0"/>
                  </a:moveTo>
                  <a:cubicBezTo>
                    <a:pt x="74" y="0"/>
                    <a:pt x="0" y="60"/>
                    <a:pt x="0" y="158"/>
                  </a:cubicBezTo>
                  <a:cubicBezTo>
                    <a:pt x="0" y="255"/>
                    <a:pt x="74" y="310"/>
                    <a:pt x="171" y="310"/>
                  </a:cubicBezTo>
                  <a:lnTo>
                    <a:pt x="1040" y="310"/>
                  </a:lnTo>
                  <a:cubicBezTo>
                    <a:pt x="1114" y="310"/>
                    <a:pt x="1192" y="255"/>
                    <a:pt x="1192" y="158"/>
                  </a:cubicBezTo>
                  <a:cubicBezTo>
                    <a:pt x="1192" y="60"/>
                    <a:pt x="1114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2093157" y="1183826"/>
              <a:ext cx="380035" cy="127574"/>
            </a:xfrm>
            <a:custGeom>
              <a:avLst/>
              <a:gdLst/>
              <a:ahLst/>
              <a:cxnLst/>
              <a:rect l="l" t="t" r="r" b="b"/>
              <a:pathLst>
                <a:path w="1272" h="427" extrusionOk="0">
                  <a:moveTo>
                    <a:pt x="1082" y="98"/>
                  </a:moveTo>
                  <a:cubicBezTo>
                    <a:pt x="1137" y="98"/>
                    <a:pt x="1198" y="153"/>
                    <a:pt x="1198" y="214"/>
                  </a:cubicBezTo>
                  <a:cubicBezTo>
                    <a:pt x="1198" y="269"/>
                    <a:pt x="1137" y="329"/>
                    <a:pt x="1082" y="329"/>
                  </a:cubicBezTo>
                  <a:lnTo>
                    <a:pt x="213" y="329"/>
                  </a:lnTo>
                  <a:cubicBezTo>
                    <a:pt x="135" y="329"/>
                    <a:pt x="98" y="269"/>
                    <a:pt x="98" y="214"/>
                  </a:cubicBezTo>
                  <a:cubicBezTo>
                    <a:pt x="98" y="153"/>
                    <a:pt x="135" y="98"/>
                    <a:pt x="213" y="98"/>
                  </a:cubicBezTo>
                  <a:close/>
                  <a:moveTo>
                    <a:pt x="213" y="1"/>
                  </a:moveTo>
                  <a:cubicBezTo>
                    <a:pt x="98" y="1"/>
                    <a:pt x="1" y="98"/>
                    <a:pt x="1" y="214"/>
                  </a:cubicBezTo>
                  <a:cubicBezTo>
                    <a:pt x="1" y="329"/>
                    <a:pt x="98" y="426"/>
                    <a:pt x="213" y="426"/>
                  </a:cubicBezTo>
                  <a:lnTo>
                    <a:pt x="1082" y="426"/>
                  </a:lnTo>
                  <a:cubicBezTo>
                    <a:pt x="1174" y="426"/>
                    <a:pt x="1271" y="329"/>
                    <a:pt x="1271" y="214"/>
                  </a:cubicBezTo>
                  <a:cubicBezTo>
                    <a:pt x="1271" y="98"/>
                    <a:pt x="1174" y="1"/>
                    <a:pt x="1082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2105705" y="1828569"/>
              <a:ext cx="356433" cy="97099"/>
            </a:xfrm>
            <a:custGeom>
              <a:avLst/>
              <a:gdLst/>
              <a:ahLst/>
              <a:cxnLst/>
              <a:rect l="l" t="t" r="r" b="b"/>
              <a:pathLst>
                <a:path w="1193" h="325" extrusionOk="0">
                  <a:moveTo>
                    <a:pt x="171" y="1"/>
                  </a:moveTo>
                  <a:cubicBezTo>
                    <a:pt x="74" y="1"/>
                    <a:pt x="0" y="75"/>
                    <a:pt x="0" y="172"/>
                  </a:cubicBezTo>
                  <a:cubicBezTo>
                    <a:pt x="0" y="269"/>
                    <a:pt x="74" y="324"/>
                    <a:pt x="171" y="324"/>
                  </a:cubicBezTo>
                  <a:lnTo>
                    <a:pt x="1040" y="324"/>
                  </a:lnTo>
                  <a:cubicBezTo>
                    <a:pt x="1114" y="324"/>
                    <a:pt x="1192" y="269"/>
                    <a:pt x="1192" y="172"/>
                  </a:cubicBezTo>
                  <a:cubicBezTo>
                    <a:pt x="1192" y="75"/>
                    <a:pt x="1114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2093157" y="1816319"/>
              <a:ext cx="380035" cy="127275"/>
            </a:xfrm>
            <a:custGeom>
              <a:avLst/>
              <a:gdLst/>
              <a:ahLst/>
              <a:cxnLst/>
              <a:rect l="l" t="t" r="r" b="b"/>
              <a:pathLst>
                <a:path w="1272" h="426" extrusionOk="0">
                  <a:moveTo>
                    <a:pt x="1082" y="97"/>
                  </a:moveTo>
                  <a:cubicBezTo>
                    <a:pt x="1137" y="97"/>
                    <a:pt x="1198" y="134"/>
                    <a:pt x="1198" y="213"/>
                  </a:cubicBezTo>
                  <a:cubicBezTo>
                    <a:pt x="1198" y="273"/>
                    <a:pt x="1137" y="328"/>
                    <a:pt x="1082" y="328"/>
                  </a:cubicBezTo>
                  <a:lnTo>
                    <a:pt x="213" y="328"/>
                  </a:lnTo>
                  <a:cubicBezTo>
                    <a:pt x="135" y="328"/>
                    <a:pt x="98" y="273"/>
                    <a:pt x="98" y="213"/>
                  </a:cubicBezTo>
                  <a:cubicBezTo>
                    <a:pt x="98" y="134"/>
                    <a:pt x="135" y="97"/>
                    <a:pt x="213" y="97"/>
                  </a:cubicBezTo>
                  <a:close/>
                  <a:moveTo>
                    <a:pt x="213" y="0"/>
                  </a:moveTo>
                  <a:cubicBezTo>
                    <a:pt x="98" y="0"/>
                    <a:pt x="1" y="97"/>
                    <a:pt x="1" y="213"/>
                  </a:cubicBezTo>
                  <a:cubicBezTo>
                    <a:pt x="1" y="328"/>
                    <a:pt x="98" y="425"/>
                    <a:pt x="213" y="425"/>
                  </a:cubicBezTo>
                  <a:lnTo>
                    <a:pt x="1082" y="425"/>
                  </a:lnTo>
                  <a:cubicBezTo>
                    <a:pt x="1174" y="425"/>
                    <a:pt x="1271" y="328"/>
                    <a:pt x="1271" y="213"/>
                  </a:cubicBezTo>
                  <a:cubicBezTo>
                    <a:pt x="1271" y="97"/>
                    <a:pt x="1174" y="0"/>
                    <a:pt x="1082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2485441" y="597343"/>
              <a:ext cx="1397347" cy="98295"/>
            </a:xfrm>
            <a:custGeom>
              <a:avLst/>
              <a:gdLst/>
              <a:ahLst/>
              <a:cxnLst/>
              <a:rect l="l" t="t" r="r" b="b"/>
              <a:pathLst>
                <a:path w="4677" h="329" extrusionOk="0">
                  <a:moveTo>
                    <a:pt x="153" y="0"/>
                  </a:moveTo>
                  <a:cubicBezTo>
                    <a:pt x="74" y="0"/>
                    <a:pt x="0" y="79"/>
                    <a:pt x="0" y="153"/>
                  </a:cubicBezTo>
                  <a:cubicBezTo>
                    <a:pt x="0" y="250"/>
                    <a:pt x="74" y="328"/>
                    <a:pt x="153" y="328"/>
                  </a:cubicBezTo>
                  <a:lnTo>
                    <a:pt x="4524" y="328"/>
                  </a:lnTo>
                  <a:cubicBezTo>
                    <a:pt x="4621" y="328"/>
                    <a:pt x="4676" y="250"/>
                    <a:pt x="4676" y="153"/>
                  </a:cubicBezTo>
                  <a:cubicBezTo>
                    <a:pt x="4676" y="79"/>
                    <a:pt x="4621" y="0"/>
                    <a:pt x="4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2472893" y="586288"/>
              <a:ext cx="1427822" cy="120403"/>
            </a:xfrm>
            <a:custGeom>
              <a:avLst/>
              <a:gdLst/>
              <a:ahLst/>
              <a:cxnLst/>
              <a:rect l="l" t="t" r="r" b="b"/>
              <a:pathLst>
                <a:path w="4779" h="403" extrusionOk="0">
                  <a:moveTo>
                    <a:pt x="4566" y="74"/>
                  </a:moveTo>
                  <a:cubicBezTo>
                    <a:pt x="4640" y="74"/>
                    <a:pt x="4681" y="134"/>
                    <a:pt x="4681" y="190"/>
                  </a:cubicBezTo>
                  <a:cubicBezTo>
                    <a:pt x="4681" y="268"/>
                    <a:pt x="4640" y="305"/>
                    <a:pt x="4566" y="305"/>
                  </a:cubicBezTo>
                  <a:lnTo>
                    <a:pt x="195" y="305"/>
                  </a:lnTo>
                  <a:cubicBezTo>
                    <a:pt x="134" y="305"/>
                    <a:pt x="79" y="268"/>
                    <a:pt x="79" y="190"/>
                  </a:cubicBezTo>
                  <a:cubicBezTo>
                    <a:pt x="79" y="134"/>
                    <a:pt x="134" y="74"/>
                    <a:pt x="195" y="74"/>
                  </a:cubicBezTo>
                  <a:close/>
                  <a:moveTo>
                    <a:pt x="195" y="0"/>
                  </a:moveTo>
                  <a:cubicBezTo>
                    <a:pt x="97" y="0"/>
                    <a:pt x="0" y="74"/>
                    <a:pt x="0" y="190"/>
                  </a:cubicBezTo>
                  <a:cubicBezTo>
                    <a:pt x="0" y="305"/>
                    <a:pt x="97" y="402"/>
                    <a:pt x="195" y="402"/>
                  </a:cubicBezTo>
                  <a:lnTo>
                    <a:pt x="4566" y="402"/>
                  </a:lnTo>
                  <a:cubicBezTo>
                    <a:pt x="4681" y="402"/>
                    <a:pt x="4778" y="305"/>
                    <a:pt x="4778" y="190"/>
                  </a:cubicBezTo>
                  <a:cubicBezTo>
                    <a:pt x="4778" y="74"/>
                    <a:pt x="4681" y="0"/>
                    <a:pt x="456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2485441" y="1200557"/>
              <a:ext cx="1397347" cy="92618"/>
            </a:xfrm>
            <a:custGeom>
              <a:avLst/>
              <a:gdLst/>
              <a:ahLst/>
              <a:cxnLst/>
              <a:rect l="l" t="t" r="r" b="b"/>
              <a:pathLst>
                <a:path w="4677" h="310" extrusionOk="0">
                  <a:moveTo>
                    <a:pt x="153" y="0"/>
                  </a:moveTo>
                  <a:cubicBezTo>
                    <a:pt x="74" y="0"/>
                    <a:pt x="0" y="60"/>
                    <a:pt x="0" y="158"/>
                  </a:cubicBezTo>
                  <a:cubicBezTo>
                    <a:pt x="0" y="255"/>
                    <a:pt x="74" y="310"/>
                    <a:pt x="153" y="310"/>
                  </a:cubicBezTo>
                  <a:lnTo>
                    <a:pt x="4524" y="310"/>
                  </a:lnTo>
                  <a:cubicBezTo>
                    <a:pt x="4621" y="310"/>
                    <a:pt x="4676" y="255"/>
                    <a:pt x="4676" y="158"/>
                  </a:cubicBezTo>
                  <a:cubicBezTo>
                    <a:pt x="4676" y="60"/>
                    <a:pt x="4621" y="0"/>
                    <a:pt x="4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2472893" y="1183826"/>
              <a:ext cx="1427822" cy="127574"/>
            </a:xfrm>
            <a:custGeom>
              <a:avLst/>
              <a:gdLst/>
              <a:ahLst/>
              <a:cxnLst/>
              <a:rect l="l" t="t" r="r" b="b"/>
              <a:pathLst>
                <a:path w="4779" h="427" extrusionOk="0">
                  <a:moveTo>
                    <a:pt x="4566" y="98"/>
                  </a:moveTo>
                  <a:cubicBezTo>
                    <a:pt x="4640" y="98"/>
                    <a:pt x="4681" y="153"/>
                    <a:pt x="4681" y="214"/>
                  </a:cubicBezTo>
                  <a:cubicBezTo>
                    <a:pt x="4681" y="269"/>
                    <a:pt x="4640" y="329"/>
                    <a:pt x="4566" y="329"/>
                  </a:cubicBezTo>
                  <a:lnTo>
                    <a:pt x="195" y="329"/>
                  </a:lnTo>
                  <a:cubicBezTo>
                    <a:pt x="134" y="329"/>
                    <a:pt x="79" y="269"/>
                    <a:pt x="79" y="214"/>
                  </a:cubicBezTo>
                  <a:cubicBezTo>
                    <a:pt x="79" y="153"/>
                    <a:pt x="134" y="98"/>
                    <a:pt x="195" y="98"/>
                  </a:cubicBezTo>
                  <a:close/>
                  <a:moveTo>
                    <a:pt x="195" y="1"/>
                  </a:moveTo>
                  <a:cubicBezTo>
                    <a:pt x="97" y="1"/>
                    <a:pt x="0" y="98"/>
                    <a:pt x="0" y="214"/>
                  </a:cubicBezTo>
                  <a:cubicBezTo>
                    <a:pt x="0" y="329"/>
                    <a:pt x="97" y="426"/>
                    <a:pt x="195" y="426"/>
                  </a:cubicBezTo>
                  <a:lnTo>
                    <a:pt x="4566" y="426"/>
                  </a:lnTo>
                  <a:cubicBezTo>
                    <a:pt x="4681" y="426"/>
                    <a:pt x="4778" y="329"/>
                    <a:pt x="4778" y="214"/>
                  </a:cubicBezTo>
                  <a:cubicBezTo>
                    <a:pt x="4778" y="98"/>
                    <a:pt x="4681" y="1"/>
                    <a:pt x="4566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2485441" y="1828569"/>
              <a:ext cx="1397347" cy="97099"/>
            </a:xfrm>
            <a:custGeom>
              <a:avLst/>
              <a:gdLst/>
              <a:ahLst/>
              <a:cxnLst/>
              <a:rect l="l" t="t" r="r" b="b"/>
              <a:pathLst>
                <a:path w="4677" h="325" extrusionOk="0">
                  <a:moveTo>
                    <a:pt x="153" y="1"/>
                  </a:moveTo>
                  <a:cubicBezTo>
                    <a:pt x="74" y="1"/>
                    <a:pt x="0" y="75"/>
                    <a:pt x="0" y="172"/>
                  </a:cubicBezTo>
                  <a:cubicBezTo>
                    <a:pt x="0" y="269"/>
                    <a:pt x="74" y="324"/>
                    <a:pt x="153" y="324"/>
                  </a:cubicBezTo>
                  <a:lnTo>
                    <a:pt x="4524" y="324"/>
                  </a:lnTo>
                  <a:cubicBezTo>
                    <a:pt x="4621" y="324"/>
                    <a:pt x="4676" y="269"/>
                    <a:pt x="4676" y="172"/>
                  </a:cubicBezTo>
                  <a:cubicBezTo>
                    <a:pt x="4676" y="75"/>
                    <a:pt x="4621" y="1"/>
                    <a:pt x="4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2472893" y="1816319"/>
              <a:ext cx="1427822" cy="127275"/>
            </a:xfrm>
            <a:custGeom>
              <a:avLst/>
              <a:gdLst/>
              <a:ahLst/>
              <a:cxnLst/>
              <a:rect l="l" t="t" r="r" b="b"/>
              <a:pathLst>
                <a:path w="4779" h="426" extrusionOk="0">
                  <a:moveTo>
                    <a:pt x="4566" y="97"/>
                  </a:moveTo>
                  <a:cubicBezTo>
                    <a:pt x="4640" y="97"/>
                    <a:pt x="4681" y="134"/>
                    <a:pt x="4681" y="213"/>
                  </a:cubicBezTo>
                  <a:cubicBezTo>
                    <a:pt x="4681" y="273"/>
                    <a:pt x="4640" y="328"/>
                    <a:pt x="4566" y="328"/>
                  </a:cubicBezTo>
                  <a:lnTo>
                    <a:pt x="195" y="328"/>
                  </a:lnTo>
                  <a:cubicBezTo>
                    <a:pt x="134" y="328"/>
                    <a:pt x="79" y="273"/>
                    <a:pt x="79" y="213"/>
                  </a:cubicBezTo>
                  <a:cubicBezTo>
                    <a:pt x="79" y="134"/>
                    <a:pt x="134" y="97"/>
                    <a:pt x="195" y="97"/>
                  </a:cubicBezTo>
                  <a:close/>
                  <a:moveTo>
                    <a:pt x="195" y="0"/>
                  </a:moveTo>
                  <a:cubicBezTo>
                    <a:pt x="97" y="0"/>
                    <a:pt x="0" y="97"/>
                    <a:pt x="0" y="213"/>
                  </a:cubicBezTo>
                  <a:cubicBezTo>
                    <a:pt x="0" y="328"/>
                    <a:pt x="97" y="425"/>
                    <a:pt x="195" y="425"/>
                  </a:cubicBezTo>
                  <a:lnTo>
                    <a:pt x="4566" y="425"/>
                  </a:lnTo>
                  <a:cubicBezTo>
                    <a:pt x="4681" y="425"/>
                    <a:pt x="4778" y="328"/>
                    <a:pt x="4778" y="213"/>
                  </a:cubicBezTo>
                  <a:cubicBezTo>
                    <a:pt x="4778" y="97"/>
                    <a:pt x="4681" y="0"/>
                    <a:pt x="4566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2127814" y="746428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0"/>
                  </a:moveTo>
                  <a:cubicBezTo>
                    <a:pt x="79" y="0"/>
                    <a:pt x="0" y="79"/>
                    <a:pt x="0" y="157"/>
                  </a:cubicBezTo>
                  <a:lnTo>
                    <a:pt x="0" y="176"/>
                  </a:lnTo>
                  <a:cubicBezTo>
                    <a:pt x="0" y="250"/>
                    <a:pt x="79" y="328"/>
                    <a:pt x="157" y="328"/>
                  </a:cubicBezTo>
                  <a:lnTo>
                    <a:pt x="5721" y="328"/>
                  </a:lnTo>
                  <a:cubicBezTo>
                    <a:pt x="5818" y="328"/>
                    <a:pt x="5873" y="250"/>
                    <a:pt x="5873" y="176"/>
                  </a:cubicBezTo>
                  <a:lnTo>
                    <a:pt x="5873" y="157"/>
                  </a:lnTo>
                  <a:cubicBezTo>
                    <a:pt x="5873" y="79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2116760" y="735374"/>
              <a:ext cx="1783956" cy="120403"/>
            </a:xfrm>
            <a:custGeom>
              <a:avLst/>
              <a:gdLst/>
              <a:ahLst/>
              <a:cxnLst/>
              <a:rect l="l" t="t" r="r" b="b"/>
              <a:pathLst>
                <a:path w="5971" h="403" extrusionOk="0">
                  <a:moveTo>
                    <a:pt x="5758" y="79"/>
                  </a:moveTo>
                  <a:cubicBezTo>
                    <a:pt x="5832" y="79"/>
                    <a:pt x="5873" y="134"/>
                    <a:pt x="5873" y="194"/>
                  </a:cubicBezTo>
                  <a:lnTo>
                    <a:pt x="5873" y="213"/>
                  </a:lnTo>
                  <a:cubicBezTo>
                    <a:pt x="5873" y="268"/>
                    <a:pt x="5832" y="328"/>
                    <a:pt x="5758" y="328"/>
                  </a:cubicBezTo>
                  <a:lnTo>
                    <a:pt x="194" y="328"/>
                  </a:lnTo>
                  <a:cubicBezTo>
                    <a:pt x="134" y="328"/>
                    <a:pt x="79" y="268"/>
                    <a:pt x="79" y="213"/>
                  </a:cubicBezTo>
                  <a:lnTo>
                    <a:pt x="79" y="194"/>
                  </a:lnTo>
                  <a:cubicBezTo>
                    <a:pt x="79" y="134"/>
                    <a:pt x="134" y="79"/>
                    <a:pt x="194" y="79"/>
                  </a:cubicBezTo>
                  <a:close/>
                  <a:moveTo>
                    <a:pt x="194" y="0"/>
                  </a:moveTo>
                  <a:cubicBezTo>
                    <a:pt x="79" y="0"/>
                    <a:pt x="0" y="97"/>
                    <a:pt x="0" y="194"/>
                  </a:cubicBezTo>
                  <a:lnTo>
                    <a:pt x="0" y="213"/>
                  </a:lnTo>
                  <a:cubicBezTo>
                    <a:pt x="0" y="310"/>
                    <a:pt x="79" y="402"/>
                    <a:pt x="194" y="402"/>
                  </a:cubicBezTo>
                  <a:lnTo>
                    <a:pt x="5758" y="402"/>
                  </a:lnTo>
                  <a:cubicBezTo>
                    <a:pt x="5873" y="402"/>
                    <a:pt x="5970" y="310"/>
                    <a:pt x="5970" y="213"/>
                  </a:cubicBezTo>
                  <a:lnTo>
                    <a:pt x="5970" y="194"/>
                  </a:lnTo>
                  <a:cubicBezTo>
                    <a:pt x="5970" y="97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2127814" y="1351136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0"/>
                  </a:moveTo>
                  <a:cubicBezTo>
                    <a:pt x="79" y="0"/>
                    <a:pt x="0" y="74"/>
                    <a:pt x="0" y="153"/>
                  </a:cubicBezTo>
                  <a:cubicBezTo>
                    <a:pt x="0" y="250"/>
                    <a:pt x="79" y="328"/>
                    <a:pt x="157" y="328"/>
                  </a:cubicBezTo>
                  <a:lnTo>
                    <a:pt x="5721" y="328"/>
                  </a:lnTo>
                  <a:cubicBezTo>
                    <a:pt x="5818" y="328"/>
                    <a:pt x="5873" y="250"/>
                    <a:pt x="5873" y="153"/>
                  </a:cubicBezTo>
                  <a:cubicBezTo>
                    <a:pt x="5873" y="74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2116760" y="1338588"/>
              <a:ext cx="1783956" cy="121897"/>
            </a:xfrm>
            <a:custGeom>
              <a:avLst/>
              <a:gdLst/>
              <a:ahLst/>
              <a:cxnLst/>
              <a:rect l="l" t="t" r="r" b="b"/>
              <a:pathLst>
                <a:path w="5971" h="408" extrusionOk="0">
                  <a:moveTo>
                    <a:pt x="5758" y="79"/>
                  </a:moveTo>
                  <a:cubicBezTo>
                    <a:pt x="5832" y="79"/>
                    <a:pt x="5873" y="139"/>
                    <a:pt x="5873" y="195"/>
                  </a:cubicBezTo>
                  <a:cubicBezTo>
                    <a:pt x="5873" y="273"/>
                    <a:pt x="5832" y="310"/>
                    <a:pt x="5758" y="310"/>
                  </a:cubicBezTo>
                  <a:lnTo>
                    <a:pt x="194" y="310"/>
                  </a:lnTo>
                  <a:cubicBezTo>
                    <a:pt x="134" y="310"/>
                    <a:pt x="79" y="273"/>
                    <a:pt x="79" y="195"/>
                  </a:cubicBezTo>
                  <a:cubicBezTo>
                    <a:pt x="79" y="139"/>
                    <a:pt x="134" y="79"/>
                    <a:pt x="194" y="79"/>
                  </a:cubicBezTo>
                  <a:close/>
                  <a:moveTo>
                    <a:pt x="194" y="0"/>
                  </a:moveTo>
                  <a:cubicBezTo>
                    <a:pt x="79" y="0"/>
                    <a:pt x="0" y="79"/>
                    <a:pt x="0" y="195"/>
                  </a:cubicBezTo>
                  <a:cubicBezTo>
                    <a:pt x="0" y="310"/>
                    <a:pt x="79" y="407"/>
                    <a:pt x="194" y="407"/>
                  </a:cubicBezTo>
                  <a:lnTo>
                    <a:pt x="5758" y="407"/>
                  </a:lnTo>
                  <a:cubicBezTo>
                    <a:pt x="5873" y="407"/>
                    <a:pt x="5970" y="310"/>
                    <a:pt x="5970" y="195"/>
                  </a:cubicBezTo>
                  <a:cubicBezTo>
                    <a:pt x="5970" y="79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2127814" y="1983331"/>
              <a:ext cx="1754975" cy="92618"/>
            </a:xfrm>
            <a:custGeom>
              <a:avLst/>
              <a:gdLst/>
              <a:ahLst/>
              <a:cxnLst/>
              <a:rect l="l" t="t" r="r" b="b"/>
              <a:pathLst>
                <a:path w="5874" h="310" extrusionOk="0">
                  <a:moveTo>
                    <a:pt x="157" y="0"/>
                  </a:moveTo>
                  <a:cubicBezTo>
                    <a:pt x="79" y="0"/>
                    <a:pt x="0" y="60"/>
                    <a:pt x="0" y="153"/>
                  </a:cubicBezTo>
                  <a:cubicBezTo>
                    <a:pt x="0" y="250"/>
                    <a:pt x="79" y="310"/>
                    <a:pt x="157" y="310"/>
                  </a:cubicBezTo>
                  <a:lnTo>
                    <a:pt x="5721" y="310"/>
                  </a:lnTo>
                  <a:cubicBezTo>
                    <a:pt x="5818" y="310"/>
                    <a:pt x="5873" y="250"/>
                    <a:pt x="5873" y="153"/>
                  </a:cubicBezTo>
                  <a:cubicBezTo>
                    <a:pt x="5873" y="60"/>
                    <a:pt x="5818" y="0"/>
                    <a:pt x="5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2116760" y="1966600"/>
              <a:ext cx="1783956" cy="126080"/>
            </a:xfrm>
            <a:custGeom>
              <a:avLst/>
              <a:gdLst/>
              <a:ahLst/>
              <a:cxnLst/>
              <a:rect l="l" t="t" r="r" b="b"/>
              <a:pathLst>
                <a:path w="5971" h="422" extrusionOk="0">
                  <a:moveTo>
                    <a:pt x="5758" y="93"/>
                  </a:moveTo>
                  <a:cubicBezTo>
                    <a:pt x="5832" y="93"/>
                    <a:pt x="5873" y="153"/>
                    <a:pt x="5873" y="209"/>
                  </a:cubicBezTo>
                  <a:cubicBezTo>
                    <a:pt x="5873" y="287"/>
                    <a:pt x="5832" y="324"/>
                    <a:pt x="5758" y="324"/>
                  </a:cubicBezTo>
                  <a:lnTo>
                    <a:pt x="194" y="324"/>
                  </a:lnTo>
                  <a:cubicBezTo>
                    <a:pt x="134" y="324"/>
                    <a:pt x="79" y="287"/>
                    <a:pt x="79" y="209"/>
                  </a:cubicBezTo>
                  <a:cubicBezTo>
                    <a:pt x="79" y="153"/>
                    <a:pt x="134" y="93"/>
                    <a:pt x="194" y="93"/>
                  </a:cubicBezTo>
                  <a:close/>
                  <a:moveTo>
                    <a:pt x="194" y="1"/>
                  </a:moveTo>
                  <a:cubicBezTo>
                    <a:pt x="79" y="1"/>
                    <a:pt x="0" y="93"/>
                    <a:pt x="0" y="209"/>
                  </a:cubicBezTo>
                  <a:cubicBezTo>
                    <a:pt x="0" y="324"/>
                    <a:pt x="79" y="421"/>
                    <a:pt x="194" y="421"/>
                  </a:cubicBezTo>
                  <a:lnTo>
                    <a:pt x="5758" y="421"/>
                  </a:lnTo>
                  <a:cubicBezTo>
                    <a:pt x="5873" y="421"/>
                    <a:pt x="5970" y="324"/>
                    <a:pt x="5970" y="209"/>
                  </a:cubicBezTo>
                  <a:cubicBezTo>
                    <a:pt x="5970" y="93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2127814" y="889837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1"/>
                  </a:moveTo>
                  <a:cubicBezTo>
                    <a:pt x="79" y="1"/>
                    <a:pt x="0" y="79"/>
                    <a:pt x="0" y="158"/>
                  </a:cubicBezTo>
                  <a:lnTo>
                    <a:pt x="0" y="176"/>
                  </a:lnTo>
                  <a:cubicBezTo>
                    <a:pt x="0" y="255"/>
                    <a:pt x="79" y="329"/>
                    <a:pt x="157" y="329"/>
                  </a:cubicBezTo>
                  <a:lnTo>
                    <a:pt x="5721" y="329"/>
                  </a:lnTo>
                  <a:cubicBezTo>
                    <a:pt x="5818" y="329"/>
                    <a:pt x="5873" y="255"/>
                    <a:pt x="5873" y="176"/>
                  </a:cubicBezTo>
                  <a:lnTo>
                    <a:pt x="5873" y="158"/>
                  </a:lnTo>
                  <a:cubicBezTo>
                    <a:pt x="5873" y="79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2116760" y="878783"/>
              <a:ext cx="1783956" cy="121897"/>
            </a:xfrm>
            <a:custGeom>
              <a:avLst/>
              <a:gdLst/>
              <a:ahLst/>
              <a:cxnLst/>
              <a:rect l="l" t="t" r="r" b="b"/>
              <a:pathLst>
                <a:path w="5971" h="408" extrusionOk="0">
                  <a:moveTo>
                    <a:pt x="5758" y="79"/>
                  </a:moveTo>
                  <a:cubicBezTo>
                    <a:pt x="5832" y="79"/>
                    <a:pt x="5873" y="135"/>
                    <a:pt x="5873" y="195"/>
                  </a:cubicBezTo>
                  <a:lnTo>
                    <a:pt x="5873" y="213"/>
                  </a:lnTo>
                  <a:cubicBezTo>
                    <a:pt x="5873" y="269"/>
                    <a:pt x="5832" y="310"/>
                    <a:pt x="5758" y="310"/>
                  </a:cubicBezTo>
                  <a:lnTo>
                    <a:pt x="194" y="310"/>
                  </a:lnTo>
                  <a:cubicBezTo>
                    <a:pt x="134" y="310"/>
                    <a:pt x="79" y="269"/>
                    <a:pt x="79" y="213"/>
                  </a:cubicBezTo>
                  <a:lnTo>
                    <a:pt x="79" y="195"/>
                  </a:lnTo>
                  <a:cubicBezTo>
                    <a:pt x="79" y="135"/>
                    <a:pt x="134" y="79"/>
                    <a:pt x="194" y="79"/>
                  </a:cubicBezTo>
                  <a:close/>
                  <a:moveTo>
                    <a:pt x="194" y="1"/>
                  </a:moveTo>
                  <a:cubicBezTo>
                    <a:pt x="79" y="1"/>
                    <a:pt x="0" y="79"/>
                    <a:pt x="0" y="195"/>
                  </a:cubicBezTo>
                  <a:lnTo>
                    <a:pt x="0" y="213"/>
                  </a:lnTo>
                  <a:cubicBezTo>
                    <a:pt x="0" y="310"/>
                    <a:pt x="79" y="407"/>
                    <a:pt x="194" y="407"/>
                  </a:cubicBezTo>
                  <a:lnTo>
                    <a:pt x="5758" y="407"/>
                  </a:lnTo>
                  <a:cubicBezTo>
                    <a:pt x="5873" y="407"/>
                    <a:pt x="5970" y="310"/>
                    <a:pt x="5970" y="213"/>
                  </a:cubicBezTo>
                  <a:lnTo>
                    <a:pt x="5970" y="195"/>
                  </a:lnTo>
                  <a:cubicBezTo>
                    <a:pt x="5970" y="79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2127814" y="1494545"/>
              <a:ext cx="1754975" cy="98295"/>
            </a:xfrm>
            <a:custGeom>
              <a:avLst/>
              <a:gdLst/>
              <a:ahLst/>
              <a:cxnLst/>
              <a:rect l="l" t="t" r="r" b="b"/>
              <a:pathLst>
                <a:path w="5874" h="329" extrusionOk="0">
                  <a:moveTo>
                    <a:pt x="157" y="1"/>
                  </a:moveTo>
                  <a:cubicBezTo>
                    <a:pt x="79" y="1"/>
                    <a:pt x="0" y="56"/>
                    <a:pt x="0" y="153"/>
                  </a:cubicBezTo>
                  <a:cubicBezTo>
                    <a:pt x="0" y="250"/>
                    <a:pt x="79" y="329"/>
                    <a:pt x="157" y="329"/>
                  </a:cubicBezTo>
                  <a:lnTo>
                    <a:pt x="5721" y="329"/>
                  </a:lnTo>
                  <a:cubicBezTo>
                    <a:pt x="5818" y="329"/>
                    <a:pt x="5873" y="250"/>
                    <a:pt x="5873" y="153"/>
                  </a:cubicBezTo>
                  <a:cubicBezTo>
                    <a:pt x="5873" y="56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2116760" y="1476619"/>
              <a:ext cx="1783956" cy="127275"/>
            </a:xfrm>
            <a:custGeom>
              <a:avLst/>
              <a:gdLst/>
              <a:ahLst/>
              <a:cxnLst/>
              <a:rect l="l" t="t" r="r" b="b"/>
              <a:pathLst>
                <a:path w="5971" h="426" extrusionOk="0">
                  <a:moveTo>
                    <a:pt x="5758" y="98"/>
                  </a:moveTo>
                  <a:cubicBezTo>
                    <a:pt x="5832" y="98"/>
                    <a:pt x="5873" y="158"/>
                    <a:pt x="5873" y="213"/>
                  </a:cubicBezTo>
                  <a:cubicBezTo>
                    <a:pt x="5873" y="292"/>
                    <a:pt x="5832" y="329"/>
                    <a:pt x="5758" y="329"/>
                  </a:cubicBezTo>
                  <a:lnTo>
                    <a:pt x="194" y="329"/>
                  </a:lnTo>
                  <a:cubicBezTo>
                    <a:pt x="134" y="329"/>
                    <a:pt x="79" y="292"/>
                    <a:pt x="79" y="213"/>
                  </a:cubicBezTo>
                  <a:cubicBezTo>
                    <a:pt x="79" y="158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26"/>
                    <a:pt x="194" y="426"/>
                  </a:cubicBezTo>
                  <a:lnTo>
                    <a:pt x="5758" y="426"/>
                  </a:lnTo>
                  <a:cubicBezTo>
                    <a:pt x="5873" y="426"/>
                    <a:pt x="5970" y="329"/>
                    <a:pt x="5970" y="213"/>
                  </a:cubicBezTo>
                  <a:cubicBezTo>
                    <a:pt x="5970" y="98"/>
                    <a:pt x="5873" y="1"/>
                    <a:pt x="5758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2127814" y="2126740"/>
              <a:ext cx="1754975" cy="92917"/>
            </a:xfrm>
            <a:custGeom>
              <a:avLst/>
              <a:gdLst/>
              <a:ahLst/>
              <a:cxnLst/>
              <a:rect l="l" t="t" r="r" b="b"/>
              <a:pathLst>
                <a:path w="5874" h="311" extrusionOk="0">
                  <a:moveTo>
                    <a:pt x="157" y="1"/>
                  </a:moveTo>
                  <a:cubicBezTo>
                    <a:pt x="79" y="1"/>
                    <a:pt x="0" y="61"/>
                    <a:pt x="0" y="158"/>
                  </a:cubicBezTo>
                  <a:cubicBezTo>
                    <a:pt x="0" y="250"/>
                    <a:pt x="79" y="310"/>
                    <a:pt x="157" y="310"/>
                  </a:cubicBezTo>
                  <a:lnTo>
                    <a:pt x="5721" y="310"/>
                  </a:lnTo>
                  <a:cubicBezTo>
                    <a:pt x="5818" y="310"/>
                    <a:pt x="5873" y="250"/>
                    <a:pt x="5873" y="158"/>
                  </a:cubicBezTo>
                  <a:cubicBezTo>
                    <a:pt x="5873" y="61"/>
                    <a:pt x="5818" y="1"/>
                    <a:pt x="5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2116760" y="2110308"/>
              <a:ext cx="1783956" cy="125781"/>
            </a:xfrm>
            <a:custGeom>
              <a:avLst/>
              <a:gdLst/>
              <a:ahLst/>
              <a:cxnLst/>
              <a:rect l="l" t="t" r="r" b="b"/>
              <a:pathLst>
                <a:path w="5971" h="421" extrusionOk="0">
                  <a:moveTo>
                    <a:pt x="5758" y="97"/>
                  </a:moveTo>
                  <a:cubicBezTo>
                    <a:pt x="5832" y="97"/>
                    <a:pt x="5873" y="134"/>
                    <a:pt x="5873" y="213"/>
                  </a:cubicBezTo>
                  <a:cubicBezTo>
                    <a:pt x="5873" y="268"/>
                    <a:pt x="5832" y="328"/>
                    <a:pt x="5758" y="328"/>
                  </a:cubicBezTo>
                  <a:lnTo>
                    <a:pt x="194" y="328"/>
                  </a:lnTo>
                  <a:cubicBezTo>
                    <a:pt x="134" y="328"/>
                    <a:pt x="79" y="268"/>
                    <a:pt x="79" y="213"/>
                  </a:cubicBezTo>
                  <a:cubicBezTo>
                    <a:pt x="79" y="134"/>
                    <a:pt x="134" y="97"/>
                    <a:pt x="194" y="97"/>
                  </a:cubicBezTo>
                  <a:close/>
                  <a:moveTo>
                    <a:pt x="194" y="0"/>
                  </a:moveTo>
                  <a:cubicBezTo>
                    <a:pt x="79" y="0"/>
                    <a:pt x="0" y="97"/>
                    <a:pt x="0" y="213"/>
                  </a:cubicBezTo>
                  <a:cubicBezTo>
                    <a:pt x="0" y="328"/>
                    <a:pt x="79" y="421"/>
                    <a:pt x="194" y="421"/>
                  </a:cubicBezTo>
                  <a:lnTo>
                    <a:pt x="5758" y="421"/>
                  </a:lnTo>
                  <a:cubicBezTo>
                    <a:pt x="5873" y="421"/>
                    <a:pt x="5970" y="328"/>
                    <a:pt x="5970" y="213"/>
                  </a:cubicBezTo>
                  <a:cubicBezTo>
                    <a:pt x="5970" y="97"/>
                    <a:pt x="5873" y="0"/>
                    <a:pt x="5758" y="0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2127814" y="1045795"/>
              <a:ext cx="875396" cy="98295"/>
            </a:xfrm>
            <a:custGeom>
              <a:avLst/>
              <a:gdLst/>
              <a:ahLst/>
              <a:cxnLst/>
              <a:rect l="l" t="t" r="r" b="b"/>
              <a:pathLst>
                <a:path w="2930" h="329" extrusionOk="0">
                  <a:moveTo>
                    <a:pt x="157" y="1"/>
                  </a:moveTo>
                  <a:cubicBezTo>
                    <a:pt x="79" y="1"/>
                    <a:pt x="0" y="56"/>
                    <a:pt x="0" y="153"/>
                  </a:cubicBezTo>
                  <a:cubicBezTo>
                    <a:pt x="0" y="250"/>
                    <a:pt x="79" y="329"/>
                    <a:pt x="157" y="329"/>
                  </a:cubicBezTo>
                  <a:lnTo>
                    <a:pt x="2754" y="329"/>
                  </a:lnTo>
                  <a:cubicBezTo>
                    <a:pt x="2851" y="329"/>
                    <a:pt x="2930" y="250"/>
                    <a:pt x="2930" y="153"/>
                  </a:cubicBezTo>
                  <a:cubicBezTo>
                    <a:pt x="2930" y="56"/>
                    <a:pt x="2851" y="1"/>
                    <a:pt x="2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2116760" y="1034740"/>
              <a:ext cx="897505" cy="120403"/>
            </a:xfrm>
            <a:custGeom>
              <a:avLst/>
              <a:gdLst/>
              <a:ahLst/>
              <a:cxnLst/>
              <a:rect l="l" t="t" r="r" b="b"/>
              <a:pathLst>
                <a:path w="3004" h="403" extrusionOk="0">
                  <a:moveTo>
                    <a:pt x="2791" y="75"/>
                  </a:moveTo>
                  <a:cubicBezTo>
                    <a:pt x="2870" y="75"/>
                    <a:pt x="2907" y="135"/>
                    <a:pt x="2907" y="190"/>
                  </a:cubicBezTo>
                  <a:cubicBezTo>
                    <a:pt x="2907" y="269"/>
                    <a:pt x="2870" y="306"/>
                    <a:pt x="2791" y="306"/>
                  </a:cubicBezTo>
                  <a:lnTo>
                    <a:pt x="194" y="306"/>
                  </a:lnTo>
                  <a:cubicBezTo>
                    <a:pt x="134" y="306"/>
                    <a:pt x="79" y="269"/>
                    <a:pt x="79" y="190"/>
                  </a:cubicBezTo>
                  <a:cubicBezTo>
                    <a:pt x="79" y="135"/>
                    <a:pt x="134" y="75"/>
                    <a:pt x="194" y="75"/>
                  </a:cubicBezTo>
                  <a:close/>
                  <a:moveTo>
                    <a:pt x="194" y="1"/>
                  </a:moveTo>
                  <a:cubicBezTo>
                    <a:pt x="79" y="1"/>
                    <a:pt x="0" y="75"/>
                    <a:pt x="0" y="190"/>
                  </a:cubicBezTo>
                  <a:cubicBezTo>
                    <a:pt x="0" y="306"/>
                    <a:pt x="79" y="403"/>
                    <a:pt x="194" y="403"/>
                  </a:cubicBezTo>
                  <a:lnTo>
                    <a:pt x="2791" y="403"/>
                  </a:lnTo>
                  <a:cubicBezTo>
                    <a:pt x="2907" y="403"/>
                    <a:pt x="3004" y="306"/>
                    <a:pt x="3004" y="190"/>
                  </a:cubicBezTo>
                  <a:cubicBezTo>
                    <a:pt x="3004" y="75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2127814" y="1649307"/>
              <a:ext cx="875396" cy="92618"/>
            </a:xfrm>
            <a:custGeom>
              <a:avLst/>
              <a:gdLst/>
              <a:ahLst/>
              <a:cxnLst/>
              <a:rect l="l" t="t" r="r" b="b"/>
              <a:pathLst>
                <a:path w="2930" h="310" extrusionOk="0">
                  <a:moveTo>
                    <a:pt x="157" y="0"/>
                  </a:moveTo>
                  <a:cubicBezTo>
                    <a:pt x="79" y="0"/>
                    <a:pt x="0" y="60"/>
                    <a:pt x="0" y="157"/>
                  </a:cubicBezTo>
                  <a:cubicBezTo>
                    <a:pt x="0" y="254"/>
                    <a:pt x="79" y="310"/>
                    <a:pt x="157" y="310"/>
                  </a:cubicBezTo>
                  <a:lnTo>
                    <a:pt x="2754" y="310"/>
                  </a:lnTo>
                  <a:cubicBezTo>
                    <a:pt x="2851" y="310"/>
                    <a:pt x="2930" y="254"/>
                    <a:pt x="2930" y="157"/>
                  </a:cubicBezTo>
                  <a:cubicBezTo>
                    <a:pt x="2930" y="60"/>
                    <a:pt x="2851" y="0"/>
                    <a:pt x="2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2116760" y="1632576"/>
              <a:ext cx="897505" cy="127275"/>
            </a:xfrm>
            <a:custGeom>
              <a:avLst/>
              <a:gdLst/>
              <a:ahLst/>
              <a:cxnLst/>
              <a:rect l="l" t="t" r="r" b="b"/>
              <a:pathLst>
                <a:path w="3004" h="426" extrusionOk="0">
                  <a:moveTo>
                    <a:pt x="2791" y="98"/>
                  </a:moveTo>
                  <a:cubicBezTo>
                    <a:pt x="2870" y="98"/>
                    <a:pt x="2907" y="135"/>
                    <a:pt x="2907" y="213"/>
                  </a:cubicBezTo>
                  <a:cubicBezTo>
                    <a:pt x="2907" y="269"/>
                    <a:pt x="2870" y="329"/>
                    <a:pt x="2791" y="329"/>
                  </a:cubicBezTo>
                  <a:lnTo>
                    <a:pt x="194" y="329"/>
                  </a:lnTo>
                  <a:cubicBezTo>
                    <a:pt x="134" y="329"/>
                    <a:pt x="79" y="269"/>
                    <a:pt x="79" y="213"/>
                  </a:cubicBezTo>
                  <a:cubicBezTo>
                    <a:pt x="79" y="135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26"/>
                    <a:pt x="194" y="426"/>
                  </a:cubicBezTo>
                  <a:lnTo>
                    <a:pt x="2791" y="426"/>
                  </a:lnTo>
                  <a:cubicBezTo>
                    <a:pt x="2907" y="426"/>
                    <a:pt x="3004" y="329"/>
                    <a:pt x="3004" y="213"/>
                  </a:cubicBezTo>
                  <a:cubicBezTo>
                    <a:pt x="3004" y="98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2127814" y="2277319"/>
              <a:ext cx="875396" cy="96801"/>
            </a:xfrm>
            <a:custGeom>
              <a:avLst/>
              <a:gdLst/>
              <a:ahLst/>
              <a:cxnLst/>
              <a:rect l="l" t="t" r="r" b="b"/>
              <a:pathLst>
                <a:path w="2930" h="324" extrusionOk="0">
                  <a:moveTo>
                    <a:pt x="157" y="0"/>
                  </a:moveTo>
                  <a:cubicBezTo>
                    <a:pt x="79" y="0"/>
                    <a:pt x="0" y="74"/>
                    <a:pt x="0" y="171"/>
                  </a:cubicBezTo>
                  <a:cubicBezTo>
                    <a:pt x="0" y="250"/>
                    <a:pt x="79" y="324"/>
                    <a:pt x="157" y="324"/>
                  </a:cubicBezTo>
                  <a:lnTo>
                    <a:pt x="2754" y="324"/>
                  </a:lnTo>
                  <a:cubicBezTo>
                    <a:pt x="2851" y="324"/>
                    <a:pt x="2930" y="250"/>
                    <a:pt x="2930" y="171"/>
                  </a:cubicBezTo>
                  <a:cubicBezTo>
                    <a:pt x="2930" y="74"/>
                    <a:pt x="2851" y="0"/>
                    <a:pt x="2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2116760" y="2264771"/>
              <a:ext cx="897505" cy="121897"/>
            </a:xfrm>
            <a:custGeom>
              <a:avLst/>
              <a:gdLst/>
              <a:ahLst/>
              <a:cxnLst/>
              <a:rect l="l" t="t" r="r" b="b"/>
              <a:pathLst>
                <a:path w="3004" h="408" extrusionOk="0">
                  <a:moveTo>
                    <a:pt x="2791" y="98"/>
                  </a:moveTo>
                  <a:cubicBezTo>
                    <a:pt x="2870" y="98"/>
                    <a:pt x="2907" y="135"/>
                    <a:pt x="2907" y="213"/>
                  </a:cubicBezTo>
                  <a:cubicBezTo>
                    <a:pt x="2907" y="273"/>
                    <a:pt x="2870" y="329"/>
                    <a:pt x="2791" y="329"/>
                  </a:cubicBezTo>
                  <a:lnTo>
                    <a:pt x="194" y="329"/>
                  </a:lnTo>
                  <a:cubicBezTo>
                    <a:pt x="134" y="329"/>
                    <a:pt x="79" y="273"/>
                    <a:pt x="79" y="213"/>
                  </a:cubicBezTo>
                  <a:cubicBezTo>
                    <a:pt x="79" y="135"/>
                    <a:pt x="134" y="98"/>
                    <a:pt x="194" y="98"/>
                  </a:cubicBezTo>
                  <a:close/>
                  <a:moveTo>
                    <a:pt x="194" y="1"/>
                  </a:moveTo>
                  <a:cubicBezTo>
                    <a:pt x="79" y="1"/>
                    <a:pt x="0" y="98"/>
                    <a:pt x="0" y="213"/>
                  </a:cubicBezTo>
                  <a:cubicBezTo>
                    <a:pt x="0" y="329"/>
                    <a:pt x="79" y="407"/>
                    <a:pt x="194" y="407"/>
                  </a:cubicBezTo>
                  <a:lnTo>
                    <a:pt x="2791" y="407"/>
                  </a:lnTo>
                  <a:cubicBezTo>
                    <a:pt x="2907" y="407"/>
                    <a:pt x="3004" y="329"/>
                    <a:pt x="3004" y="213"/>
                  </a:cubicBezTo>
                  <a:cubicBezTo>
                    <a:pt x="3004" y="98"/>
                    <a:pt x="2907" y="1"/>
                    <a:pt x="2791" y="1"/>
                  </a:cubicBezTo>
                  <a:close/>
                </a:path>
              </a:pathLst>
            </a:custGeom>
            <a:solidFill>
              <a:srgbClr val="3E2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AEE2F4">
            <a:alpha val="3082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4" r:id="rId3"/>
    <p:sldLayoutId id="214748367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33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mailto:joao.p.caldas@inesctec.pt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/>
          <p:cNvSpPr txBox="1">
            <a:spLocks noGrp="1"/>
          </p:cNvSpPr>
          <p:nvPr>
            <p:ph type="ctrTitle"/>
          </p:nvPr>
        </p:nvSpPr>
        <p:spPr>
          <a:xfrm>
            <a:off x="3913908" y="1415242"/>
            <a:ext cx="4904725" cy="24661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000" i="1" spc="-300" dirty="0"/>
              <a:t>Development</a:t>
            </a:r>
            <a:r>
              <a:rPr lang="en-US" sz="3000" i="1" dirty="0"/>
              <a:t> </a:t>
            </a:r>
            <a:r>
              <a:rPr lang="en-US" sz="3000" b="0" i="1" dirty="0"/>
              <a:t>of a </a:t>
            </a:r>
            <a:r>
              <a:rPr lang="en-US" sz="3000" i="1" spc="-300" dirty="0"/>
              <a:t>Simulation</a:t>
            </a:r>
            <a:r>
              <a:rPr lang="en-US" sz="3000" i="1" dirty="0"/>
              <a:t> </a:t>
            </a:r>
            <a:r>
              <a:rPr lang="en-US" sz="3000" i="1" spc="-300" dirty="0"/>
              <a:t>Model</a:t>
            </a:r>
            <a:r>
              <a:rPr lang="en-US" sz="3000" i="1" dirty="0"/>
              <a:t> </a:t>
            </a:r>
            <a:r>
              <a:rPr lang="en-US" sz="3000" b="0" i="1" dirty="0"/>
              <a:t>for</a:t>
            </a:r>
            <a:r>
              <a:rPr lang="en-US" sz="3000" i="1" dirty="0"/>
              <a:t> </a:t>
            </a:r>
            <a:r>
              <a:rPr lang="en-US" sz="3000" i="1" spc="-300" dirty="0"/>
              <a:t>Analysis</a:t>
            </a:r>
            <a:r>
              <a:rPr lang="en-US" sz="3000" i="1" dirty="0"/>
              <a:t> </a:t>
            </a:r>
            <a:r>
              <a:rPr lang="en-US" sz="3000" b="0" i="1" dirty="0"/>
              <a:t>and </a:t>
            </a:r>
            <a:r>
              <a:rPr lang="en-US" sz="3000" i="1" spc="-300" dirty="0"/>
              <a:t>Evaluation</a:t>
            </a:r>
            <a:r>
              <a:rPr lang="en-US" sz="3000" i="1" dirty="0"/>
              <a:t> </a:t>
            </a:r>
            <a:r>
              <a:rPr lang="en-US" sz="3000" b="0" i="1" dirty="0"/>
              <a:t>of</a:t>
            </a:r>
            <a:r>
              <a:rPr lang="en-US" sz="3000" i="1" dirty="0"/>
              <a:t> </a:t>
            </a:r>
            <a:r>
              <a:rPr lang="en-US" sz="3000" i="1" spc="-300" dirty="0"/>
              <a:t>Human-Machine</a:t>
            </a:r>
            <a:r>
              <a:rPr lang="en-US" sz="3000" i="1" dirty="0"/>
              <a:t> </a:t>
            </a:r>
            <a:r>
              <a:rPr lang="en-US" sz="3000" i="1" spc="-300" dirty="0"/>
              <a:t>Collaboration</a:t>
            </a:r>
            <a:r>
              <a:rPr lang="en-US" sz="3000" i="1" dirty="0"/>
              <a:t> </a:t>
            </a:r>
            <a:r>
              <a:rPr lang="en-US" sz="3000" b="0" i="1" dirty="0"/>
              <a:t>in</a:t>
            </a:r>
            <a:r>
              <a:rPr lang="en-US" sz="3000" i="1" dirty="0"/>
              <a:t> </a:t>
            </a:r>
            <a:r>
              <a:rPr lang="en-US" sz="3000" i="1" spc="-300" dirty="0"/>
              <a:t>Assembly Cells</a:t>
            </a:r>
            <a:endParaRPr lang="en-US" sz="3000" b="0" i="1" spc="-300" dirty="0"/>
          </a:p>
        </p:txBody>
      </p:sp>
      <p:sp>
        <p:nvSpPr>
          <p:cNvPr id="536" name="Google Shape;536;p33"/>
          <p:cNvSpPr txBox="1">
            <a:spLocks noGrp="1"/>
          </p:cNvSpPr>
          <p:nvPr>
            <p:ph type="subTitle" idx="1"/>
          </p:nvPr>
        </p:nvSpPr>
        <p:spPr>
          <a:xfrm>
            <a:off x="4914373" y="4245028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Author: </a:t>
            </a:r>
            <a:r>
              <a:rPr lang="en" sz="1100" dirty="0"/>
              <a:t>João Pedro Caldas Ferreira @ FEUP</a:t>
            </a:r>
            <a:br>
              <a:rPr lang="en" sz="1100" dirty="0"/>
            </a:br>
            <a:r>
              <a:rPr lang="en" sz="1100" b="1" dirty="0"/>
              <a:t>Supervisor: </a:t>
            </a:r>
            <a:r>
              <a:rPr lang="en" sz="1100" dirty="0"/>
              <a:t>António Almeida @ INESC-TEC </a:t>
            </a:r>
            <a:endParaRPr sz="11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EB38DB-F7B1-0B77-3985-D204B14EBE76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EBACFD-B18E-CD10-BDC7-FBA0D6BCEA6A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596406-0AB9-B81F-7278-B780BA939A2D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erson wearing virtual reality goggles&#10;&#10;AI-generated content may be incorrect.">
            <a:extLst>
              <a:ext uri="{FF2B5EF4-FFF2-40B4-BE49-F238E27FC236}">
                <a16:creationId xmlns:a16="http://schemas.microsoft.com/office/drawing/2014/main" id="{D09417EB-B1D4-CCD1-32FD-3D23A85E1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2" y="823263"/>
            <a:ext cx="4024746" cy="4024746"/>
          </a:xfrm>
          <a:prstGeom prst="rect">
            <a:avLst/>
          </a:prstGeom>
        </p:spPr>
      </p:pic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997F7A0D-BAD5-1CE3-1775-17A21B21BB5C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 descr="A red letters on a black background&#10;&#10;AI-generated content may be incorrect.">
            <a:extLst>
              <a:ext uri="{FF2B5EF4-FFF2-40B4-BE49-F238E27FC236}">
                <a16:creationId xmlns:a16="http://schemas.microsoft.com/office/drawing/2014/main" id="{0C71888B-FF8C-3B1E-B328-485806D56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61" y="823263"/>
            <a:ext cx="1101437" cy="246963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EAF8395-78F1-C653-2E77-2D3D55A82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03" y="672414"/>
            <a:ext cx="1097324" cy="548662"/>
          </a:xfrm>
          <a:prstGeom prst="rect">
            <a:avLst/>
          </a:prstGeom>
        </p:spPr>
      </p:pic>
      <p:pic>
        <p:nvPicPr>
          <p:cNvPr id="11" name="Picture 10" descr="A blu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07A12BC-D843-1301-EEC7-D4B303CDE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7586" y="734778"/>
            <a:ext cx="1214676" cy="423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1BAD58B-2545-18DD-BBF5-958CBFDC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BB8DEC16-68D3-454E-1E2E-4C49A8462D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Table </a:t>
            </a:r>
            <a:r>
              <a:rPr lang="en-US" sz="3600" b="0" i="1" dirty="0"/>
              <a:t>of</a:t>
            </a:r>
            <a:r>
              <a:rPr lang="en-US" sz="3600" b="0" i="1" spc="-300" dirty="0"/>
              <a:t> </a:t>
            </a:r>
            <a:r>
              <a:rPr lang="en-US" sz="3600" i="1" spc="-300" dirty="0"/>
              <a:t>Contents</a:t>
            </a:r>
            <a:endParaRPr lang="en-US" sz="3600" b="0" i="1" spc="-3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1C136E-4425-94CA-5774-0EB2E3C66602}"/>
              </a:ext>
            </a:extLst>
          </p:cNvPr>
          <p:cNvSpPr>
            <a:spLocks/>
          </p:cNvSpPr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ECE28E-9BD1-FEE7-25C1-BD4CD873E1CC}"/>
              </a:ext>
            </a:extLst>
          </p:cNvPr>
          <p:cNvSpPr>
            <a:spLocks/>
          </p:cNvSpPr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A0B27D-BF9D-1403-1FE6-193E1A27E31C}"/>
              </a:ext>
            </a:extLst>
          </p:cNvPr>
          <p:cNvSpPr>
            <a:spLocks/>
          </p:cNvSpPr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EF247749-47E4-6BFE-EE26-E4E11A1970EF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1467;p37">
            <a:extLst>
              <a:ext uri="{FF2B5EF4-FFF2-40B4-BE49-F238E27FC236}">
                <a16:creationId xmlns:a16="http://schemas.microsoft.com/office/drawing/2014/main" id="{2B7F0BF7-3635-B8ED-010A-ECC32B09EC3F}"/>
              </a:ext>
            </a:extLst>
          </p:cNvPr>
          <p:cNvSpPr txBox="1">
            <a:spLocks/>
          </p:cNvSpPr>
          <p:nvPr/>
        </p:nvSpPr>
        <p:spPr>
          <a:xfrm>
            <a:off x="950595" y="1761603"/>
            <a:ext cx="20821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Introduction</a:t>
            </a:r>
            <a:endParaRPr sz="2000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Google Shape;1468;p37">
            <a:extLst>
              <a:ext uri="{FF2B5EF4-FFF2-40B4-BE49-F238E27FC236}">
                <a16:creationId xmlns:a16="http://schemas.microsoft.com/office/drawing/2014/main" id="{B6FBEDAE-A559-F6AC-0C54-EAB9F3102339}"/>
              </a:ext>
            </a:extLst>
          </p:cNvPr>
          <p:cNvSpPr txBox="1">
            <a:spLocks/>
          </p:cNvSpPr>
          <p:nvPr/>
        </p:nvSpPr>
        <p:spPr>
          <a:xfrm>
            <a:off x="463410" y="2163903"/>
            <a:ext cx="256935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sz="1200" dirty="0">
                <a:latin typeface="Inter" panose="020B0604020202020204" charset="0"/>
                <a:ea typeface="Inter" panose="020B0604020202020204" charset="0"/>
              </a:rPr>
              <a:t>Overview of the </a:t>
            </a:r>
            <a:r>
              <a:rPr lang="en-US" sz="12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research</a:t>
            </a:r>
            <a:r>
              <a:rPr lang="en-US" sz="1200" dirty="0">
                <a:latin typeface="Inter" panose="020B0604020202020204" charset="0"/>
                <a:ea typeface="Inter" panose="020B0604020202020204" charset="0"/>
              </a:rPr>
              <a:t> context and objectives.</a:t>
            </a:r>
            <a:endParaRPr lang="en-US" sz="1200" dirty="0">
              <a:solidFill>
                <a:schemeClr val="accent4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E177E5-2D62-EE00-8BDE-544E60BB4A53}"/>
              </a:ext>
            </a:extLst>
          </p:cNvPr>
          <p:cNvSpPr txBox="1">
            <a:spLocks/>
          </p:cNvSpPr>
          <p:nvPr/>
        </p:nvSpPr>
        <p:spPr>
          <a:xfrm>
            <a:off x="563166" y="1761603"/>
            <a:ext cx="354584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>
                    <a:lumMod val="9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1</a:t>
            </a:r>
            <a:endParaRPr lang="en-US" dirty="0">
              <a:solidFill>
                <a:schemeClr val="bg1">
                  <a:lumMod val="9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19" name="Google Shape;1467;p37">
            <a:extLst>
              <a:ext uri="{FF2B5EF4-FFF2-40B4-BE49-F238E27FC236}">
                <a16:creationId xmlns:a16="http://schemas.microsoft.com/office/drawing/2014/main" id="{364D1601-B30F-10EF-D345-D655344F7E4B}"/>
              </a:ext>
            </a:extLst>
          </p:cNvPr>
          <p:cNvSpPr txBox="1">
            <a:spLocks/>
          </p:cNvSpPr>
          <p:nvPr/>
        </p:nvSpPr>
        <p:spPr>
          <a:xfrm>
            <a:off x="3758088" y="1761603"/>
            <a:ext cx="20821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>
                    <a:lumMod val="1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State of the Art</a:t>
            </a:r>
            <a:endParaRPr sz="1800" dirty="0">
              <a:solidFill>
                <a:schemeClr val="accent2">
                  <a:lumMod val="1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" name="Google Shape;1468;p37">
            <a:extLst>
              <a:ext uri="{FF2B5EF4-FFF2-40B4-BE49-F238E27FC236}">
                <a16:creationId xmlns:a16="http://schemas.microsoft.com/office/drawing/2014/main" id="{4AAF9CC5-1EEA-9FFC-BC4D-D7BA02AB679D}"/>
              </a:ext>
            </a:extLst>
          </p:cNvPr>
          <p:cNvSpPr txBox="1">
            <a:spLocks/>
          </p:cNvSpPr>
          <p:nvPr/>
        </p:nvSpPr>
        <p:spPr>
          <a:xfrm>
            <a:off x="3337203" y="2153956"/>
            <a:ext cx="256935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sz="1200" dirty="0">
                <a:latin typeface="Inter" panose="020B0604020202020204" charset="0"/>
                <a:ea typeface="Inter" panose="020B0604020202020204" charset="0"/>
              </a:rPr>
              <a:t>Quick review of key technologies analyzed for the dissertation project.</a:t>
            </a:r>
            <a:endParaRPr lang="en-US" sz="1200" dirty="0">
              <a:solidFill>
                <a:schemeClr val="accent4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E1B8B-363C-ACEA-72F3-1D19A340FF03}"/>
              </a:ext>
            </a:extLst>
          </p:cNvPr>
          <p:cNvSpPr txBox="1">
            <a:spLocks/>
          </p:cNvSpPr>
          <p:nvPr/>
        </p:nvSpPr>
        <p:spPr>
          <a:xfrm>
            <a:off x="3403504" y="1761603"/>
            <a:ext cx="354584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>
                    <a:lumMod val="9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2</a:t>
            </a:r>
            <a:endParaRPr lang="en-US" dirty="0">
              <a:solidFill>
                <a:schemeClr val="bg1">
                  <a:lumMod val="9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22" name="Google Shape;1467;p37">
            <a:extLst>
              <a:ext uri="{FF2B5EF4-FFF2-40B4-BE49-F238E27FC236}">
                <a16:creationId xmlns:a16="http://schemas.microsoft.com/office/drawing/2014/main" id="{43DF0BC7-B008-A2D2-7187-21A0F915C712}"/>
              </a:ext>
            </a:extLst>
          </p:cNvPr>
          <p:cNvSpPr txBox="1">
            <a:spLocks/>
          </p:cNvSpPr>
          <p:nvPr/>
        </p:nvSpPr>
        <p:spPr>
          <a:xfrm>
            <a:off x="6698181" y="1783698"/>
            <a:ext cx="20821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>
                    <a:lumMod val="1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Development</a:t>
            </a:r>
            <a:endParaRPr sz="2000" dirty="0">
              <a:solidFill>
                <a:schemeClr val="accent2">
                  <a:lumMod val="1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" name="Google Shape;1468;p37">
            <a:extLst>
              <a:ext uri="{FF2B5EF4-FFF2-40B4-BE49-F238E27FC236}">
                <a16:creationId xmlns:a16="http://schemas.microsoft.com/office/drawing/2014/main" id="{3E6F5AB5-57BA-8EAA-607E-7635C2AAD168}"/>
              </a:ext>
            </a:extLst>
          </p:cNvPr>
          <p:cNvSpPr txBox="1">
            <a:spLocks/>
          </p:cNvSpPr>
          <p:nvPr/>
        </p:nvSpPr>
        <p:spPr>
          <a:xfrm>
            <a:off x="6277907" y="2131752"/>
            <a:ext cx="2502439" cy="132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sz="1200" dirty="0">
                <a:latin typeface="Inter" panose="020B0604020202020204" charset="0"/>
                <a:ea typeface="Inter" panose="020B0604020202020204" charset="0"/>
              </a:rPr>
              <a:t>Explanation of key settings of the development of the simulation framework, along with its limitations.</a:t>
            </a:r>
            <a:endParaRPr sz="1200" dirty="0">
              <a:solidFill>
                <a:schemeClr val="accent4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129E9-F9AC-17AD-123F-C27242F9C3C6}"/>
              </a:ext>
            </a:extLst>
          </p:cNvPr>
          <p:cNvSpPr txBox="1">
            <a:spLocks/>
          </p:cNvSpPr>
          <p:nvPr/>
        </p:nvSpPr>
        <p:spPr>
          <a:xfrm>
            <a:off x="6310752" y="1783698"/>
            <a:ext cx="354584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>
                    <a:lumMod val="9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3</a:t>
            </a:r>
            <a:endParaRPr lang="en-US" dirty="0">
              <a:solidFill>
                <a:schemeClr val="bg1">
                  <a:lumMod val="9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25" name="Google Shape;1467;p37">
            <a:extLst>
              <a:ext uri="{FF2B5EF4-FFF2-40B4-BE49-F238E27FC236}">
                <a16:creationId xmlns:a16="http://schemas.microsoft.com/office/drawing/2014/main" id="{15BBB738-0D43-1B6F-F514-7B73CE5B77A0}"/>
              </a:ext>
            </a:extLst>
          </p:cNvPr>
          <p:cNvSpPr txBox="1">
            <a:spLocks/>
          </p:cNvSpPr>
          <p:nvPr/>
        </p:nvSpPr>
        <p:spPr>
          <a:xfrm>
            <a:off x="950595" y="3327576"/>
            <a:ext cx="20821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>
                    <a:lumMod val="1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Case Study</a:t>
            </a:r>
            <a:endParaRPr sz="2000" dirty="0">
              <a:solidFill>
                <a:schemeClr val="accent2">
                  <a:lumMod val="1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" name="Google Shape;1468;p37">
            <a:extLst>
              <a:ext uri="{FF2B5EF4-FFF2-40B4-BE49-F238E27FC236}">
                <a16:creationId xmlns:a16="http://schemas.microsoft.com/office/drawing/2014/main" id="{F288421B-E81D-A2CD-A71B-C92D5AA769F5}"/>
              </a:ext>
            </a:extLst>
          </p:cNvPr>
          <p:cNvSpPr txBox="1">
            <a:spLocks/>
          </p:cNvSpPr>
          <p:nvPr/>
        </p:nvSpPr>
        <p:spPr>
          <a:xfrm>
            <a:off x="463410" y="3729875"/>
            <a:ext cx="2569350" cy="72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sz="1200" dirty="0">
                <a:solidFill>
                  <a:schemeClr val="accent4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Presentation of the Bosch assembly line that was studied to evaluate the simulation framework.</a:t>
            </a:r>
            <a:endParaRPr dirty="0">
              <a:solidFill>
                <a:schemeClr val="accent4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BF683D-0B1E-5A71-7B49-35B9AB41B3D7}"/>
              </a:ext>
            </a:extLst>
          </p:cNvPr>
          <p:cNvSpPr txBox="1">
            <a:spLocks/>
          </p:cNvSpPr>
          <p:nvPr/>
        </p:nvSpPr>
        <p:spPr>
          <a:xfrm>
            <a:off x="563166" y="3327576"/>
            <a:ext cx="354584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>
                    <a:lumMod val="9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4</a:t>
            </a:r>
            <a:endParaRPr lang="en-US" dirty="0">
              <a:solidFill>
                <a:schemeClr val="bg1">
                  <a:lumMod val="9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28" name="Google Shape;1467;p37">
            <a:extLst>
              <a:ext uri="{FF2B5EF4-FFF2-40B4-BE49-F238E27FC236}">
                <a16:creationId xmlns:a16="http://schemas.microsoft.com/office/drawing/2014/main" id="{7DE5B040-E354-3131-D61A-25D6415A649F}"/>
              </a:ext>
            </a:extLst>
          </p:cNvPr>
          <p:cNvSpPr txBox="1">
            <a:spLocks/>
          </p:cNvSpPr>
          <p:nvPr/>
        </p:nvSpPr>
        <p:spPr>
          <a:xfrm>
            <a:off x="3824388" y="3357114"/>
            <a:ext cx="20821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>
                    <a:lumMod val="1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Results</a:t>
            </a:r>
            <a:endParaRPr sz="2000" dirty="0">
              <a:solidFill>
                <a:schemeClr val="accent2">
                  <a:lumMod val="1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9" name="Google Shape;1468;p37">
            <a:extLst>
              <a:ext uri="{FF2B5EF4-FFF2-40B4-BE49-F238E27FC236}">
                <a16:creationId xmlns:a16="http://schemas.microsoft.com/office/drawing/2014/main" id="{8D958045-EBBC-CA35-43A4-21CC1E11CF00}"/>
              </a:ext>
            </a:extLst>
          </p:cNvPr>
          <p:cNvSpPr txBox="1">
            <a:spLocks/>
          </p:cNvSpPr>
          <p:nvPr/>
        </p:nvSpPr>
        <p:spPr>
          <a:xfrm>
            <a:off x="3303439" y="3725010"/>
            <a:ext cx="2636877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sz="1200" dirty="0">
                <a:latin typeface="Inter" panose="020B0604020202020204" charset="0"/>
                <a:ea typeface="Inter" panose="020B0604020202020204" charset="0"/>
              </a:rPr>
              <a:t>Discussion of results from the case study and comparison across different scenarios.</a:t>
            </a:r>
            <a:endParaRPr sz="1200" dirty="0">
              <a:solidFill>
                <a:schemeClr val="accent4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43E135-8ABA-8637-07E2-660B8C5C59D1}"/>
              </a:ext>
            </a:extLst>
          </p:cNvPr>
          <p:cNvSpPr txBox="1">
            <a:spLocks/>
          </p:cNvSpPr>
          <p:nvPr/>
        </p:nvSpPr>
        <p:spPr>
          <a:xfrm>
            <a:off x="3436959" y="3357114"/>
            <a:ext cx="354584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>
                    <a:lumMod val="9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5</a:t>
            </a:r>
            <a:endParaRPr lang="en-US" dirty="0">
              <a:solidFill>
                <a:schemeClr val="bg1">
                  <a:lumMod val="9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1" name="Google Shape;1467;p37">
            <a:extLst>
              <a:ext uri="{FF2B5EF4-FFF2-40B4-BE49-F238E27FC236}">
                <a16:creationId xmlns:a16="http://schemas.microsoft.com/office/drawing/2014/main" id="{1E025EB8-BD8F-5CDF-CA39-0C1369456BB4}"/>
              </a:ext>
            </a:extLst>
          </p:cNvPr>
          <p:cNvSpPr txBox="1">
            <a:spLocks/>
          </p:cNvSpPr>
          <p:nvPr/>
        </p:nvSpPr>
        <p:spPr>
          <a:xfrm>
            <a:off x="6698181" y="3360810"/>
            <a:ext cx="20821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19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Code Pro"/>
              <a:buNone/>
              <a:defRPr sz="2400" b="1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>
                    <a:lumMod val="1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Conclusions</a:t>
            </a:r>
            <a:endParaRPr sz="2000" dirty="0">
              <a:solidFill>
                <a:schemeClr val="accent2">
                  <a:lumMod val="1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2" name="Google Shape;1468;p37">
            <a:extLst>
              <a:ext uri="{FF2B5EF4-FFF2-40B4-BE49-F238E27FC236}">
                <a16:creationId xmlns:a16="http://schemas.microsoft.com/office/drawing/2014/main" id="{91CAE9FF-673E-CCD6-D280-3B2673840B61}"/>
              </a:ext>
            </a:extLst>
          </p:cNvPr>
          <p:cNvSpPr txBox="1">
            <a:spLocks/>
          </p:cNvSpPr>
          <p:nvPr/>
        </p:nvSpPr>
        <p:spPr>
          <a:xfrm>
            <a:off x="6210996" y="3759414"/>
            <a:ext cx="256935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/>
            <a:r>
              <a:rPr lang="en-US" sz="1200" dirty="0">
                <a:latin typeface="Inter" panose="020B0604020202020204" charset="0"/>
                <a:ea typeface="Inter" panose="020B0604020202020204" charset="0"/>
              </a:rPr>
              <a:t>Critical analysis of findings, and suggestions for future research.</a:t>
            </a:r>
            <a:endParaRPr sz="1200" dirty="0">
              <a:solidFill>
                <a:schemeClr val="accent4">
                  <a:lumMod val="5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8CC4E8-1A73-FA91-E816-42AFAE01DDAB}"/>
              </a:ext>
            </a:extLst>
          </p:cNvPr>
          <p:cNvSpPr txBox="1">
            <a:spLocks/>
          </p:cNvSpPr>
          <p:nvPr/>
        </p:nvSpPr>
        <p:spPr>
          <a:xfrm>
            <a:off x="6310752" y="3374837"/>
            <a:ext cx="354584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>
                    <a:lumMod val="9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6</a:t>
            </a:r>
            <a:endParaRPr lang="en-US" dirty="0">
              <a:solidFill>
                <a:schemeClr val="bg1">
                  <a:lumMod val="9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99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75CB5321-6C89-93B1-F4F4-2EF77AFC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A2F4E18C-65FE-C41C-EDDF-B81CD83CAF0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1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Introduction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2AF6D426-9BF2-CBC5-2C60-587450E9CC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" panose="00000500000000000000" pitchFamily="2" charset="0"/>
                <a:cs typeface="Poppins" panose="020B0502040204020203" pitchFamily="2" charset="0"/>
              </a:rPr>
              <a:t>Context and Motivation</a:t>
            </a:r>
            <a:endParaRPr i="1" dirty="0">
              <a:solidFill>
                <a:schemeClr val="tx1">
                  <a:lumMod val="90000"/>
                  <a:lumOff val="10000"/>
                </a:schemeClr>
              </a:solidFill>
              <a:latin typeface="Montserrat" panose="00000500000000000000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3716691-89CE-3FB7-2F1E-555132A431DC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7EA8BE-4F60-1B0A-8697-CEA1BBB1DE31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99D629-1831-4BCE-D08C-1D1FA9FD146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B82B83CB-33C5-B5A3-D1E9-E96A3D9EC5CF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5FF8452A-9C07-BEDB-07EB-3F3A15D1E0B6}"/>
              </a:ext>
            </a:extLst>
          </p:cNvPr>
          <p:cNvGrpSpPr/>
          <p:nvPr/>
        </p:nvGrpSpPr>
        <p:grpSpPr>
          <a:xfrm>
            <a:off x="715566" y="3504791"/>
            <a:ext cx="8167727" cy="1042746"/>
            <a:chOff x="254039" y="1711763"/>
            <a:chExt cx="8167727" cy="1042746"/>
          </a:xfrm>
        </p:grpSpPr>
        <p:sp>
          <p:nvSpPr>
            <p:cNvPr id="532" name="Google Shape;2504;p56">
              <a:extLst>
                <a:ext uri="{FF2B5EF4-FFF2-40B4-BE49-F238E27FC236}">
                  <a16:creationId xmlns:a16="http://schemas.microsoft.com/office/drawing/2014/main" id="{A3D40E2B-6210-2E67-C257-42F7FD3461D4}"/>
                </a:ext>
              </a:extLst>
            </p:cNvPr>
            <p:cNvSpPr txBox="1">
              <a:spLocks/>
            </p:cNvSpPr>
            <p:nvPr/>
          </p:nvSpPr>
          <p:spPr>
            <a:xfrm>
              <a:off x="1447486" y="2111909"/>
              <a:ext cx="6959041" cy="6426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200" dirty="0">
                  <a:solidFill>
                    <a:srgbClr val="112E54"/>
                  </a:solidFill>
                  <a:latin typeface="Inter" panose="020B0604020202020204" charset="0"/>
                  <a:ea typeface="Inter" panose="020B0604020202020204" charset="0"/>
                </a:rPr>
                <a:t>The dissertation project was developed within Bosch Security</a:t>
              </a:r>
              <a:r>
                <a:rPr lang="en-US" sz="1200" b="1" dirty="0">
                  <a:solidFill>
                    <a:srgbClr val="112E54"/>
                  </a:solidFill>
                  <a:latin typeface="Inter" panose="020B0604020202020204" charset="0"/>
                  <a:ea typeface="Inter" panose="020B0604020202020204" charset="0"/>
                </a:rPr>
                <a:t> </a:t>
              </a:r>
              <a:r>
                <a:rPr lang="en-US" sz="1200" dirty="0">
                  <a:solidFill>
                    <a:srgbClr val="112E54"/>
                  </a:solidFill>
                  <a:latin typeface="Inter" panose="020B0604020202020204" charset="0"/>
                  <a:ea typeface="Inter" panose="020B0604020202020204" charset="0"/>
                </a:rPr>
                <a:t>Systems, located in Ovar, which is composed of multiple assembly lines, with different degrees of automation.</a:t>
              </a:r>
              <a:endParaRPr lang="en-US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533" name="Google Shape;2506;p56">
              <a:extLst>
                <a:ext uri="{FF2B5EF4-FFF2-40B4-BE49-F238E27FC236}">
                  <a16:creationId xmlns:a16="http://schemas.microsoft.com/office/drawing/2014/main" id="{AA12ACB4-9930-2FC4-9175-789FF06EAB0D}"/>
                </a:ext>
              </a:extLst>
            </p:cNvPr>
            <p:cNvSpPr txBox="1">
              <a:spLocks/>
            </p:cNvSpPr>
            <p:nvPr/>
          </p:nvSpPr>
          <p:spPr>
            <a:xfrm>
              <a:off x="1447486" y="1711763"/>
              <a:ext cx="6974280" cy="486900"/>
            </a:xfrm>
            <a:prstGeom prst="rect">
              <a:avLst/>
            </a:prstGeom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2000" b="1" dirty="0">
                  <a:solidFill>
                    <a:srgbClr val="001E32"/>
                  </a:solidFill>
                  <a:latin typeface="Inter" panose="020B0604020202020204" charset="0"/>
                  <a:ea typeface="Inter" panose="020B0604020202020204" charset="0"/>
                </a:rPr>
                <a:t>Development Environment </a:t>
              </a:r>
            </a:p>
          </p:txBody>
        </p:sp>
        <p:sp>
          <p:nvSpPr>
            <p:cNvPr id="567" name="Google Shape;1645;p43">
              <a:extLst>
                <a:ext uri="{FF2B5EF4-FFF2-40B4-BE49-F238E27FC236}">
                  <a16:creationId xmlns:a16="http://schemas.microsoft.com/office/drawing/2014/main" id="{47E8823D-5B9D-B68A-D3D6-470C91ECA2C0}"/>
                </a:ext>
              </a:extLst>
            </p:cNvPr>
            <p:cNvSpPr/>
            <p:nvPr/>
          </p:nvSpPr>
          <p:spPr>
            <a:xfrm>
              <a:off x="254039" y="1763127"/>
              <a:ext cx="991032" cy="991032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FE6FC6D9-C4C2-BC49-06B1-1405DAD3C4B1}"/>
              </a:ext>
            </a:extLst>
          </p:cNvPr>
          <p:cNvGrpSpPr/>
          <p:nvPr/>
        </p:nvGrpSpPr>
        <p:grpSpPr>
          <a:xfrm>
            <a:off x="700329" y="2025464"/>
            <a:ext cx="8167725" cy="1285772"/>
            <a:chOff x="254040" y="1711763"/>
            <a:chExt cx="8167725" cy="1285772"/>
          </a:xfrm>
        </p:grpSpPr>
        <p:sp>
          <p:nvSpPr>
            <p:cNvPr id="570" name="Google Shape;2504;p56">
              <a:extLst>
                <a:ext uri="{FF2B5EF4-FFF2-40B4-BE49-F238E27FC236}">
                  <a16:creationId xmlns:a16="http://schemas.microsoft.com/office/drawing/2014/main" id="{748ABBAF-5B14-B91E-94AD-1A76D67D91BC}"/>
                </a:ext>
              </a:extLst>
            </p:cNvPr>
            <p:cNvSpPr txBox="1">
              <a:spLocks/>
            </p:cNvSpPr>
            <p:nvPr/>
          </p:nvSpPr>
          <p:spPr>
            <a:xfrm>
              <a:off x="1447487" y="2111909"/>
              <a:ext cx="6959040" cy="88562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200" dirty="0">
                  <a:solidFill>
                    <a:srgbClr val="112E54"/>
                  </a:solidFill>
                  <a:latin typeface="Inter" panose="020B0604020202020204" charset="0"/>
                  <a:ea typeface="Inter" panose="020B0604020202020204" charset="0"/>
                </a:rPr>
                <a:t>Industrial assembly lines are increasingly relying on the distribution of tasks between robots and human operators. The challenge is to create a framework that supports setup decision-making and enhances efficiency and flexibility by enabling digital integration testing of collaborative robots in assembly lines.</a:t>
              </a:r>
              <a:endParaRPr lang="en-US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571" name="Google Shape;2506;p56">
              <a:extLst>
                <a:ext uri="{FF2B5EF4-FFF2-40B4-BE49-F238E27FC236}">
                  <a16:creationId xmlns:a16="http://schemas.microsoft.com/office/drawing/2014/main" id="{11294E0C-1693-FBFA-F2C1-758C681EDD4E}"/>
                </a:ext>
              </a:extLst>
            </p:cNvPr>
            <p:cNvSpPr txBox="1">
              <a:spLocks/>
            </p:cNvSpPr>
            <p:nvPr/>
          </p:nvSpPr>
          <p:spPr>
            <a:xfrm>
              <a:off x="1447486" y="1711763"/>
              <a:ext cx="6974279" cy="486900"/>
            </a:xfrm>
            <a:prstGeom prst="rect">
              <a:avLst/>
            </a:prstGeom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pt-PT" sz="2000" b="1" dirty="0">
                  <a:solidFill>
                    <a:srgbClr val="001E32"/>
                  </a:solidFill>
                  <a:latin typeface="Inter" panose="020B0604020202020204" charset="0"/>
                  <a:ea typeface="Inter" panose="020B0604020202020204" charset="0"/>
                </a:rPr>
                <a:t>Motivacional Background</a:t>
              </a:r>
              <a:endParaRPr lang="en-US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572" name="Google Shape;1645;p43">
              <a:extLst>
                <a:ext uri="{FF2B5EF4-FFF2-40B4-BE49-F238E27FC236}">
                  <a16:creationId xmlns:a16="http://schemas.microsoft.com/office/drawing/2014/main" id="{CB136925-ABE4-C7B8-660B-9E4B123E8600}"/>
                </a:ext>
              </a:extLst>
            </p:cNvPr>
            <p:cNvSpPr/>
            <p:nvPr/>
          </p:nvSpPr>
          <p:spPr>
            <a:xfrm>
              <a:off x="254040" y="1820306"/>
              <a:ext cx="991031" cy="991031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 l="-4000" b="-4000"/>
              </a:stretch>
            </a:blip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08335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F6026E2-FC20-A244-E757-3D0AF7ED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60CA6D1C-6780-F36F-5565-ACEA144EFC8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1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Introduction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FBBCC0E7-E0E5-DB74-AA25-F3ECB1F683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t-PT" b="1" i="1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" panose="00000500000000000000" pitchFamily="2" charset="0"/>
                <a:cs typeface="Poppins" panose="020B0502040204020203" pitchFamily="2" charset="0"/>
              </a:rPr>
              <a:t>Objetives</a:t>
            </a:r>
            <a:endParaRPr b="1" i="1" dirty="0">
              <a:solidFill>
                <a:schemeClr val="tx1">
                  <a:lumMod val="90000"/>
                  <a:lumOff val="10000"/>
                </a:schemeClr>
              </a:solidFill>
              <a:latin typeface="Montserrat" panose="00000500000000000000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70B520-9F5F-E7BD-48B4-C2399627B4D8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FD2C51-6B75-5AC3-62EA-DD6C848E730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2917A9-7E8B-8DF0-1FD1-E8ACA6E16BBB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949494A9-A13B-8212-952C-3A9195BC1D49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2448;p53">
            <a:extLst>
              <a:ext uri="{FF2B5EF4-FFF2-40B4-BE49-F238E27FC236}">
                <a16:creationId xmlns:a16="http://schemas.microsoft.com/office/drawing/2014/main" id="{668D0B82-C03B-A319-E0B9-314E564768EC}"/>
              </a:ext>
            </a:extLst>
          </p:cNvPr>
          <p:cNvSpPr txBox="1"/>
          <p:nvPr/>
        </p:nvSpPr>
        <p:spPr>
          <a:xfrm>
            <a:off x="519113" y="2414889"/>
            <a:ext cx="24912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Study processes, sequences, patterns of operations, and task distribution.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Google Shape;2449;p53">
            <a:extLst>
              <a:ext uri="{FF2B5EF4-FFF2-40B4-BE49-F238E27FC236}">
                <a16:creationId xmlns:a16="http://schemas.microsoft.com/office/drawing/2014/main" id="{66401733-F987-761C-0A1E-485FB578D63B}"/>
              </a:ext>
            </a:extLst>
          </p:cNvPr>
          <p:cNvSpPr txBox="1"/>
          <p:nvPr/>
        </p:nvSpPr>
        <p:spPr>
          <a:xfrm>
            <a:off x="671513" y="1953965"/>
            <a:ext cx="2338800" cy="47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1.  Mapping</a:t>
            </a:r>
            <a:endParaRPr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7" name="Google Shape;2450;p53">
            <a:extLst>
              <a:ext uri="{FF2B5EF4-FFF2-40B4-BE49-F238E27FC236}">
                <a16:creationId xmlns:a16="http://schemas.microsoft.com/office/drawing/2014/main" id="{D7891033-8EE5-A462-E346-84DC2DB674D4}"/>
              </a:ext>
            </a:extLst>
          </p:cNvPr>
          <p:cNvSpPr txBox="1"/>
          <p:nvPr/>
        </p:nvSpPr>
        <p:spPr>
          <a:xfrm>
            <a:off x="3354113" y="2414889"/>
            <a:ext cx="23388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Development of the simulation framework based on the previous study.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Google Shape;2451;p53">
            <a:extLst>
              <a:ext uri="{FF2B5EF4-FFF2-40B4-BE49-F238E27FC236}">
                <a16:creationId xmlns:a16="http://schemas.microsoft.com/office/drawing/2014/main" id="{30AE53A5-4439-9689-D70B-C7F8D651CFD6}"/>
              </a:ext>
            </a:extLst>
          </p:cNvPr>
          <p:cNvSpPr txBox="1"/>
          <p:nvPr/>
        </p:nvSpPr>
        <p:spPr>
          <a:xfrm>
            <a:off x="3354113" y="1953965"/>
            <a:ext cx="2338800" cy="474600"/>
          </a:xfrm>
          <a:prstGeom prst="rect">
            <a:avLst/>
          </a:prstGeom>
          <a:solidFill>
            <a:srgbClr val="8DD5E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2.  Framework</a:t>
            </a:r>
            <a:endParaRPr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9" name="Google Shape;2452;p53">
            <a:extLst>
              <a:ext uri="{FF2B5EF4-FFF2-40B4-BE49-F238E27FC236}">
                <a16:creationId xmlns:a16="http://schemas.microsoft.com/office/drawing/2014/main" id="{25492DBE-99E4-B26B-66F2-8B968465FECB}"/>
              </a:ext>
            </a:extLst>
          </p:cNvPr>
          <p:cNvSpPr txBox="1"/>
          <p:nvPr/>
        </p:nvSpPr>
        <p:spPr>
          <a:xfrm>
            <a:off x="6036713" y="2414889"/>
            <a:ext cx="23388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Create a digital model of a specific assembly line.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2453;p53">
            <a:extLst>
              <a:ext uri="{FF2B5EF4-FFF2-40B4-BE49-F238E27FC236}">
                <a16:creationId xmlns:a16="http://schemas.microsoft.com/office/drawing/2014/main" id="{9CA3C0C1-53FD-43E9-A2E3-BB9FF3AD0995}"/>
              </a:ext>
            </a:extLst>
          </p:cNvPr>
          <p:cNvSpPr txBox="1"/>
          <p:nvPr/>
        </p:nvSpPr>
        <p:spPr>
          <a:xfrm>
            <a:off x="6036713" y="1953965"/>
            <a:ext cx="2338800" cy="474600"/>
          </a:xfrm>
          <a:prstGeom prst="rect">
            <a:avLst/>
          </a:prstGeom>
          <a:solidFill>
            <a:srgbClr val="68C8EA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3.  Model</a:t>
            </a:r>
            <a:endParaRPr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11" name="Google Shape;2454;p53">
            <a:extLst>
              <a:ext uri="{FF2B5EF4-FFF2-40B4-BE49-F238E27FC236}">
                <a16:creationId xmlns:a16="http://schemas.microsoft.com/office/drawing/2014/main" id="{BA27D847-A254-445C-10F8-6CAE1A65CBA1}"/>
              </a:ext>
            </a:extLst>
          </p:cNvPr>
          <p:cNvSpPr txBox="1"/>
          <p:nvPr/>
        </p:nvSpPr>
        <p:spPr>
          <a:xfrm>
            <a:off x="671513" y="4100121"/>
            <a:ext cx="23388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Validate the model by comparing it’s outputs to real-world data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2455;p53">
            <a:extLst>
              <a:ext uri="{FF2B5EF4-FFF2-40B4-BE49-F238E27FC236}">
                <a16:creationId xmlns:a16="http://schemas.microsoft.com/office/drawing/2014/main" id="{7CA24CA7-6150-8C0F-DF75-CF18331BCD54}"/>
              </a:ext>
            </a:extLst>
          </p:cNvPr>
          <p:cNvSpPr txBox="1"/>
          <p:nvPr/>
        </p:nvSpPr>
        <p:spPr>
          <a:xfrm>
            <a:off x="671513" y="3639189"/>
            <a:ext cx="2338800" cy="474600"/>
          </a:xfrm>
          <a:prstGeom prst="rect">
            <a:avLst/>
          </a:prstGeom>
          <a:solidFill>
            <a:srgbClr val="35B5E3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4.  Validation</a:t>
            </a:r>
            <a:endParaRPr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13" name="Google Shape;2456;p53">
            <a:extLst>
              <a:ext uri="{FF2B5EF4-FFF2-40B4-BE49-F238E27FC236}">
                <a16:creationId xmlns:a16="http://schemas.microsoft.com/office/drawing/2014/main" id="{9E0DAD7D-EF5C-4358-4CF6-425D9F647803}"/>
              </a:ext>
            </a:extLst>
          </p:cNvPr>
          <p:cNvSpPr txBox="1"/>
          <p:nvPr/>
        </p:nvSpPr>
        <p:spPr>
          <a:xfrm>
            <a:off x="3354113" y="4100121"/>
            <a:ext cx="23388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Simulate differente improvement scenarios.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2457;p53">
            <a:extLst>
              <a:ext uri="{FF2B5EF4-FFF2-40B4-BE49-F238E27FC236}">
                <a16:creationId xmlns:a16="http://schemas.microsoft.com/office/drawing/2014/main" id="{EA1D965C-8202-1F24-91B3-4C65BA8A01B8}"/>
              </a:ext>
            </a:extLst>
          </p:cNvPr>
          <p:cNvSpPr txBox="1"/>
          <p:nvPr/>
        </p:nvSpPr>
        <p:spPr>
          <a:xfrm>
            <a:off x="3354113" y="3639189"/>
            <a:ext cx="2338800" cy="474600"/>
          </a:xfrm>
          <a:prstGeom prst="rect">
            <a:avLst/>
          </a:prstGeom>
          <a:solidFill>
            <a:srgbClr val="1B97C3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5.  Simulation</a:t>
            </a:r>
            <a:endParaRPr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16" name="Google Shape;2458;p53">
            <a:extLst>
              <a:ext uri="{FF2B5EF4-FFF2-40B4-BE49-F238E27FC236}">
                <a16:creationId xmlns:a16="http://schemas.microsoft.com/office/drawing/2014/main" id="{FC90A0AF-68A0-C189-A034-9D81CD45A796}"/>
              </a:ext>
            </a:extLst>
          </p:cNvPr>
          <p:cNvSpPr txBox="1"/>
          <p:nvPr/>
        </p:nvSpPr>
        <p:spPr>
          <a:xfrm>
            <a:off x="6036713" y="4100121"/>
            <a:ext cx="23388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Make a cost-benefit analysis of selected configuration</a:t>
            </a:r>
            <a:endParaRPr sz="12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Google Shape;2459;p53">
            <a:extLst>
              <a:ext uri="{FF2B5EF4-FFF2-40B4-BE49-F238E27FC236}">
                <a16:creationId xmlns:a16="http://schemas.microsoft.com/office/drawing/2014/main" id="{0A341212-6A2B-CB07-B0E8-930EECF8C3D1}"/>
              </a:ext>
            </a:extLst>
          </p:cNvPr>
          <p:cNvSpPr txBox="1"/>
          <p:nvPr/>
        </p:nvSpPr>
        <p:spPr>
          <a:xfrm>
            <a:off x="6036713" y="3639189"/>
            <a:ext cx="2338800" cy="474600"/>
          </a:xfrm>
          <a:prstGeom prst="rect">
            <a:avLst/>
          </a:prstGeom>
          <a:solidFill>
            <a:srgbClr val="14729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6.  Analysis</a:t>
            </a:r>
            <a:endParaRPr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cxnSp>
        <p:nvCxnSpPr>
          <p:cNvPr id="18" name="Google Shape;2460;p53">
            <a:extLst>
              <a:ext uri="{FF2B5EF4-FFF2-40B4-BE49-F238E27FC236}">
                <a16:creationId xmlns:a16="http://schemas.microsoft.com/office/drawing/2014/main" id="{7CC2E5DA-2CAE-448B-E95E-E2CC50514AF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010313" y="2191265"/>
            <a:ext cx="343800" cy="600"/>
          </a:xfrm>
          <a:prstGeom prst="bentConnector3">
            <a:avLst>
              <a:gd name="adj1" fmla="val 50004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oogle Shape;2461;p53">
            <a:extLst>
              <a:ext uri="{FF2B5EF4-FFF2-40B4-BE49-F238E27FC236}">
                <a16:creationId xmlns:a16="http://schemas.microsoft.com/office/drawing/2014/main" id="{6D8D92E1-CE24-E1E2-5F32-9D580ACCAD1C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5692913" y="2191265"/>
            <a:ext cx="343800" cy="600"/>
          </a:xfrm>
          <a:prstGeom prst="bentConnector3">
            <a:avLst>
              <a:gd name="adj1" fmla="val 50004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Google Shape;2462;p53">
            <a:extLst>
              <a:ext uri="{FF2B5EF4-FFF2-40B4-BE49-F238E27FC236}">
                <a16:creationId xmlns:a16="http://schemas.microsoft.com/office/drawing/2014/main" id="{369D4FEB-EC85-58D2-AF52-65EEDBC7A8C6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4228313" y="661389"/>
            <a:ext cx="590400" cy="536520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Google Shape;2463;p53">
            <a:extLst>
              <a:ext uri="{FF2B5EF4-FFF2-40B4-BE49-F238E27FC236}">
                <a16:creationId xmlns:a16="http://schemas.microsoft.com/office/drawing/2014/main" id="{E4C469F8-0A3D-DF80-38F2-D1E82116E022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3010313" y="3876489"/>
            <a:ext cx="343800" cy="600"/>
          </a:xfrm>
          <a:prstGeom prst="bentConnector3">
            <a:avLst>
              <a:gd name="adj1" fmla="val 50004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Google Shape;2464;p53">
            <a:extLst>
              <a:ext uri="{FF2B5EF4-FFF2-40B4-BE49-F238E27FC236}">
                <a16:creationId xmlns:a16="http://schemas.microsoft.com/office/drawing/2014/main" id="{E62ABC6D-A2C1-AD54-3EB0-99B81C528E2F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5692913" y="3876489"/>
            <a:ext cx="343800" cy="600"/>
          </a:xfrm>
          <a:prstGeom prst="bentConnector3">
            <a:avLst>
              <a:gd name="adj1" fmla="val 50004"/>
            </a:avLst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82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91279CB9-BAB8-2FFF-59FA-2A5118A8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C9ED2A76-1338-2D10-CEA8-229B7F912F8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1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Introduction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E396D87F-5AD2-2EC7-0201-DD1DFDFC9D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t-PT" b="1" i="1" dirty="0">
                <a:solidFill>
                  <a:schemeClr val="tx1">
                    <a:lumMod val="90000"/>
                    <a:lumOff val="10000"/>
                  </a:schemeClr>
                </a:solidFill>
                <a:latin typeface="Montserrat" panose="00000500000000000000" pitchFamily="2" charset="0"/>
                <a:cs typeface="Poppins" panose="020B0502040204020203" pitchFamily="2" charset="0"/>
              </a:rPr>
              <a:t>Research Methodology</a:t>
            </a:r>
            <a:endParaRPr b="1" i="1" dirty="0">
              <a:solidFill>
                <a:schemeClr val="tx1">
                  <a:lumMod val="90000"/>
                  <a:lumOff val="10000"/>
                </a:schemeClr>
              </a:solidFill>
              <a:latin typeface="Montserrat" panose="00000500000000000000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988D31-BBCA-A67A-D87B-3BDF7B9BFAAE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705543B-4F26-1502-EBF5-9B9FFC944644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650E97-0970-984B-1A9F-90493E38C45A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715B92F9-AEC3-4303-8E6A-8AEB3B2FCAA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24" name="Picture 23" descr="A diagram of a diagram&#10;&#10;AI-generated content may be incorrect.">
            <a:extLst>
              <a:ext uri="{FF2B5EF4-FFF2-40B4-BE49-F238E27FC236}">
                <a16:creationId xmlns:a16="http://schemas.microsoft.com/office/drawing/2014/main" id="{5E0FE2C5-F727-39E0-9807-BD430E1C2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201" y="651164"/>
            <a:ext cx="3868035" cy="4118420"/>
          </a:xfrm>
          <a:prstGeom prst="rect">
            <a:avLst/>
          </a:prstGeom>
        </p:spPr>
      </p:pic>
      <p:sp>
        <p:nvSpPr>
          <p:cNvPr id="25" name="Google Shape;1645;p43">
            <a:extLst>
              <a:ext uri="{FF2B5EF4-FFF2-40B4-BE49-F238E27FC236}">
                <a16:creationId xmlns:a16="http://schemas.microsoft.com/office/drawing/2014/main" id="{E810E1F7-AB4A-9F9A-B0CE-113CA9CDD8C3}"/>
              </a:ext>
            </a:extLst>
          </p:cNvPr>
          <p:cNvSpPr/>
          <p:nvPr/>
        </p:nvSpPr>
        <p:spPr>
          <a:xfrm>
            <a:off x="519113" y="1933680"/>
            <a:ext cx="841445" cy="841445"/>
          </a:xfrm>
          <a:prstGeom prst="ellipse">
            <a:avLst/>
          </a:prstGeom>
          <a:blipFill dpi="0" rotWithShape="1">
            <a:blip r:embed="rId4"/>
            <a:srcRect/>
            <a:stretch>
              <a:fillRect l="-4000" r="-4000"/>
            </a:stretch>
          </a:blip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1645;p43">
            <a:extLst>
              <a:ext uri="{FF2B5EF4-FFF2-40B4-BE49-F238E27FC236}">
                <a16:creationId xmlns:a16="http://schemas.microsoft.com/office/drawing/2014/main" id="{276A4507-E2E3-6C11-526F-203C2F662395}"/>
              </a:ext>
            </a:extLst>
          </p:cNvPr>
          <p:cNvSpPr/>
          <p:nvPr/>
        </p:nvSpPr>
        <p:spPr>
          <a:xfrm>
            <a:off x="519111" y="3913850"/>
            <a:ext cx="841445" cy="841445"/>
          </a:xfrm>
          <a:prstGeom prst="ellipse">
            <a:avLst/>
          </a:prstGeom>
          <a:blipFill dpi="0" rotWithShape="1">
            <a:blip r:embed="rId5"/>
            <a:srcRect/>
            <a:stretch>
              <a:fillRect l="10000" t="7000" r="7000" b="-10000"/>
            </a:stretch>
          </a:blip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1645;p43">
            <a:extLst>
              <a:ext uri="{FF2B5EF4-FFF2-40B4-BE49-F238E27FC236}">
                <a16:creationId xmlns:a16="http://schemas.microsoft.com/office/drawing/2014/main" id="{2D36131B-1BB7-8C77-C439-662D8CC452C4}"/>
              </a:ext>
            </a:extLst>
          </p:cNvPr>
          <p:cNvSpPr/>
          <p:nvPr/>
        </p:nvSpPr>
        <p:spPr>
          <a:xfrm>
            <a:off x="519112" y="2923765"/>
            <a:ext cx="841445" cy="841445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504;p56">
            <a:extLst>
              <a:ext uri="{FF2B5EF4-FFF2-40B4-BE49-F238E27FC236}">
                <a16:creationId xmlns:a16="http://schemas.microsoft.com/office/drawing/2014/main" id="{021B4DBB-C5B3-3720-F2F1-E47EEA5E05B8}"/>
              </a:ext>
            </a:extLst>
          </p:cNvPr>
          <p:cNvSpPr txBox="1">
            <a:spLocks/>
          </p:cNvSpPr>
          <p:nvPr/>
        </p:nvSpPr>
        <p:spPr>
          <a:xfrm>
            <a:off x="1435351" y="2030308"/>
            <a:ext cx="3211444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 comprehensive database is used to identify and collect relevant scientific literature.</a:t>
            </a:r>
            <a:endParaRPr lang="en-US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9" name="Google Shape;2504;p56">
            <a:extLst>
              <a:ext uri="{FF2B5EF4-FFF2-40B4-BE49-F238E27FC236}">
                <a16:creationId xmlns:a16="http://schemas.microsoft.com/office/drawing/2014/main" id="{8EA73B1C-BE28-C04C-FFBE-470578C3BE68}"/>
              </a:ext>
            </a:extLst>
          </p:cNvPr>
          <p:cNvSpPr txBox="1">
            <a:spLocks/>
          </p:cNvSpPr>
          <p:nvPr/>
        </p:nvSpPr>
        <p:spPr>
          <a:xfrm>
            <a:off x="1435351" y="2986264"/>
            <a:ext cx="3136649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Reference manager to organize, annotate, and cite the selected articles efficiently.</a:t>
            </a:r>
            <a:endParaRPr lang="en-US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0" name="Google Shape;2504;p56">
            <a:extLst>
              <a:ext uri="{FF2B5EF4-FFF2-40B4-BE49-F238E27FC236}">
                <a16:creationId xmlns:a16="http://schemas.microsoft.com/office/drawing/2014/main" id="{82AF94CB-0A04-9388-8F42-1124C0425A62}"/>
              </a:ext>
            </a:extLst>
          </p:cNvPr>
          <p:cNvSpPr txBox="1">
            <a:spLocks/>
          </p:cNvSpPr>
          <p:nvPr/>
        </p:nvSpPr>
        <p:spPr>
          <a:xfrm>
            <a:off x="1435351" y="4013272"/>
            <a:ext cx="3267054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AI-powered tool for summarizing, extracting insights, and querying uploaded articles.</a:t>
            </a:r>
            <a:endParaRPr lang="en-US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0B342CC9-86B8-D587-F8EC-EB356684C2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99814" y="480520"/>
            <a:ext cx="1222868" cy="1938230"/>
          </a:xfrm>
          <a:prstGeom prst="curvedConnector2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09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BE4559FF-691B-9BCD-3F3D-5F75265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Picture 558" descr="A computer network with icons&#10;&#10;AI-generated content may be incorrect.">
            <a:extLst>
              <a:ext uri="{FF2B5EF4-FFF2-40B4-BE49-F238E27FC236}">
                <a16:creationId xmlns:a16="http://schemas.microsoft.com/office/drawing/2014/main" id="{B79302CC-24D9-92C4-9DD8-D09AED1F94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9113" y="1648048"/>
            <a:ext cx="7410451" cy="2964180"/>
          </a:xfrm>
          <a:prstGeom prst="rect">
            <a:avLst/>
          </a:prstGeom>
        </p:spPr>
      </p:pic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8EC5BF25-2A3E-54E1-6ED1-6C5765736E8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2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State </a:t>
            </a:r>
            <a:r>
              <a:rPr lang="en-US" sz="3600" b="0" i="1" spc="-300" dirty="0"/>
              <a:t>of  the   </a:t>
            </a:r>
            <a:r>
              <a:rPr lang="en-US" sz="3600" i="1" spc="-300" dirty="0"/>
              <a:t>Art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7D8FA799-AF64-3BDC-6BA6-0C2F42E7C6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Industry 4.0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E3B99CE-5876-927F-6257-1AD5164886BF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B4364A-8BF8-2BBE-5CCD-B1B453DAFCFD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B6F1273-467A-6684-5CB6-51CAA0DA59D1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A53DC5E4-77D1-D701-2125-1075C1459CA2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39158389-B4EF-148A-4762-EEA529EE56BC}"/>
              </a:ext>
            </a:extLst>
          </p:cNvPr>
          <p:cNvSpPr txBox="1"/>
          <p:nvPr/>
        </p:nvSpPr>
        <p:spPr>
          <a:xfrm>
            <a:off x="994573" y="1971932"/>
            <a:ext cx="249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Interoperability</a:t>
            </a: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648997CE-7402-E849-FD98-5C5986FBC61F}"/>
              </a:ext>
            </a:extLst>
          </p:cNvPr>
          <p:cNvSpPr txBox="1"/>
          <p:nvPr/>
        </p:nvSpPr>
        <p:spPr>
          <a:xfrm>
            <a:off x="912019" y="3574475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Decentralization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2847E4A3-4D43-C942-1601-0CDA2AAE0BE2}"/>
              </a:ext>
            </a:extLst>
          </p:cNvPr>
          <p:cNvSpPr txBox="1"/>
          <p:nvPr/>
        </p:nvSpPr>
        <p:spPr>
          <a:xfrm>
            <a:off x="5330079" y="3890378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Real-Time Capability</a:t>
            </a: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9C36215D-CBCA-92B8-3DA6-7C64741D3C3B}"/>
              </a:ext>
            </a:extLst>
          </p:cNvPr>
          <p:cNvSpPr txBox="1"/>
          <p:nvPr/>
        </p:nvSpPr>
        <p:spPr>
          <a:xfrm>
            <a:off x="3984712" y="2899306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Modularity</a:t>
            </a: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17045159-4656-10C7-EB60-1838F8F8DDED}"/>
              </a:ext>
            </a:extLst>
          </p:cNvPr>
          <p:cNvSpPr txBox="1"/>
          <p:nvPr/>
        </p:nvSpPr>
        <p:spPr>
          <a:xfrm>
            <a:off x="6081887" y="1954668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Virtualization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AC4C7DE6-B83D-0CB8-F841-6A8301201013}"/>
              </a:ext>
            </a:extLst>
          </p:cNvPr>
          <p:cNvSpPr txBox="1"/>
          <p:nvPr/>
        </p:nvSpPr>
        <p:spPr>
          <a:xfrm>
            <a:off x="6509719" y="2413092"/>
            <a:ext cx="16397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Virtual scenario testing</a:t>
            </a:r>
            <a:endParaRPr lang="en-US" sz="1000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1BCBE1FC-7CCD-038B-4F33-D261AE2113D8}"/>
              </a:ext>
            </a:extLst>
          </p:cNvPr>
          <p:cNvSpPr txBox="1"/>
          <p:nvPr/>
        </p:nvSpPr>
        <p:spPr>
          <a:xfrm>
            <a:off x="1475853" y="3945651"/>
            <a:ext cx="22028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Local decision-making</a:t>
            </a:r>
            <a:endParaRPr lang="en-US" sz="1000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87682B44-7CFA-F0C0-1083-CD3275CE2F9F}"/>
              </a:ext>
            </a:extLst>
          </p:cNvPr>
          <p:cNvSpPr txBox="1"/>
          <p:nvPr/>
        </p:nvSpPr>
        <p:spPr>
          <a:xfrm>
            <a:off x="6016243" y="4301316"/>
            <a:ext cx="22028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R</a:t>
            </a:r>
            <a:r>
              <a:rPr lang="en-US" sz="1000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eal</a:t>
            </a:r>
            <a:r>
              <a:rPr lang="en-US" sz="1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-time process tracking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EC773F45-74F6-A066-E8F7-30EA0603F25C}"/>
              </a:ext>
            </a:extLst>
          </p:cNvPr>
          <p:cNvSpPr txBox="1"/>
          <p:nvPr/>
        </p:nvSpPr>
        <p:spPr>
          <a:xfrm>
            <a:off x="4159924" y="3297079"/>
            <a:ext cx="16397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Flexible task allocation</a:t>
            </a:r>
            <a:endParaRPr lang="en-US" sz="1000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ECFD6B8D-6AD4-2698-A7CB-CA5337D0C5C4}"/>
              </a:ext>
            </a:extLst>
          </p:cNvPr>
          <p:cNvSpPr txBox="1"/>
          <p:nvPr/>
        </p:nvSpPr>
        <p:spPr>
          <a:xfrm>
            <a:off x="1460241" y="2380687"/>
            <a:ext cx="16397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Framework integration</a:t>
            </a:r>
            <a:endParaRPr lang="en-US" sz="1000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Google Shape;2504;p56">
            <a:extLst>
              <a:ext uri="{FF2B5EF4-FFF2-40B4-BE49-F238E27FC236}">
                <a16:creationId xmlns:a16="http://schemas.microsoft.com/office/drawing/2014/main" id="{33611C6F-AC5E-C1FF-DE53-5F5D7C8EAB6F}"/>
              </a:ext>
            </a:extLst>
          </p:cNvPr>
          <p:cNvSpPr txBox="1">
            <a:spLocks/>
          </p:cNvSpPr>
          <p:nvPr/>
        </p:nvSpPr>
        <p:spPr>
          <a:xfrm>
            <a:off x="5921467" y="769254"/>
            <a:ext cx="2634959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J. </a:t>
            </a:r>
            <a:r>
              <a:rPr lang="en-US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Lettori</a:t>
            </a:r>
            <a: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et al. DOI: 10.3233/ATDE220671</a:t>
            </a:r>
            <a:b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Wojciech Lewicki et al. DOI: 10.3390/app14166957 </a:t>
            </a:r>
          </a:p>
        </p:txBody>
      </p:sp>
    </p:spTree>
    <p:extLst>
      <p:ext uri="{BB962C8B-B14F-4D97-AF65-F5344CB8AC3E}">
        <p14:creationId xmlns:p14="http://schemas.microsoft.com/office/powerpoint/2010/main" val="3518477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A281BE1-A5AE-CB45-E450-988C657E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1AA77F51-7F09-C363-0DDF-C21DBE396E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2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State </a:t>
            </a:r>
            <a:r>
              <a:rPr lang="en-US" sz="3600" b="0" i="1" spc="-300" dirty="0"/>
              <a:t>of  the   </a:t>
            </a:r>
            <a:r>
              <a:rPr lang="en-US" sz="3600" i="1" spc="-300" dirty="0"/>
              <a:t>Art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EF8EE979-F708-7EA6-33B3-CBF5DF0DD9B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Human-Robot Collaboration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1FC03C-D8AA-30A3-DEB7-01DEE0458CAC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762E62-63CF-FC98-53C8-11E06D10A3C9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323093-E760-B04D-C1F3-AF5E3B508D3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A8653AAB-B4A9-ED65-6263-41B70C0B087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536;p33">
            <a:extLst>
              <a:ext uri="{FF2B5EF4-FFF2-40B4-BE49-F238E27FC236}">
                <a16:creationId xmlns:a16="http://schemas.microsoft.com/office/drawing/2014/main" id="{429B74C8-CA37-89FF-9A1A-93031CF7A94E}"/>
              </a:ext>
            </a:extLst>
          </p:cNvPr>
          <p:cNvSpPr txBox="1">
            <a:spLocks/>
          </p:cNvSpPr>
          <p:nvPr/>
        </p:nvSpPr>
        <p:spPr>
          <a:xfrm>
            <a:off x="4703187" y="1512864"/>
            <a:ext cx="4052887" cy="210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Why does it matter?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Combines human flexibility + robot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Improves efficiency and system adaptability </a:t>
            </a:r>
            <a:endParaRPr lang="en-US" sz="1200" b="1" dirty="0">
              <a:solidFill>
                <a:srgbClr val="001E3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 panose="020B0604020202020204" charset="0"/>
              <a:ea typeface="Inter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Reduces heavy and repetitive payloads for operators</a:t>
            </a:r>
          </a:p>
        </p:txBody>
      </p:sp>
      <p:sp>
        <p:nvSpPr>
          <p:cNvPr id="6" name="Google Shape;536;p33">
            <a:extLst>
              <a:ext uri="{FF2B5EF4-FFF2-40B4-BE49-F238E27FC236}">
                <a16:creationId xmlns:a16="http://schemas.microsoft.com/office/drawing/2014/main" id="{ED56B3AE-8516-4395-F93F-68F70F2900E2}"/>
              </a:ext>
            </a:extLst>
          </p:cNvPr>
          <p:cNvSpPr txBox="1">
            <a:spLocks/>
          </p:cNvSpPr>
          <p:nvPr/>
        </p:nvSpPr>
        <p:spPr>
          <a:xfrm>
            <a:off x="4702811" y="2973356"/>
            <a:ext cx="3561157" cy="2001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Collaboration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Independent: </a:t>
            </a: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Separate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Sequential: </a:t>
            </a: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Same product, different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Simultaneous: </a:t>
            </a: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Same product, same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Supportive: </a:t>
            </a:r>
            <a:r>
              <a:rPr lang="en-US" sz="12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Human + robot assist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E6D393-E1D1-3720-98DB-6D5C3D3FB6E3}"/>
              </a:ext>
            </a:extLst>
          </p:cNvPr>
          <p:cNvGrpSpPr>
            <a:grpSpLocks/>
          </p:cNvGrpSpPr>
          <p:nvPr/>
        </p:nvGrpSpPr>
        <p:grpSpPr>
          <a:xfrm>
            <a:off x="607219" y="2116409"/>
            <a:ext cx="3432984" cy="2165184"/>
            <a:chOff x="334021" y="1750764"/>
            <a:chExt cx="3432984" cy="2165184"/>
          </a:xfrm>
        </p:grpSpPr>
        <p:sp>
          <p:nvSpPr>
            <p:cNvPr id="15" name="Google Shape;2824;p61">
              <a:extLst>
                <a:ext uri="{FF2B5EF4-FFF2-40B4-BE49-F238E27FC236}">
                  <a16:creationId xmlns:a16="http://schemas.microsoft.com/office/drawing/2014/main" id="{84B16DDF-7E14-0274-333D-C572A8D3D850}"/>
                </a:ext>
              </a:extLst>
            </p:cNvPr>
            <p:cNvSpPr>
              <a:spLocks/>
            </p:cNvSpPr>
            <p:nvPr/>
          </p:nvSpPr>
          <p:spPr>
            <a:xfrm>
              <a:off x="334021" y="1750764"/>
              <a:ext cx="3432984" cy="2165184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rgbClr val="7F7F7F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9" name="Picture 8" descr="A person shaking hands with a robot&#10;&#10;AI-generated content may be incorrect.">
              <a:extLst>
                <a:ext uri="{FF2B5EF4-FFF2-40B4-BE49-F238E27FC236}">
                  <a16:creationId xmlns:a16="http://schemas.microsoft.com/office/drawing/2014/main" id="{7A53CE23-4B4C-93C6-9942-0D7D6E31F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113" y="1908072"/>
              <a:ext cx="3034578" cy="1881187"/>
            </a:xfrm>
            <a:prstGeom prst="rect">
              <a:avLst/>
            </a:prstGeom>
            <a:ln w="19050">
              <a:solidFill>
                <a:srgbClr val="001E32"/>
              </a:solidFill>
            </a:ln>
            <a:effectLst>
              <a:softEdge rad="12700"/>
            </a:effectLst>
          </p:spPr>
        </p:pic>
      </p:grpSp>
      <p:pic>
        <p:nvPicPr>
          <p:cNvPr id="8" name="Picture 7" descr="A black circle with white square in center&#10;&#10;AI-generated content may be incorrect.">
            <a:extLst>
              <a:ext uri="{FF2B5EF4-FFF2-40B4-BE49-F238E27FC236}">
                <a16:creationId xmlns:a16="http://schemas.microsoft.com/office/drawing/2014/main" id="{B9B55B41-7B88-8A7E-0C00-3DD0355B3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757" y="3149095"/>
            <a:ext cx="130430" cy="13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6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B26F797-9A19-4692-8B06-B1FCB551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1BC29C33-2609-774A-A5A8-22066FB863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2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State </a:t>
            </a:r>
            <a:r>
              <a:rPr lang="en-US" sz="3600" b="0" i="1" spc="-300" dirty="0"/>
              <a:t>of  the   </a:t>
            </a:r>
            <a:r>
              <a:rPr lang="en-US" sz="3600" i="1" spc="-300" dirty="0"/>
              <a:t>Art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668A32C1-DD67-B075-7C12-0D73F32BE7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Digital Twins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CA8B2C-C2B4-D175-B6EA-8A099CD4B695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00931A4-5338-C26C-B24A-09C148DA3C71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C765A9-AFCC-E780-7D3D-F8088B2BA534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C2753444-DBC3-6F3C-4EB4-2E8F898C0BF6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8" name="Picture 7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D3E088DA-76EB-6CA2-5987-61D9F1C8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07" y="1750764"/>
            <a:ext cx="6980385" cy="286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07AC47E5-B3C6-AE56-2750-0949CDAE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4391CC99-8EA3-2D66-E3F4-7E8674302D4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2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State </a:t>
            </a:r>
            <a:r>
              <a:rPr lang="en-US" sz="3600" b="0" i="1" spc="-300" dirty="0"/>
              <a:t>of  the   </a:t>
            </a:r>
            <a:r>
              <a:rPr lang="en-US" sz="3600" i="1" spc="-300" dirty="0"/>
              <a:t>Art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D06B42C6-AF0E-5B95-9E9D-A500A3E997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Process Modeling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C7AB33-DF38-67D0-1EF3-F5089457E92B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FE0701-9DD4-7E4F-4655-7FBCE7CDB620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B4BE62-288B-95D0-0425-92EB817115F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958ECDC6-C59B-9439-F10D-AAE797DDE470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 descr="A cartoon of a frog jumping off a line&#10;&#10;AI-generated content may be incorrect.">
            <a:extLst>
              <a:ext uri="{FF2B5EF4-FFF2-40B4-BE49-F238E27FC236}">
                <a16:creationId xmlns:a16="http://schemas.microsoft.com/office/drawing/2014/main" id="{D67DC9D8-F8F0-6BF0-FEA3-7503078C6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6" y="2226053"/>
            <a:ext cx="2208046" cy="2106955"/>
          </a:xfrm>
          <a:prstGeom prst="rect">
            <a:avLst/>
          </a:prstGeom>
        </p:spPr>
      </p:pic>
      <p:pic>
        <p:nvPicPr>
          <p:cNvPr id="9" name="Picture 8" descr="A cartoon of frogs jumping&#10;&#10;AI-generated content may be incorrect.">
            <a:extLst>
              <a:ext uri="{FF2B5EF4-FFF2-40B4-BE49-F238E27FC236}">
                <a16:creationId xmlns:a16="http://schemas.microsoft.com/office/drawing/2014/main" id="{3BB4B0ED-615F-8660-68C1-1EA316684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978" y="2226051"/>
            <a:ext cx="2208046" cy="21069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543624-6832-5133-42B6-5E18CBB62727}"/>
              </a:ext>
            </a:extLst>
          </p:cNvPr>
          <p:cNvSpPr txBox="1"/>
          <p:nvPr/>
        </p:nvSpPr>
        <p:spPr>
          <a:xfrm>
            <a:off x="715566" y="4346632"/>
            <a:ext cx="2208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Continuous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81D100-B542-88D5-CC4D-714F7DD40E76}"/>
              </a:ext>
            </a:extLst>
          </p:cNvPr>
          <p:cNvSpPr txBox="1"/>
          <p:nvPr/>
        </p:nvSpPr>
        <p:spPr>
          <a:xfrm>
            <a:off x="3467977" y="4346632"/>
            <a:ext cx="2208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Discrete</a:t>
            </a:r>
          </a:p>
        </p:txBody>
      </p:sp>
      <p:pic>
        <p:nvPicPr>
          <p:cNvPr id="13" name="Picture 12" descr="A cartoon of frogs jumping into water&#10;&#10;AI-generated content may be incorrect.">
            <a:extLst>
              <a:ext uri="{FF2B5EF4-FFF2-40B4-BE49-F238E27FC236}">
                <a16:creationId xmlns:a16="http://schemas.microsoft.com/office/drawing/2014/main" id="{87664811-DEF4-BFF4-7274-53A4EF835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390" y="2226052"/>
            <a:ext cx="2208047" cy="21069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A7395E-327F-44F4-6C40-08C6821FAD67}"/>
              </a:ext>
            </a:extLst>
          </p:cNvPr>
          <p:cNvSpPr txBox="1"/>
          <p:nvPr/>
        </p:nvSpPr>
        <p:spPr>
          <a:xfrm>
            <a:off x="6220388" y="4346632"/>
            <a:ext cx="2208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1E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 panose="020B0604020202020204" charset="0"/>
                <a:ea typeface="Inter" panose="020B0604020202020204" charset="0"/>
              </a:rPr>
              <a:t>Agent-Based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8EA0F-6A9E-696B-60DC-120EA0A634AC}"/>
              </a:ext>
            </a:extLst>
          </p:cNvPr>
          <p:cNvSpPr txBox="1"/>
          <p:nvPr/>
        </p:nvSpPr>
        <p:spPr>
          <a:xfrm>
            <a:off x="6663071" y="3204185"/>
            <a:ext cx="18240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I can: </a:t>
            </a:r>
            <a:r>
              <a:rPr lang="pt-PT" sz="1000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Stay</a:t>
            </a:r>
            <a:r>
              <a:rPr lang="pt-PT" sz="1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pt-PT" sz="1000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Jump</a:t>
            </a:r>
            <a:r>
              <a:rPr lang="pt-PT" sz="1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000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or</a:t>
            </a:r>
            <a:r>
              <a:rPr lang="pt-PT" sz="1000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000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Swim</a:t>
            </a:r>
            <a:endParaRPr lang="en-US" sz="1000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270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BD5CD9F1-CAD2-BE38-4C01-3BD4A212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C2D2B3B7-1C85-4AEF-4FFA-3D29CA58E0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2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State </a:t>
            </a:r>
            <a:r>
              <a:rPr lang="en-US" sz="3600" b="0" i="1" spc="-300" dirty="0"/>
              <a:t>of  the   </a:t>
            </a:r>
            <a:r>
              <a:rPr lang="en-US" sz="3600" i="1" spc="-300" dirty="0"/>
              <a:t>Art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4DCF26B0-5A7B-BE36-7D81-46D5AC8FB1E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Tools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50128A-88C9-F3F3-B6DA-199BE91DF3FE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652259-6390-954C-A0AB-622620B612A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540A43-D55E-E96C-9FC5-E27E22EBA425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C0C7C09B-6387-83D4-A631-14AE8BE36DD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E68430-C2C0-9012-7F9E-E1AE67BA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25678"/>
              </p:ext>
            </p:extLst>
          </p:nvPr>
        </p:nvGraphicFramePr>
        <p:xfrm>
          <a:off x="723878" y="1955635"/>
          <a:ext cx="7612105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3493">
                  <a:extLst>
                    <a:ext uri="{9D8B030D-6E8A-4147-A177-3AD203B41FA5}">
                      <a16:colId xmlns:a16="http://schemas.microsoft.com/office/drawing/2014/main" val="4107208648"/>
                    </a:ext>
                  </a:extLst>
                </a:gridCol>
                <a:gridCol w="784543">
                  <a:extLst>
                    <a:ext uri="{9D8B030D-6E8A-4147-A177-3AD203B41FA5}">
                      <a16:colId xmlns:a16="http://schemas.microsoft.com/office/drawing/2014/main" val="1113261088"/>
                    </a:ext>
                  </a:extLst>
                </a:gridCol>
                <a:gridCol w="938530">
                  <a:extLst>
                    <a:ext uri="{9D8B030D-6E8A-4147-A177-3AD203B41FA5}">
                      <a16:colId xmlns:a16="http://schemas.microsoft.com/office/drawing/2014/main" val="388480587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val="1332870267"/>
                    </a:ext>
                  </a:extLst>
                </a:gridCol>
                <a:gridCol w="1198286">
                  <a:extLst>
                    <a:ext uri="{9D8B030D-6E8A-4147-A177-3AD203B41FA5}">
                      <a16:colId xmlns:a16="http://schemas.microsoft.com/office/drawing/2014/main" val="2305044603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674694866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4021863760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pt-PT" sz="1400" b="1" dirty="0" err="1">
                          <a:solidFill>
                            <a:schemeClr val="tx1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Tool</a:t>
                      </a:r>
                      <a:endParaRPr lang="pt-PT" sz="1400" b="1" dirty="0">
                        <a:solidFill>
                          <a:schemeClr val="tx1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License</a:t>
                      </a:r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Flexibility</a:t>
                      </a:r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Ease</a:t>
                      </a:r>
                      <a:r>
                        <a:rPr lang="pt-PT" sz="1200" b="1" dirty="0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200" b="1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of</a:t>
                      </a:r>
                      <a:r>
                        <a:rPr lang="pt-PT" sz="1200" b="1" dirty="0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 Use</a:t>
                      </a:r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Visualization</a:t>
                      </a:r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Real-Time</a:t>
                      </a:r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Documentation</a:t>
                      </a:r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20837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blipFill dpi="0" rotWithShape="1">
                      <a:blip r:embed="rId3"/>
                      <a:srcRect/>
                      <a:stretch>
                        <a:fillRect l="3000" t="13000" r="3000" b="8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Open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Moderate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Moderate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Moderate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Extensive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371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blipFill>
                      <a:blip r:embed="rId4"/>
                      <a:stretch>
                        <a:fillRect l="3000" t="13000" r="3000" b="8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Open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Limited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Limited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Extensive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048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blipFill>
                      <a:blip r:embed="rId5"/>
                      <a:stretch>
                        <a:fillRect l="3000" t="13000" r="3000" b="8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Paid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Moderate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Advanced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Comprehensive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5963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blipFill dpi="0" rotWithShape="1">
                      <a:blip r:embed="rId6"/>
                      <a:srcRect/>
                      <a:stretch>
                        <a:fillRect l="3000" t="-6000" r="3000" b="-7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Paid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Moderate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Advanced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High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solidFill>
                            <a:srgbClr val="001E32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Comprehensive</a:t>
                      </a:r>
                      <a:endParaRPr lang="en-US" sz="1200" dirty="0">
                        <a:solidFill>
                          <a:srgbClr val="001E32"/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7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33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08DBE96-C62C-7BD7-3E4F-8552E48EB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156335CA-EBBD-5F72-BB5D-51F3BF132FB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2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State </a:t>
            </a:r>
            <a:r>
              <a:rPr lang="en-US" sz="3600" b="0" i="1" spc="-300" dirty="0"/>
              <a:t>of  the   </a:t>
            </a:r>
            <a:r>
              <a:rPr lang="en-US" sz="3600" i="1" spc="-300" dirty="0"/>
              <a:t>Art 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4360DD20-9A19-B99C-13E4-A74D2BD3C6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801008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Driven Decision Support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23167D-F228-D723-AC4D-D320ACF87C3D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3C6521-236C-5FE8-A54F-A5F07161A40F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73FE9D-1467-AD0A-2BD8-33FD860ED49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4804A2F5-1E80-B1EF-791E-F59CBC482A1A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A37B2A-5077-97BB-4469-2A976866A696}"/>
              </a:ext>
            </a:extLst>
          </p:cNvPr>
          <p:cNvGrpSpPr/>
          <p:nvPr/>
        </p:nvGrpSpPr>
        <p:grpSpPr>
          <a:xfrm>
            <a:off x="4572000" y="3455851"/>
            <a:ext cx="3930883" cy="1156308"/>
            <a:chOff x="4678586" y="3450459"/>
            <a:chExt cx="4198767" cy="1156308"/>
          </a:xfrm>
        </p:grpSpPr>
        <p:sp>
          <p:nvSpPr>
            <p:cNvPr id="19" name="Google Shape;1645;p43">
              <a:extLst>
                <a:ext uri="{FF2B5EF4-FFF2-40B4-BE49-F238E27FC236}">
                  <a16:creationId xmlns:a16="http://schemas.microsoft.com/office/drawing/2014/main" id="{B4FD4785-E5E3-BE50-E704-9853AA84915D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6422421-693B-8A8B-82FF-67563D8E12AB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20" name="Google Shape;2611;p58">
                <a:extLst>
                  <a:ext uri="{FF2B5EF4-FFF2-40B4-BE49-F238E27FC236}">
                    <a16:creationId xmlns:a16="http://schemas.microsoft.com/office/drawing/2014/main" id="{B90CBCE3-AFA8-DF21-FC50-918CE468AD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Benefits</a:t>
                </a:r>
              </a:p>
            </p:txBody>
          </p:sp>
          <p:sp>
            <p:nvSpPr>
              <p:cNvPr id="21" name="Google Shape;2615;p58">
                <a:extLst>
                  <a:ext uri="{FF2B5EF4-FFF2-40B4-BE49-F238E27FC236}">
                    <a16:creationId xmlns:a16="http://schemas.microsoft.com/office/drawing/2014/main" id="{30821384-2C2E-6D24-49EE-4E93B38DC2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Enhances scenario evaluation and supports iterative learning to strengthen operational planning.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4AA4BA-1BA1-6CC3-3E5D-37FC76B5EECB}"/>
              </a:ext>
            </a:extLst>
          </p:cNvPr>
          <p:cNvGrpSpPr/>
          <p:nvPr/>
        </p:nvGrpSpPr>
        <p:grpSpPr>
          <a:xfrm>
            <a:off x="4572000" y="1930148"/>
            <a:ext cx="3930883" cy="1156308"/>
            <a:chOff x="4678586" y="3450459"/>
            <a:chExt cx="4198767" cy="1156308"/>
          </a:xfrm>
        </p:grpSpPr>
        <p:sp>
          <p:nvSpPr>
            <p:cNvPr id="25" name="Google Shape;1645;p43">
              <a:extLst>
                <a:ext uri="{FF2B5EF4-FFF2-40B4-BE49-F238E27FC236}">
                  <a16:creationId xmlns:a16="http://schemas.microsoft.com/office/drawing/2014/main" id="{0E40445E-03EC-FBB0-12CB-BE19D7A26178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32097D3-28E4-CDF3-792C-93C08F221A5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27" name="Google Shape;2611;p58">
                <a:extLst>
                  <a:ext uri="{FF2B5EF4-FFF2-40B4-BE49-F238E27FC236}">
                    <a16:creationId xmlns:a16="http://schemas.microsoft.com/office/drawing/2014/main" id="{3322EFC7-F727-DF4C-EEF3-00B6473ACF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Hybrid Production</a:t>
                </a:r>
              </a:p>
            </p:txBody>
          </p:sp>
          <p:sp>
            <p:nvSpPr>
              <p:cNvPr id="28" name="Google Shape;2615;p58">
                <a:extLst>
                  <a:ext uri="{FF2B5EF4-FFF2-40B4-BE49-F238E27FC236}">
                    <a16:creationId xmlns:a16="http://schemas.microsoft.com/office/drawing/2014/main" id="{54EBE9B3-EC01-85FF-2285-5BD6FBF447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Supports human-robot collaboration, resource allocation, and bottleneck identification.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2890F1-6EC0-D226-4C7D-64F7C3A87BFA}"/>
              </a:ext>
            </a:extLst>
          </p:cNvPr>
          <p:cNvGrpSpPr/>
          <p:nvPr/>
        </p:nvGrpSpPr>
        <p:grpSpPr>
          <a:xfrm>
            <a:off x="519113" y="1933159"/>
            <a:ext cx="3889115" cy="1156308"/>
            <a:chOff x="4678585" y="3450459"/>
            <a:chExt cx="4198768" cy="1156308"/>
          </a:xfrm>
        </p:grpSpPr>
        <p:sp>
          <p:nvSpPr>
            <p:cNvPr id="30" name="Google Shape;1645;p43">
              <a:extLst>
                <a:ext uri="{FF2B5EF4-FFF2-40B4-BE49-F238E27FC236}">
                  <a16:creationId xmlns:a16="http://schemas.microsoft.com/office/drawing/2014/main" id="{CD35028E-ECED-726D-BDE5-36A7078CDF37}"/>
                </a:ext>
              </a:extLst>
            </p:cNvPr>
            <p:cNvSpPr>
              <a:spLocks/>
            </p:cNvSpPr>
            <p:nvPr/>
          </p:nvSpPr>
          <p:spPr>
            <a:xfrm>
              <a:off x="4678585" y="3567306"/>
              <a:ext cx="898429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E92B48F-A10F-6C58-3C9A-F1B34CB8DDA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55" name="Google Shape;2611;p58">
                <a:extLst>
                  <a:ext uri="{FF2B5EF4-FFF2-40B4-BE49-F238E27FC236}">
                    <a16:creationId xmlns:a16="http://schemas.microsoft.com/office/drawing/2014/main" id="{9933E282-9202-8275-6053-3D2AA99FA6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Definition</a:t>
                </a:r>
              </a:p>
            </p:txBody>
          </p:sp>
          <p:sp>
            <p:nvSpPr>
              <p:cNvPr id="56" name="Google Shape;2615;p58">
                <a:extLst>
                  <a:ext uri="{FF2B5EF4-FFF2-40B4-BE49-F238E27FC236}">
                    <a16:creationId xmlns:a16="http://schemas.microsoft.com/office/drawing/2014/main" id="{31F7C6B1-6240-9E69-1AB1-91596C9594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Combines data, models, and user interaction to enhance decision-making.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A4659A-6C30-17EB-A8DC-758FAB6E91CB}"/>
              </a:ext>
            </a:extLst>
          </p:cNvPr>
          <p:cNvGrpSpPr/>
          <p:nvPr/>
        </p:nvGrpSpPr>
        <p:grpSpPr>
          <a:xfrm>
            <a:off x="538208" y="3413545"/>
            <a:ext cx="3870020" cy="1156308"/>
            <a:chOff x="4678586" y="3450459"/>
            <a:chExt cx="4198767" cy="1156308"/>
          </a:xfrm>
        </p:grpSpPr>
        <p:sp>
          <p:nvSpPr>
            <p:cNvPr id="58" name="Google Shape;1645;p43">
              <a:extLst>
                <a:ext uri="{FF2B5EF4-FFF2-40B4-BE49-F238E27FC236}">
                  <a16:creationId xmlns:a16="http://schemas.microsoft.com/office/drawing/2014/main" id="{34B0224D-C773-F067-64A0-A30A31682198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82144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B4178C2-0D85-4FD7-110C-95A4C4AABF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60" name="Google Shape;2611;p58">
                <a:extLst>
                  <a:ext uri="{FF2B5EF4-FFF2-40B4-BE49-F238E27FC236}">
                    <a16:creationId xmlns:a16="http://schemas.microsoft.com/office/drawing/2014/main" id="{B1886334-B26F-0CB5-DDEA-6C86B3EB3A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Purpose</a:t>
                </a:r>
              </a:p>
            </p:txBody>
          </p:sp>
          <p:sp>
            <p:nvSpPr>
              <p:cNvPr id="61" name="Google Shape;2615;p58">
                <a:extLst>
                  <a:ext uri="{FF2B5EF4-FFF2-40B4-BE49-F238E27FC236}">
                    <a16:creationId xmlns:a16="http://schemas.microsoft.com/office/drawing/2014/main" id="{4BB0EB70-F94B-8B0A-8E1A-DBEC4115C0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Enables “what-if” analyses of production scenarios without affecting real operations</a:t>
                </a:r>
              </a:p>
            </p:txBody>
          </p:sp>
        </p:grpSp>
      </p:grpSp>
      <p:pic>
        <p:nvPicPr>
          <p:cNvPr id="6" name="Picture 5" descr="A red target with a green arrow&#10;&#10;AI-generated content may be incorrect.">
            <a:extLst>
              <a:ext uri="{FF2B5EF4-FFF2-40B4-BE49-F238E27FC236}">
                <a16:creationId xmlns:a16="http://schemas.microsoft.com/office/drawing/2014/main" id="{6B6480C0-6B6F-4E03-474A-7E099F55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43" y="3606445"/>
            <a:ext cx="663669" cy="663669"/>
          </a:xfrm>
          <a:prstGeom prst="rect">
            <a:avLst/>
          </a:prstGeom>
        </p:spPr>
      </p:pic>
      <p:pic>
        <p:nvPicPr>
          <p:cNvPr id="8" name="Picture 7" descr="A hand with blue and yellow stars&#10;&#10;AI-generated content may be incorrect.">
            <a:extLst>
              <a:ext uri="{FF2B5EF4-FFF2-40B4-BE49-F238E27FC236}">
                <a16:creationId xmlns:a16="http://schemas.microsoft.com/office/drawing/2014/main" id="{7C772913-ECAD-3FDB-AEA6-ADDA312D7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207" y="3706453"/>
            <a:ext cx="530941" cy="530941"/>
          </a:xfrm>
          <a:prstGeom prst="rect">
            <a:avLst/>
          </a:prstGeom>
        </p:spPr>
      </p:pic>
      <p:pic>
        <p:nvPicPr>
          <p:cNvPr id="10" name="Picture 9" descr="A book and magnifying glass&#10;&#10;AI-generated content may be incorrect.">
            <a:extLst>
              <a:ext uri="{FF2B5EF4-FFF2-40B4-BE49-F238E27FC236}">
                <a16:creationId xmlns:a16="http://schemas.microsoft.com/office/drawing/2014/main" id="{AF718B85-C025-FA21-ACFF-0419F22C1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6" y="2239512"/>
            <a:ext cx="531082" cy="531082"/>
          </a:xfrm>
          <a:prstGeom prst="rect">
            <a:avLst/>
          </a:prstGeom>
        </p:spPr>
      </p:pic>
      <p:pic>
        <p:nvPicPr>
          <p:cNvPr id="12" name="Picture 11" descr="A black background with a gear and arrows&#10;&#10;AI-generated content may be incorrect.">
            <a:extLst>
              <a:ext uri="{FF2B5EF4-FFF2-40B4-BE49-F238E27FC236}">
                <a16:creationId xmlns:a16="http://schemas.microsoft.com/office/drawing/2014/main" id="{12483721-C8A0-BAED-2A49-47CF219AB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066" y="2202176"/>
            <a:ext cx="531082" cy="53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0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7117418-B97F-51EE-2781-A68229D9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A1841857-BBAA-8081-2E13-3E8C8C7E73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595963"/>
            <a:ext cx="7850981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9559087C-BF99-4B57-BCF0-31590EBF0F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4186454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Design Principles and Tool Justification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D74997E-04C0-9B7C-3985-232B518AB753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9A64B8-7FF6-E01C-834F-3BEE13BCB911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A40D1C-43DA-1FA3-2BED-1F4D27456052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26D2E4B1-EB7A-48B0-7242-83A5F55B674B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1645;p43">
            <a:extLst>
              <a:ext uri="{FF2B5EF4-FFF2-40B4-BE49-F238E27FC236}">
                <a16:creationId xmlns:a16="http://schemas.microsoft.com/office/drawing/2014/main" id="{713941A7-53E4-9560-6CF7-728240695682}"/>
              </a:ext>
            </a:extLst>
          </p:cNvPr>
          <p:cNvSpPr/>
          <p:nvPr/>
        </p:nvSpPr>
        <p:spPr>
          <a:xfrm>
            <a:off x="7204516" y="1655336"/>
            <a:ext cx="841445" cy="841445"/>
          </a:xfrm>
          <a:prstGeom prst="ellipse">
            <a:avLst/>
          </a:prstGeom>
          <a:blipFill dpi="0" rotWithShape="1">
            <a:blip r:embed="rId3"/>
            <a:srcRect/>
            <a:stretch>
              <a:fillRect l="14000" t="20000" r="10000" b="14000"/>
            </a:stretch>
          </a:blip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645;p43">
            <a:extLst>
              <a:ext uri="{FF2B5EF4-FFF2-40B4-BE49-F238E27FC236}">
                <a16:creationId xmlns:a16="http://schemas.microsoft.com/office/drawing/2014/main" id="{5E31AF93-1ED3-4195-C421-E69A45DAE9D0}"/>
              </a:ext>
            </a:extLst>
          </p:cNvPr>
          <p:cNvSpPr/>
          <p:nvPr/>
        </p:nvSpPr>
        <p:spPr>
          <a:xfrm>
            <a:off x="7204516" y="3828186"/>
            <a:ext cx="841445" cy="841445"/>
          </a:xfrm>
          <a:prstGeom prst="ellipse">
            <a:avLst/>
          </a:prstGeom>
          <a:blipFill dpi="0" rotWithShape="1">
            <a:blip r:embed="rId4"/>
            <a:srcRect/>
            <a:stretch>
              <a:fillRect l="-20000" t="-20000" r="-20000" b="-20000"/>
            </a:stretch>
          </a:blip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44AD02-CD5A-A61A-5DD6-78C7E1E4DD8E}"/>
              </a:ext>
            </a:extLst>
          </p:cNvPr>
          <p:cNvCxnSpPr>
            <a:cxnSpLocks/>
            <a:stCxn id="2" idx="4"/>
            <a:endCxn id="6" idx="0"/>
          </p:cNvCxnSpPr>
          <p:nvPr/>
        </p:nvCxnSpPr>
        <p:spPr>
          <a:xfrm>
            <a:off x="7625239" y="2496781"/>
            <a:ext cx="0" cy="133140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E4AE25-4024-33CE-69E4-FD57F4ADE3BD}"/>
              </a:ext>
            </a:extLst>
          </p:cNvPr>
          <p:cNvSpPr txBox="1"/>
          <p:nvPr/>
        </p:nvSpPr>
        <p:spPr>
          <a:xfrm>
            <a:off x="8071023" y="1932569"/>
            <a:ext cx="6862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Logic</a:t>
            </a:r>
            <a:endParaRPr lang="en-US" sz="1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3BCE81-406F-8DFF-9D10-7B2C20FDA7DA}"/>
              </a:ext>
            </a:extLst>
          </p:cNvPr>
          <p:cNvSpPr txBox="1"/>
          <p:nvPr/>
        </p:nvSpPr>
        <p:spPr>
          <a:xfrm>
            <a:off x="8045961" y="4125797"/>
            <a:ext cx="8414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Interface</a:t>
            </a:r>
            <a:endParaRPr lang="en-US" sz="1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" name="Google Shape;2504;p56">
            <a:extLst>
              <a:ext uri="{FF2B5EF4-FFF2-40B4-BE49-F238E27FC236}">
                <a16:creationId xmlns:a16="http://schemas.microsoft.com/office/drawing/2014/main" id="{3A181EDF-A07F-225F-4F36-45488DAAD035}"/>
              </a:ext>
            </a:extLst>
          </p:cNvPr>
          <p:cNvSpPr txBox="1">
            <a:spLocks/>
          </p:cNvSpPr>
          <p:nvPr/>
        </p:nvSpPr>
        <p:spPr>
          <a:xfrm>
            <a:off x="465832" y="2150910"/>
            <a:ext cx="6392773" cy="9720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 primary objective of the proposed framework is to provide a flexible, configurable, and realistic simulation environment to support scenario analysis and decision-making.</a:t>
            </a:r>
          </a:p>
        </p:txBody>
      </p:sp>
      <p:sp>
        <p:nvSpPr>
          <p:cNvPr id="12" name="Google Shape;2506;p56">
            <a:extLst>
              <a:ext uri="{FF2B5EF4-FFF2-40B4-BE49-F238E27FC236}">
                <a16:creationId xmlns:a16="http://schemas.microsoft.com/office/drawing/2014/main" id="{9367A788-51B5-64FA-9D1C-E79C9DE4690E}"/>
              </a:ext>
            </a:extLst>
          </p:cNvPr>
          <p:cNvSpPr txBox="1">
            <a:spLocks/>
          </p:cNvSpPr>
          <p:nvPr/>
        </p:nvSpPr>
        <p:spPr>
          <a:xfrm>
            <a:off x="465832" y="1750764"/>
            <a:ext cx="6406772" cy="4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What are the goals?</a:t>
            </a:r>
          </a:p>
        </p:txBody>
      </p:sp>
      <p:sp>
        <p:nvSpPr>
          <p:cNvPr id="13" name="Google Shape;2504;p56">
            <a:extLst>
              <a:ext uri="{FF2B5EF4-FFF2-40B4-BE49-F238E27FC236}">
                <a16:creationId xmlns:a16="http://schemas.microsoft.com/office/drawing/2014/main" id="{46C59278-67E9-9084-B8E1-A2EA0A51E47C}"/>
              </a:ext>
            </a:extLst>
          </p:cNvPr>
          <p:cNvSpPr txBox="1">
            <a:spLocks/>
          </p:cNvSpPr>
          <p:nvPr/>
        </p:nvSpPr>
        <p:spPr>
          <a:xfrm>
            <a:off x="465831" y="3523072"/>
            <a:ext cx="6392773" cy="14881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SimPy</a:t>
            </a:r>
            <a:r>
              <a:rPr lang="en-US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was chosen because it is an open-source Python library that offers a flexible and precise engine for modeling processes. </a:t>
            </a:r>
          </a:p>
          <a:p>
            <a:endParaRPr lang="en-US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en-US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Qt complements this by providing tools for creating an intuitive graphical interface, which makes the framework interactive and accessible.</a:t>
            </a:r>
            <a:endParaRPr lang="en-US" sz="16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" name="Google Shape;2506;p56">
            <a:extLst>
              <a:ext uri="{FF2B5EF4-FFF2-40B4-BE49-F238E27FC236}">
                <a16:creationId xmlns:a16="http://schemas.microsoft.com/office/drawing/2014/main" id="{4A631572-9AF0-E2C8-D5D9-47DBEF72FA08}"/>
              </a:ext>
            </a:extLst>
          </p:cNvPr>
          <p:cNvSpPr txBox="1">
            <a:spLocks/>
          </p:cNvSpPr>
          <p:nvPr/>
        </p:nvSpPr>
        <p:spPr>
          <a:xfrm>
            <a:off x="465832" y="3036172"/>
            <a:ext cx="6406772" cy="4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sz="2000" b="1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Why</a:t>
            </a:r>
            <a:r>
              <a:rPr lang="pt-PT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2000" b="1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SimPy</a:t>
            </a:r>
            <a:r>
              <a:rPr lang="pt-PT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2000" b="1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and</a:t>
            </a:r>
            <a:r>
              <a:rPr lang="pt-PT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2000" b="1" dirty="0" err="1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Qt</a:t>
            </a:r>
            <a:r>
              <a:rPr lang="pt-PT" sz="20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 ?</a:t>
            </a:r>
            <a:endParaRPr lang="en-US" sz="2000" b="1" dirty="0">
              <a:solidFill>
                <a:srgbClr val="001E3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54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F3B3A1EF-205C-78D3-C8F8-0959D856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315183DE-45FD-0005-6D95-56C86C371D8C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C659D9-F8FA-7A4C-CE55-4DC6DE2E4DD6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3D482-1E34-D8EE-202D-52B82044FDC2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5E457F1B-5CA5-5629-1124-32DB0F791E7F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C298259-0943-E3DD-BC35-D575309CA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29765"/>
            <a:ext cx="3527835" cy="1020359"/>
          </a:xfrm>
          <a:prstGeom prst="rect">
            <a:avLst/>
          </a:prstGeom>
        </p:spPr>
      </p:pic>
      <p:pic>
        <p:nvPicPr>
          <p:cNvPr id="13" name="Picture 12" descr="A black background with white rectangles&#10;&#10;AI-generated content may be incorrect.">
            <a:extLst>
              <a:ext uri="{FF2B5EF4-FFF2-40B4-BE49-F238E27FC236}">
                <a16:creationId xmlns:a16="http://schemas.microsoft.com/office/drawing/2014/main" id="{6204F59A-64CC-A446-C95C-0447130A5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635" y="1821146"/>
            <a:ext cx="4886228" cy="2804214"/>
          </a:xfrm>
          <a:prstGeom prst="rect">
            <a:avLst/>
          </a:prstGeom>
        </p:spPr>
      </p:pic>
      <p:sp>
        <p:nvSpPr>
          <p:cNvPr id="10" name="Google Shape;535;p33">
            <a:extLst>
              <a:ext uri="{FF2B5EF4-FFF2-40B4-BE49-F238E27FC236}">
                <a16:creationId xmlns:a16="http://schemas.microsoft.com/office/drawing/2014/main" id="{351E0776-382D-F806-6184-6B8DFDB12295}"/>
              </a:ext>
            </a:extLst>
          </p:cNvPr>
          <p:cNvSpPr txBox="1">
            <a:spLocks/>
          </p:cNvSpPr>
          <p:nvPr/>
        </p:nvSpPr>
        <p:spPr>
          <a:xfrm>
            <a:off x="563166" y="595963"/>
            <a:ext cx="7850981" cy="84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3600" i="1" spc="-300"/>
              <a:t>3 </a:t>
            </a:r>
            <a:r>
              <a:rPr lang="en-US" sz="3600" b="0" i="1" spc="-300"/>
              <a:t>–</a:t>
            </a:r>
            <a:r>
              <a:rPr lang="en-US" sz="3600" i="1" spc="-300"/>
              <a:t> Development</a:t>
            </a:r>
            <a:endParaRPr lang="en-US" sz="3600" b="0" i="1" spc="-300" dirty="0"/>
          </a:p>
        </p:txBody>
      </p:sp>
      <p:sp>
        <p:nvSpPr>
          <p:cNvPr id="11" name="Google Shape;536;p33">
            <a:extLst>
              <a:ext uri="{FF2B5EF4-FFF2-40B4-BE49-F238E27FC236}">
                <a16:creationId xmlns:a16="http://schemas.microsoft.com/office/drawing/2014/main" id="{E027C962-6340-D262-5A1B-D9801384A497}"/>
              </a:ext>
            </a:extLst>
          </p:cNvPr>
          <p:cNvSpPr txBox="1">
            <a:spLocks/>
          </p:cNvSpPr>
          <p:nvPr/>
        </p:nvSpPr>
        <p:spPr>
          <a:xfrm>
            <a:off x="607219" y="1274964"/>
            <a:ext cx="4186454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Architecture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7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0F22E5B-6267-5156-D83E-A1058522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93185DC0-5AF7-4622-633D-E710633611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/>
              <a:t>3 </a:t>
            </a:r>
            <a:r>
              <a:rPr lang="en-US" sz="3600" b="0" i="1" spc="-300"/>
              <a:t>–</a:t>
            </a:r>
            <a:r>
              <a:rPr lang="en-US" sz="3600" i="1" spc="-300"/>
              <a:t> Development</a:t>
            </a:r>
            <a:endParaRPr lang="en-US" sz="3600" b="0" i="1" spc="-30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2B6D8A54-58DA-3D6E-E3DB-27AAE9CCB7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743108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Logic with SimPy </a:t>
            </a:r>
            <a:r>
              <a:rPr lang="en" sz="1000" b="1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Process-Based Modeling </a:t>
            </a:r>
            <a:endParaRPr sz="100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D1CE83D-E0C2-E0B7-1248-2DB1EB2200BB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B90090-D2DC-ADA4-6040-F1B4A09D772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E42717-269B-10BC-CFB2-57B79B0EEE01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4DB109ED-E118-8C58-8DCC-02F66202F89D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/>
              <a:t>S</a:t>
            </a:r>
            <a:r>
              <a:rPr lang="en-US" sz="1000" b="0" i="1"/>
              <a:t>earch.…</a:t>
            </a:r>
          </a:p>
        </p:txBody>
      </p:sp>
      <p:sp>
        <p:nvSpPr>
          <p:cNvPr id="2" name="Google Shape;2504;p56">
            <a:extLst>
              <a:ext uri="{FF2B5EF4-FFF2-40B4-BE49-F238E27FC236}">
                <a16:creationId xmlns:a16="http://schemas.microsoft.com/office/drawing/2014/main" id="{9F36BB4F-3BB0-4F16-A5CB-512F60DA8C26}"/>
              </a:ext>
            </a:extLst>
          </p:cNvPr>
          <p:cNvSpPr txBox="1">
            <a:spLocks/>
          </p:cNvSpPr>
          <p:nvPr/>
        </p:nvSpPr>
        <p:spPr>
          <a:xfrm>
            <a:off x="563166" y="1913208"/>
            <a:ext cx="5068707" cy="2788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To </a:t>
            </a:r>
            <a:r>
              <a:rPr lang="pt-PT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be</a:t>
            </a:r>
            <a:r>
              <a:rPr lang="pt-PT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done</a:t>
            </a:r>
            <a:endParaRPr lang="en-US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88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1D042F2-610C-4B79-ED9A-68547416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62D891A9-C2B9-50C9-9EB6-F5C56602B0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4AA4603B-D2FE-F184-FEF3-8204282318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Logic with SimPy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Simulation Entities</a:t>
            </a:r>
            <a:endParaRPr sz="10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705FBD-B024-23A7-7C18-4F7922B4E81E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40DD0E-2540-8635-4CFA-D2C838782797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B68490-6383-BAC1-AFED-806D0B6BBBB3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2985BD5B-4E6A-1E3F-D60B-FCFE212568EB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238720-7CCD-CB41-4DF9-E4DCDAF62613}"/>
              </a:ext>
            </a:extLst>
          </p:cNvPr>
          <p:cNvGrpSpPr/>
          <p:nvPr/>
        </p:nvGrpSpPr>
        <p:grpSpPr>
          <a:xfrm>
            <a:off x="3831681" y="1953185"/>
            <a:ext cx="1394763" cy="723275"/>
            <a:chOff x="912017" y="2414193"/>
            <a:chExt cx="1394763" cy="7232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DD2A724-9D3F-51B7-02D9-7E7B3D4812B8}"/>
                </a:ext>
              </a:extLst>
            </p:cNvPr>
            <p:cNvSpPr txBox="1"/>
            <p:nvPr/>
          </p:nvSpPr>
          <p:spPr>
            <a:xfrm>
              <a:off x="912017" y="2414193"/>
              <a:ext cx="1394763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 err="1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rPr>
                <a:t>Operator</a:t>
              </a:r>
              <a:endParaRPr lang="pt-PT" sz="1600" b="1" dirty="0">
                <a:solidFill>
                  <a:schemeClr val="accent2">
                    <a:lumMod val="25000"/>
                  </a:schemeClr>
                </a:solidFill>
                <a:latin typeface="Inter" panose="020B0604020202020204" charset="0"/>
                <a:ea typeface="Inter" panose="020B060402020202020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PT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rPr>
                <a:t>(</a:t>
              </a:r>
              <a:r>
                <a:rPr kumimoji="0" lang="pt-PT" sz="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rPr>
                <a:t>simpy.Resource</a:t>
              </a:r>
              <a:r>
                <a:rPr kumimoji="0" lang="pt-PT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rPr>
                <a:t>)</a:t>
              </a:r>
              <a:endPara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356B90">
                    <a:lumMod val="60000"/>
                    <a:lumOff val="40000"/>
                  </a:srgbClr>
                </a:solidFill>
                <a:effectLst/>
                <a:uLnTx/>
                <a:uFillTx/>
                <a:latin typeface="Inter" panose="020B0604020202020204" charset="0"/>
                <a:ea typeface="Inter" panose="020B0604020202020204" charset="0"/>
                <a:cs typeface="Arial"/>
                <a:sym typeface="Arial"/>
              </a:endParaRPr>
            </a:p>
            <a:p>
              <a:pPr algn="ctr"/>
              <a:endParaRPr lang="en-US" sz="1600" b="1" dirty="0">
                <a:solidFill>
                  <a:schemeClr val="accent2">
                    <a:lumMod val="25000"/>
                  </a:schemeClr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92597A6-F15C-F1B8-834D-3B19C77AB199}"/>
                </a:ext>
              </a:extLst>
            </p:cNvPr>
            <p:cNvSpPr/>
            <p:nvPr/>
          </p:nvSpPr>
          <p:spPr>
            <a:xfrm>
              <a:off x="1536663" y="2948303"/>
              <a:ext cx="145473" cy="1454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BC5587-98BA-0F9C-35B4-E0EDF6CC45D1}"/>
              </a:ext>
            </a:extLst>
          </p:cNvPr>
          <p:cNvGrpSpPr/>
          <p:nvPr/>
        </p:nvGrpSpPr>
        <p:grpSpPr>
          <a:xfrm>
            <a:off x="484477" y="3375536"/>
            <a:ext cx="1440812" cy="622527"/>
            <a:chOff x="912019" y="2426277"/>
            <a:chExt cx="1440812" cy="6225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62EA7BB-82DE-F270-869B-8056BE7FFF1F}"/>
                </a:ext>
              </a:extLst>
            </p:cNvPr>
            <p:cNvGrpSpPr/>
            <p:nvPr/>
          </p:nvGrpSpPr>
          <p:grpSpPr>
            <a:xfrm>
              <a:off x="912019" y="2571750"/>
              <a:ext cx="1440812" cy="477054"/>
              <a:chOff x="912019" y="2571750"/>
              <a:chExt cx="1440812" cy="47705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B25C24-7D8F-BCDA-EEA2-FCAA9FB834FB}"/>
                  </a:ext>
                </a:extLst>
              </p:cNvPr>
              <p:cNvSpPr txBox="1"/>
              <p:nvPr/>
            </p:nvSpPr>
            <p:spPr>
              <a:xfrm>
                <a:off x="912019" y="2571750"/>
                <a:ext cx="1394763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1600" b="1" dirty="0" err="1">
                    <a:solidFill>
                      <a:schemeClr val="accent2">
                        <a:lumMod val="25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Source</a:t>
                </a:r>
                <a:endParaRPr lang="pt-PT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  <a:p>
                <a:pPr algn="ctr"/>
                <a:r>
                  <a:rPr lang="pt-PT" sz="9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(</a:t>
                </a:r>
                <a:r>
                  <a:rPr lang="pt-PT" sz="900" b="1" dirty="0" err="1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simpy.Resource</a:t>
                </a:r>
                <a:r>
                  <a:rPr lang="pt-PT" sz="9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)</a:t>
                </a:r>
                <a:endParaRPr lang="en-US" sz="8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2F6D2FB-FFA0-C9FF-7F50-EA961416758A}"/>
                  </a:ext>
                </a:extLst>
              </p:cNvPr>
              <p:cNvSpPr/>
              <p:nvPr/>
            </p:nvSpPr>
            <p:spPr>
              <a:xfrm>
                <a:off x="2207358" y="2652899"/>
                <a:ext cx="145473" cy="145473"/>
              </a:xfrm>
              <a:prstGeom prst="rect">
                <a:avLst/>
              </a:prstGeom>
              <a:solidFill>
                <a:srgbClr val="EB8015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DC47875-21F1-18A5-D064-525C8184861E}"/>
                </a:ext>
              </a:extLst>
            </p:cNvPr>
            <p:cNvSpPr/>
            <p:nvPr/>
          </p:nvSpPr>
          <p:spPr>
            <a:xfrm>
              <a:off x="1536663" y="2426277"/>
              <a:ext cx="145473" cy="1454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3690F9-0289-9031-E9E8-6E88F1F7781D}"/>
              </a:ext>
            </a:extLst>
          </p:cNvPr>
          <p:cNvGrpSpPr/>
          <p:nvPr/>
        </p:nvGrpSpPr>
        <p:grpSpPr>
          <a:xfrm>
            <a:off x="2120871" y="3375536"/>
            <a:ext cx="1513549" cy="1114969"/>
            <a:chOff x="839282" y="2426277"/>
            <a:chExt cx="1513549" cy="111496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AF90672-B570-B19E-6488-E42B86DF764D}"/>
                </a:ext>
              </a:extLst>
            </p:cNvPr>
            <p:cNvGrpSpPr/>
            <p:nvPr/>
          </p:nvGrpSpPr>
          <p:grpSpPr>
            <a:xfrm>
              <a:off x="839282" y="2571750"/>
              <a:ext cx="1513549" cy="969496"/>
              <a:chOff x="839282" y="2571750"/>
              <a:chExt cx="1513549" cy="969496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AB1113E-A18F-4B39-7E71-3D69992F2A94}"/>
                  </a:ext>
                </a:extLst>
              </p:cNvPr>
              <p:cNvSpPr txBox="1"/>
              <p:nvPr/>
            </p:nvSpPr>
            <p:spPr>
              <a:xfrm>
                <a:off x="912019" y="2571750"/>
                <a:ext cx="1394763" cy="969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1600" b="1" dirty="0" err="1">
                    <a:solidFill>
                      <a:schemeClr val="accent2">
                        <a:lumMod val="25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Process</a:t>
                </a:r>
                <a:endParaRPr lang="pt-PT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(</a:t>
                </a:r>
                <a:r>
                  <a:rPr kumimoji="0" lang="pt-PT" sz="9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simpy.Resource</a:t>
                </a: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)</a:t>
                </a:r>
                <a:endPara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endParaRPr>
              </a:p>
              <a:p>
                <a:pPr algn="ctr"/>
                <a:endParaRPr lang="pt-PT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  <a:p>
                <a:pPr algn="ctr"/>
                <a:endParaRPr lang="en-US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BB7DFD4-EE9F-9FEA-4F26-6674276CDC79}"/>
                  </a:ext>
                </a:extLst>
              </p:cNvPr>
              <p:cNvSpPr/>
              <p:nvPr/>
            </p:nvSpPr>
            <p:spPr>
              <a:xfrm>
                <a:off x="839282" y="2652900"/>
                <a:ext cx="145473" cy="145473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9809AB2-B25C-7BA0-3B7D-23AF9AEE4484}"/>
                  </a:ext>
                </a:extLst>
              </p:cNvPr>
              <p:cNvSpPr/>
              <p:nvPr/>
            </p:nvSpPr>
            <p:spPr>
              <a:xfrm>
                <a:off x="2207358" y="2652899"/>
                <a:ext cx="145473" cy="145473"/>
              </a:xfrm>
              <a:prstGeom prst="rect">
                <a:avLst/>
              </a:prstGeom>
              <a:solidFill>
                <a:srgbClr val="EB8015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300C8D9-9FE3-B135-2656-0551529A3A23}"/>
                </a:ext>
              </a:extLst>
            </p:cNvPr>
            <p:cNvSpPr/>
            <p:nvPr/>
          </p:nvSpPr>
          <p:spPr>
            <a:xfrm>
              <a:off x="1536663" y="2426277"/>
              <a:ext cx="145473" cy="1454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29FBDC-5456-D44E-9013-89CCF4DF0E31}"/>
              </a:ext>
            </a:extLst>
          </p:cNvPr>
          <p:cNvGrpSpPr/>
          <p:nvPr/>
        </p:nvGrpSpPr>
        <p:grpSpPr>
          <a:xfrm>
            <a:off x="5450393" y="3375536"/>
            <a:ext cx="1513549" cy="868748"/>
            <a:chOff x="839282" y="2426277"/>
            <a:chExt cx="1513549" cy="8687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BB1E714-19E5-40A5-D528-9B34E97EED8B}"/>
                </a:ext>
              </a:extLst>
            </p:cNvPr>
            <p:cNvGrpSpPr/>
            <p:nvPr/>
          </p:nvGrpSpPr>
          <p:grpSpPr>
            <a:xfrm>
              <a:off x="839282" y="2571750"/>
              <a:ext cx="1513549" cy="723275"/>
              <a:chOff x="839282" y="2571750"/>
              <a:chExt cx="1513549" cy="723275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CAE2AA-3FB1-29AF-8AC1-67BF8767BDCC}"/>
                  </a:ext>
                </a:extLst>
              </p:cNvPr>
              <p:cNvSpPr txBox="1"/>
              <p:nvPr/>
            </p:nvSpPr>
            <p:spPr>
              <a:xfrm>
                <a:off x="912019" y="2571750"/>
                <a:ext cx="1394763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1600" b="1" dirty="0">
                    <a:solidFill>
                      <a:schemeClr val="accent2">
                        <a:lumMod val="25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Buffer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(</a:t>
                </a:r>
                <a:r>
                  <a:rPr kumimoji="0" lang="pt-PT" sz="9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simpy</a:t>
                </a: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.</a:t>
                </a:r>
                <a:r>
                  <a:rPr lang="pt-PT" sz="900" b="1" dirty="0">
                    <a:solidFill>
                      <a:srgbClr val="356B90">
                        <a:lumMod val="60000"/>
                        <a:lumOff val="40000"/>
                      </a:srgbClr>
                    </a:solidFill>
                    <a:latin typeface="Inter" panose="020B0604020202020204" charset="0"/>
                    <a:ea typeface="Inter" panose="020B0604020202020204" charset="0"/>
                  </a:rPr>
                  <a:t>Container</a:t>
                </a: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)</a:t>
                </a:r>
                <a:endPara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endParaRPr>
              </a:p>
              <a:p>
                <a:pPr algn="ctr"/>
                <a:endParaRPr lang="en-US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84AB1B8-4DC5-F47A-8748-A1139C3C3A53}"/>
                  </a:ext>
                </a:extLst>
              </p:cNvPr>
              <p:cNvSpPr/>
              <p:nvPr/>
            </p:nvSpPr>
            <p:spPr>
              <a:xfrm>
                <a:off x="839282" y="2652900"/>
                <a:ext cx="145473" cy="145473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C744AF3-06C9-40D8-9144-08AA22020D5A}"/>
                  </a:ext>
                </a:extLst>
              </p:cNvPr>
              <p:cNvSpPr/>
              <p:nvPr/>
            </p:nvSpPr>
            <p:spPr>
              <a:xfrm>
                <a:off x="2207358" y="2652899"/>
                <a:ext cx="145473" cy="145473"/>
              </a:xfrm>
              <a:prstGeom prst="rect">
                <a:avLst/>
              </a:prstGeom>
              <a:solidFill>
                <a:srgbClr val="EB8015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39FF7F4-4BAA-0B68-D1C8-FB8CD9BC6561}"/>
                </a:ext>
              </a:extLst>
            </p:cNvPr>
            <p:cNvSpPr/>
            <p:nvPr/>
          </p:nvSpPr>
          <p:spPr>
            <a:xfrm>
              <a:off x="1536663" y="2426277"/>
              <a:ext cx="145473" cy="1454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7C97AE-104C-E6D0-6629-2FBE7E6D98B4}"/>
              </a:ext>
            </a:extLst>
          </p:cNvPr>
          <p:cNvGrpSpPr/>
          <p:nvPr/>
        </p:nvGrpSpPr>
        <p:grpSpPr>
          <a:xfrm>
            <a:off x="3785632" y="3375536"/>
            <a:ext cx="1513549" cy="868748"/>
            <a:chOff x="839282" y="2426277"/>
            <a:chExt cx="1513549" cy="868748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99CDB52-9A0E-F499-1F45-43645EFFD917}"/>
                </a:ext>
              </a:extLst>
            </p:cNvPr>
            <p:cNvGrpSpPr/>
            <p:nvPr/>
          </p:nvGrpSpPr>
          <p:grpSpPr>
            <a:xfrm>
              <a:off x="839282" y="2571750"/>
              <a:ext cx="1513549" cy="723275"/>
              <a:chOff x="839282" y="2571750"/>
              <a:chExt cx="1513549" cy="723275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D162A8-D8E9-CF22-8F5B-0D9DDF56A4BF}"/>
                  </a:ext>
                </a:extLst>
              </p:cNvPr>
              <p:cNvSpPr txBox="1"/>
              <p:nvPr/>
            </p:nvSpPr>
            <p:spPr>
              <a:xfrm>
                <a:off x="912019" y="2571750"/>
                <a:ext cx="1394763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1600" b="1" dirty="0" err="1">
                    <a:solidFill>
                      <a:schemeClr val="accent2">
                        <a:lumMod val="25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Converyor</a:t>
                </a:r>
                <a:endParaRPr lang="pt-PT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(</a:t>
                </a:r>
                <a:r>
                  <a:rPr kumimoji="0" lang="pt-PT" sz="9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simpy.Container</a:t>
                </a: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)</a:t>
                </a:r>
                <a:endPara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endParaRPr>
              </a:p>
              <a:p>
                <a:pPr algn="ctr"/>
                <a:endParaRPr lang="en-US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0BD63C3-5640-84C5-6F80-7866C9C9B875}"/>
                  </a:ext>
                </a:extLst>
              </p:cNvPr>
              <p:cNvSpPr/>
              <p:nvPr/>
            </p:nvSpPr>
            <p:spPr>
              <a:xfrm>
                <a:off x="839282" y="2652900"/>
                <a:ext cx="145473" cy="145473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D510CEB-62B0-F22C-9F04-162B2D93341A}"/>
                  </a:ext>
                </a:extLst>
              </p:cNvPr>
              <p:cNvSpPr/>
              <p:nvPr/>
            </p:nvSpPr>
            <p:spPr>
              <a:xfrm>
                <a:off x="2207358" y="2652899"/>
                <a:ext cx="145473" cy="145473"/>
              </a:xfrm>
              <a:prstGeom prst="rect">
                <a:avLst/>
              </a:prstGeom>
              <a:solidFill>
                <a:srgbClr val="EB8015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95380F1-160D-4759-472F-CBD8C682667C}"/>
                </a:ext>
              </a:extLst>
            </p:cNvPr>
            <p:cNvSpPr/>
            <p:nvPr/>
          </p:nvSpPr>
          <p:spPr>
            <a:xfrm>
              <a:off x="1536663" y="2426277"/>
              <a:ext cx="145473" cy="1454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858B056-BAC9-A0C0-AF94-0E113861AE9B}"/>
              </a:ext>
            </a:extLst>
          </p:cNvPr>
          <p:cNvGrpSpPr/>
          <p:nvPr/>
        </p:nvGrpSpPr>
        <p:grpSpPr>
          <a:xfrm>
            <a:off x="7141842" y="3375536"/>
            <a:ext cx="1467500" cy="868748"/>
            <a:chOff x="839282" y="2426277"/>
            <a:chExt cx="1467500" cy="86874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AF2C8B6-2D9F-8428-75E4-7FD5A509180A}"/>
                </a:ext>
              </a:extLst>
            </p:cNvPr>
            <p:cNvGrpSpPr/>
            <p:nvPr/>
          </p:nvGrpSpPr>
          <p:grpSpPr>
            <a:xfrm>
              <a:off x="839282" y="2571750"/>
              <a:ext cx="1467500" cy="723275"/>
              <a:chOff x="839282" y="2571750"/>
              <a:chExt cx="1467500" cy="72327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2EF46D4-1D7F-FB15-172C-B6AE1F53016B}"/>
                  </a:ext>
                </a:extLst>
              </p:cNvPr>
              <p:cNvSpPr txBox="1"/>
              <p:nvPr/>
            </p:nvSpPr>
            <p:spPr>
              <a:xfrm>
                <a:off x="912019" y="2571750"/>
                <a:ext cx="1394763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1600" b="1" dirty="0">
                    <a:solidFill>
                      <a:schemeClr val="accent2">
                        <a:lumMod val="25000"/>
                      </a:schemeClr>
                    </a:solidFill>
                    <a:latin typeface="Inter" panose="020B0604020202020204" charset="0"/>
                    <a:ea typeface="Inter" panose="020B0604020202020204" charset="0"/>
                  </a:rPr>
                  <a:t>Target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(</a:t>
                </a:r>
                <a:r>
                  <a:rPr kumimoji="0" lang="pt-PT" sz="9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simpy.Resource</a:t>
                </a:r>
                <a:r>
                  <a:rPr kumimoji="0" lang="pt-PT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56B90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Inter" panose="020B0604020202020204" charset="0"/>
                    <a:ea typeface="Inter" panose="020B0604020202020204" charset="0"/>
                    <a:cs typeface="Arial"/>
                    <a:sym typeface="Arial"/>
                  </a:rPr>
                  <a:t>)</a:t>
                </a:r>
                <a:endPara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356B90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Inter" panose="020B0604020202020204" charset="0"/>
                  <a:ea typeface="Inter" panose="020B0604020202020204" charset="0"/>
                  <a:cs typeface="Arial"/>
                  <a:sym typeface="Arial"/>
                </a:endParaRPr>
              </a:p>
              <a:p>
                <a:pPr algn="ctr"/>
                <a:endParaRPr lang="en-US" sz="1600" b="1" dirty="0">
                  <a:solidFill>
                    <a:schemeClr val="accent2">
                      <a:lumMod val="25000"/>
                    </a:schemeClr>
                  </a:solidFill>
                  <a:latin typeface="Inter" panose="020B0604020202020204" charset="0"/>
                  <a:ea typeface="Inter" panose="020B060402020202020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D95DF6B-CE4D-8256-E191-A2C764B258C7}"/>
                  </a:ext>
                </a:extLst>
              </p:cNvPr>
              <p:cNvSpPr/>
              <p:nvPr/>
            </p:nvSpPr>
            <p:spPr>
              <a:xfrm>
                <a:off x="839282" y="2652900"/>
                <a:ext cx="145473" cy="145473"/>
              </a:xfrm>
              <a:prstGeom prst="rect">
                <a:avLst/>
              </a:prstGeom>
              <a:solidFill>
                <a:srgbClr val="00B050"/>
              </a:solidFill>
              <a:ln w="12700">
                <a:solidFill>
                  <a:schemeClr val="bg1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5492C23-7676-2B5A-9AC6-F997B93025B1}"/>
                </a:ext>
              </a:extLst>
            </p:cNvPr>
            <p:cNvSpPr/>
            <p:nvPr/>
          </p:nvSpPr>
          <p:spPr>
            <a:xfrm>
              <a:off x="1536663" y="2426277"/>
              <a:ext cx="145473" cy="1454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7B12245-355B-17D5-B438-109C73F9491C}"/>
              </a:ext>
            </a:extLst>
          </p:cNvPr>
          <p:cNvCxnSpPr>
            <a:stCxn id="27" idx="3"/>
            <a:endCxn id="32" idx="1"/>
          </p:cNvCxnSpPr>
          <p:nvPr/>
        </p:nvCxnSpPr>
        <p:spPr>
          <a:xfrm>
            <a:off x="1925289" y="3674895"/>
            <a:ext cx="195582" cy="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2A95B08-E86E-B8F1-D6A1-81F1E368702A}"/>
              </a:ext>
            </a:extLst>
          </p:cNvPr>
          <p:cNvCxnSpPr>
            <a:stCxn id="33" idx="3"/>
            <a:endCxn id="44" idx="1"/>
          </p:cNvCxnSpPr>
          <p:nvPr/>
        </p:nvCxnSpPr>
        <p:spPr>
          <a:xfrm>
            <a:off x="3634420" y="3674895"/>
            <a:ext cx="151212" cy="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1D63798-F1BA-E6E7-FF56-0DC0B7A1ED8A}"/>
              </a:ext>
            </a:extLst>
          </p:cNvPr>
          <p:cNvCxnSpPr>
            <a:stCxn id="45" idx="3"/>
            <a:endCxn id="38" idx="1"/>
          </p:cNvCxnSpPr>
          <p:nvPr/>
        </p:nvCxnSpPr>
        <p:spPr>
          <a:xfrm>
            <a:off x="5299181" y="3674895"/>
            <a:ext cx="151212" cy="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B119608-E722-84CB-A436-B41DC986A0EF}"/>
              </a:ext>
            </a:extLst>
          </p:cNvPr>
          <p:cNvCxnSpPr>
            <a:stCxn id="39" idx="3"/>
            <a:endCxn id="50" idx="1"/>
          </p:cNvCxnSpPr>
          <p:nvPr/>
        </p:nvCxnSpPr>
        <p:spPr>
          <a:xfrm>
            <a:off x="6963942" y="3674895"/>
            <a:ext cx="177900" cy="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760F2DD-1275-8E96-5EE9-8B4D5C7F80B4}"/>
              </a:ext>
            </a:extLst>
          </p:cNvPr>
          <p:cNvCxnSpPr>
            <a:stCxn id="24" idx="0"/>
            <a:endCxn id="20" idx="2"/>
          </p:cNvCxnSpPr>
          <p:nvPr/>
        </p:nvCxnSpPr>
        <p:spPr>
          <a:xfrm flipV="1">
            <a:off x="1181858" y="2632768"/>
            <a:ext cx="3347206" cy="74276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00DC18A-4264-B99B-BBBC-D7B0161D92BF}"/>
              </a:ext>
            </a:extLst>
          </p:cNvPr>
          <p:cNvCxnSpPr>
            <a:stCxn id="30" idx="0"/>
            <a:endCxn id="20" idx="2"/>
          </p:cNvCxnSpPr>
          <p:nvPr/>
        </p:nvCxnSpPr>
        <p:spPr>
          <a:xfrm flipV="1">
            <a:off x="2890989" y="2632768"/>
            <a:ext cx="1638075" cy="74276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3" name="Straight Arrow Connector 512">
            <a:extLst>
              <a:ext uri="{FF2B5EF4-FFF2-40B4-BE49-F238E27FC236}">
                <a16:creationId xmlns:a16="http://schemas.microsoft.com/office/drawing/2014/main" id="{FFC856C5-9A64-5D23-4D94-55BB95A78624}"/>
              </a:ext>
            </a:extLst>
          </p:cNvPr>
          <p:cNvCxnSpPr>
            <a:stCxn id="42" idx="0"/>
            <a:endCxn id="20" idx="2"/>
          </p:cNvCxnSpPr>
          <p:nvPr/>
        </p:nvCxnSpPr>
        <p:spPr>
          <a:xfrm flipH="1" flipV="1">
            <a:off x="4529064" y="2632768"/>
            <a:ext cx="26686" cy="74276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5" name="Straight Arrow Connector 514">
            <a:extLst>
              <a:ext uri="{FF2B5EF4-FFF2-40B4-BE49-F238E27FC236}">
                <a16:creationId xmlns:a16="http://schemas.microsoft.com/office/drawing/2014/main" id="{B2B8B918-B80E-6972-DF95-C26C70EBE967}"/>
              </a:ext>
            </a:extLst>
          </p:cNvPr>
          <p:cNvCxnSpPr>
            <a:stCxn id="36" idx="0"/>
            <a:endCxn id="20" idx="2"/>
          </p:cNvCxnSpPr>
          <p:nvPr/>
        </p:nvCxnSpPr>
        <p:spPr>
          <a:xfrm flipH="1" flipV="1">
            <a:off x="4529064" y="2632768"/>
            <a:ext cx="1691447" cy="74276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7" name="Straight Arrow Connector 516">
            <a:extLst>
              <a:ext uri="{FF2B5EF4-FFF2-40B4-BE49-F238E27FC236}">
                <a16:creationId xmlns:a16="http://schemas.microsoft.com/office/drawing/2014/main" id="{3E669626-0E05-6557-9991-E5EEE2E99AC1}"/>
              </a:ext>
            </a:extLst>
          </p:cNvPr>
          <p:cNvCxnSpPr>
            <a:stCxn id="48" idx="0"/>
            <a:endCxn id="20" idx="2"/>
          </p:cNvCxnSpPr>
          <p:nvPr/>
        </p:nvCxnSpPr>
        <p:spPr>
          <a:xfrm flipH="1" flipV="1">
            <a:off x="4529064" y="2632768"/>
            <a:ext cx="3382896" cy="74276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753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7975D86-3CEC-2996-581F-1FEA8B6DC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56E9ECB9-02D3-286A-3444-104067A2402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7" y="595963"/>
            <a:ext cx="5110270" cy="8414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687CB176-7462-C492-6D83-CF18FBD23B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Logic with SimPy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Simulation Flow</a:t>
            </a:r>
            <a:endParaRPr sz="10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B4529D-4DBA-2487-E313-E1BBC1785927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33E46B-BD4C-76FF-5A0C-7F447EEC67A1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4BAE40-20E4-9B9A-E3EC-40E2BDC3FC24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DFE7C4D3-BECA-458C-A86E-A9DB1299DD8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552" name="Rectangle: Rounded Corners 551">
            <a:extLst>
              <a:ext uri="{FF2B5EF4-FFF2-40B4-BE49-F238E27FC236}">
                <a16:creationId xmlns:a16="http://schemas.microsoft.com/office/drawing/2014/main" id="{B1D6DDF7-837F-F7C3-7123-C13AEAD46E89}"/>
              </a:ext>
            </a:extLst>
          </p:cNvPr>
          <p:cNvSpPr/>
          <p:nvPr/>
        </p:nvSpPr>
        <p:spPr>
          <a:xfrm>
            <a:off x="526790" y="2261134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node.</a:t>
            </a:r>
            <a:r>
              <a:rPr lang="pt-PT" sz="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request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()</a:t>
            </a:r>
            <a:endParaRPr lang="en-US" sz="800" dirty="0">
              <a:solidFill>
                <a:schemeClr val="accent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3" name="Rectangle: Rounded Corners 552">
            <a:extLst>
              <a:ext uri="{FF2B5EF4-FFF2-40B4-BE49-F238E27FC236}">
                <a16:creationId xmlns:a16="http://schemas.microsoft.com/office/drawing/2014/main" id="{6D4CE81E-AE7E-8A28-5B31-3F378161313B}"/>
              </a:ext>
            </a:extLst>
          </p:cNvPr>
          <p:cNvSpPr/>
          <p:nvPr/>
        </p:nvSpPr>
        <p:spPr>
          <a:xfrm>
            <a:off x="4976001" y="2261134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env.</a:t>
            </a:r>
            <a:r>
              <a:rPr lang="pt-PT" sz="800" err="1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timeout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(</a:t>
            </a:r>
            <a:r>
              <a:rPr lang="pt-PT" sz="800" dirty="0" err="1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process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)</a:t>
            </a:r>
            <a:endParaRPr lang="en-US" sz="800" dirty="0">
              <a:solidFill>
                <a:schemeClr val="accent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4" name="Rectangle: Rounded Corners 553">
            <a:extLst>
              <a:ext uri="{FF2B5EF4-FFF2-40B4-BE49-F238E27FC236}">
                <a16:creationId xmlns:a16="http://schemas.microsoft.com/office/drawing/2014/main" id="{86906492-3E0B-B239-4834-73584FA8272D}"/>
              </a:ext>
            </a:extLst>
          </p:cNvPr>
          <p:cNvSpPr/>
          <p:nvPr/>
        </p:nvSpPr>
        <p:spPr>
          <a:xfrm>
            <a:off x="7161602" y="2261134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node.</a:t>
            </a:r>
            <a:r>
              <a:rPr lang="pt-PT" sz="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release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()</a:t>
            </a:r>
            <a:endParaRPr lang="en-US" sz="800" dirty="0">
              <a:solidFill>
                <a:schemeClr val="accent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5" name="Rectangle: Rounded Corners 554">
            <a:extLst>
              <a:ext uri="{FF2B5EF4-FFF2-40B4-BE49-F238E27FC236}">
                <a16:creationId xmlns:a16="http://schemas.microsoft.com/office/drawing/2014/main" id="{2DFA30B1-1878-137F-F71B-5941AD8DB96C}"/>
              </a:ext>
            </a:extLst>
          </p:cNvPr>
          <p:cNvSpPr/>
          <p:nvPr/>
        </p:nvSpPr>
        <p:spPr>
          <a:xfrm>
            <a:off x="7161601" y="3569927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node = </a:t>
            </a:r>
            <a:r>
              <a:rPr lang="pt-PT" sz="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next_node</a:t>
            </a:r>
            <a:r>
              <a:rPr lang="pt-PT" sz="800" dirty="0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()</a:t>
            </a:r>
            <a:endParaRPr lang="en-US" sz="800" dirty="0">
              <a:solidFill>
                <a:schemeClr val="accent3">
                  <a:lumMod val="60000"/>
                  <a:lumOff val="40000"/>
                </a:schemeClr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6" name="Rectangle: Rounded Corners 555">
            <a:extLst>
              <a:ext uri="{FF2B5EF4-FFF2-40B4-BE49-F238E27FC236}">
                <a16:creationId xmlns:a16="http://schemas.microsoft.com/office/drawing/2014/main" id="{9634743F-F160-CD31-89DC-1FE15ED2BF04}"/>
              </a:ext>
            </a:extLst>
          </p:cNvPr>
          <p:cNvSpPr/>
          <p:nvPr/>
        </p:nvSpPr>
        <p:spPr>
          <a:xfrm>
            <a:off x="2678976" y="2261134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if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needed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  <a:b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operator.</a:t>
            </a:r>
            <a:r>
              <a:rPr lang="pt-PT" sz="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request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()</a:t>
            </a:r>
            <a:endParaRPr lang="en-US" sz="800" dirty="0">
              <a:solidFill>
                <a:schemeClr val="accent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7" name="Rectangle: Rounded Corners 556">
            <a:extLst>
              <a:ext uri="{FF2B5EF4-FFF2-40B4-BE49-F238E27FC236}">
                <a16:creationId xmlns:a16="http://schemas.microsoft.com/office/drawing/2014/main" id="{6ECE876C-B294-EE45-A2F8-BA11AD7EF267}"/>
              </a:ext>
            </a:extLst>
          </p:cNvPr>
          <p:cNvSpPr/>
          <p:nvPr/>
        </p:nvSpPr>
        <p:spPr>
          <a:xfrm>
            <a:off x="3910211" y="3582889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env</a:t>
            </a:r>
            <a:r>
              <a:rPr lang="pt-PT" sz="80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  <a:r>
              <a:rPr lang="pt-PT" sz="800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timeout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(</a:t>
            </a:r>
            <a:r>
              <a:rPr lang="pt-PT" sz="800" dirty="0" err="1">
                <a:solidFill>
                  <a:schemeClr val="bg2">
                    <a:lumMod val="75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transport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)</a:t>
            </a:r>
            <a:endParaRPr lang="en-US" sz="800" dirty="0">
              <a:solidFill>
                <a:schemeClr val="accent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58" name="Rectangle: Rounded Corners 557">
            <a:extLst>
              <a:ext uri="{FF2B5EF4-FFF2-40B4-BE49-F238E27FC236}">
                <a16:creationId xmlns:a16="http://schemas.microsoft.com/office/drawing/2014/main" id="{A5AD630C-A7BA-E68F-E18E-537DD9AC271F}"/>
              </a:ext>
            </a:extLst>
          </p:cNvPr>
          <p:cNvSpPr/>
          <p:nvPr/>
        </p:nvSpPr>
        <p:spPr>
          <a:xfrm>
            <a:off x="520405" y="3582890"/>
            <a:ext cx="1394872" cy="6212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if</a:t>
            </a:r>
            <a:r>
              <a:rPr lang="pt-PT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not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needed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  <a:b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pt-PT" sz="800" dirty="0" err="1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operator.</a:t>
            </a:r>
            <a:r>
              <a:rPr lang="pt-PT" sz="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release</a:t>
            </a:r>
            <a:r>
              <a:rPr lang="pt-PT" sz="800" dirty="0">
                <a:solidFill>
                  <a:schemeClr val="accent2"/>
                </a:solidFill>
                <a:latin typeface="Inter" panose="020B0604020202020204" charset="0"/>
                <a:ea typeface="Inter" panose="020B0604020202020204" charset="0"/>
              </a:rPr>
              <a:t>()</a:t>
            </a:r>
            <a:endParaRPr lang="en-US" sz="800" dirty="0">
              <a:solidFill>
                <a:schemeClr val="accent2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DF70A064-C5B3-3904-5EC8-1D1BAB3ABA0F}"/>
              </a:ext>
            </a:extLst>
          </p:cNvPr>
          <p:cNvCxnSpPr>
            <a:cxnSpLocks/>
            <a:stCxn id="552" idx="3"/>
            <a:endCxn id="556" idx="1"/>
          </p:cNvCxnSpPr>
          <p:nvPr/>
        </p:nvCxnSpPr>
        <p:spPr>
          <a:xfrm>
            <a:off x="1921662" y="2571750"/>
            <a:ext cx="757314" cy="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B1C29CA1-34B0-9219-F0B1-BBCCDCF61299}"/>
              </a:ext>
            </a:extLst>
          </p:cNvPr>
          <p:cNvCxnSpPr>
            <a:cxnSpLocks/>
            <a:stCxn id="556" idx="3"/>
            <a:endCxn id="553" idx="1"/>
          </p:cNvCxnSpPr>
          <p:nvPr/>
        </p:nvCxnSpPr>
        <p:spPr>
          <a:xfrm>
            <a:off x="4073848" y="2571750"/>
            <a:ext cx="902153" cy="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3" name="Straight Arrow Connector 562">
            <a:extLst>
              <a:ext uri="{FF2B5EF4-FFF2-40B4-BE49-F238E27FC236}">
                <a16:creationId xmlns:a16="http://schemas.microsoft.com/office/drawing/2014/main" id="{CBC5A1D2-D39E-563E-19EF-466FD6D1E56A}"/>
              </a:ext>
            </a:extLst>
          </p:cNvPr>
          <p:cNvCxnSpPr>
            <a:cxnSpLocks/>
            <a:stCxn id="553" idx="3"/>
            <a:endCxn id="554" idx="1"/>
          </p:cNvCxnSpPr>
          <p:nvPr/>
        </p:nvCxnSpPr>
        <p:spPr>
          <a:xfrm>
            <a:off x="6370873" y="2571750"/>
            <a:ext cx="790729" cy="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5" name="Straight Arrow Connector 564">
            <a:extLst>
              <a:ext uri="{FF2B5EF4-FFF2-40B4-BE49-F238E27FC236}">
                <a16:creationId xmlns:a16="http://schemas.microsoft.com/office/drawing/2014/main" id="{9CD6A42A-5407-C2F6-A625-27C8B7310B35}"/>
              </a:ext>
            </a:extLst>
          </p:cNvPr>
          <p:cNvCxnSpPr>
            <a:cxnSpLocks/>
            <a:stCxn id="554" idx="2"/>
            <a:endCxn id="555" idx="0"/>
          </p:cNvCxnSpPr>
          <p:nvPr/>
        </p:nvCxnSpPr>
        <p:spPr>
          <a:xfrm flipH="1">
            <a:off x="7859037" y="2882365"/>
            <a:ext cx="1" cy="687562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7" name="Straight Arrow Connector 566">
            <a:extLst>
              <a:ext uri="{FF2B5EF4-FFF2-40B4-BE49-F238E27FC236}">
                <a16:creationId xmlns:a16="http://schemas.microsoft.com/office/drawing/2014/main" id="{7A24B3C6-EF2A-A7EA-5096-B3A27C19E58E}"/>
              </a:ext>
            </a:extLst>
          </p:cNvPr>
          <p:cNvCxnSpPr>
            <a:cxnSpLocks/>
            <a:stCxn id="555" idx="1"/>
            <a:endCxn id="557" idx="3"/>
          </p:cNvCxnSpPr>
          <p:nvPr/>
        </p:nvCxnSpPr>
        <p:spPr>
          <a:xfrm flipH="1">
            <a:off x="5305083" y="3880543"/>
            <a:ext cx="1856518" cy="12962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1" name="Straight Arrow Connector 570">
            <a:extLst>
              <a:ext uri="{FF2B5EF4-FFF2-40B4-BE49-F238E27FC236}">
                <a16:creationId xmlns:a16="http://schemas.microsoft.com/office/drawing/2014/main" id="{80506683-CC54-90FB-B745-F687E310B8A7}"/>
              </a:ext>
            </a:extLst>
          </p:cNvPr>
          <p:cNvCxnSpPr>
            <a:cxnSpLocks/>
            <a:stCxn id="557" idx="1"/>
            <a:endCxn id="558" idx="3"/>
          </p:cNvCxnSpPr>
          <p:nvPr/>
        </p:nvCxnSpPr>
        <p:spPr>
          <a:xfrm flipH="1">
            <a:off x="1915277" y="3893505"/>
            <a:ext cx="1994934" cy="1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3" name="Straight Arrow Connector 572">
            <a:extLst>
              <a:ext uri="{FF2B5EF4-FFF2-40B4-BE49-F238E27FC236}">
                <a16:creationId xmlns:a16="http://schemas.microsoft.com/office/drawing/2014/main" id="{E004521B-DCBF-A11C-E1BD-4A7FDE562CEC}"/>
              </a:ext>
            </a:extLst>
          </p:cNvPr>
          <p:cNvCxnSpPr>
            <a:cxnSpLocks/>
            <a:stCxn id="558" idx="0"/>
            <a:endCxn id="552" idx="2"/>
          </p:cNvCxnSpPr>
          <p:nvPr/>
        </p:nvCxnSpPr>
        <p:spPr>
          <a:xfrm flipV="1">
            <a:off x="1217841" y="2882365"/>
            <a:ext cx="6385" cy="700525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822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7718191-5128-4818-3C80-4E2D058A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231B6BFB-F734-5BCD-C0A4-9CDBF2ECF95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E1BD71AD-AD8B-2786-49B8-268D5DB32E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010799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Logic with </a:t>
            </a:r>
            <a:r>
              <a:rPr lang="en-US" sz="1500" b="1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SimPy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en-US" sz="105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Errors and Failures Simulation</a:t>
            </a:r>
            <a:endParaRPr lang="en-US" sz="1500" b="1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9B5CA6-55BA-8FE2-5B77-5E536E9EBF40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3891E0-7790-CDD2-438E-A80665AF5EC9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9CD4D9-91BD-B9A2-DE70-710D0D439A7C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871D59EF-7360-EF34-8F66-3F94A1F90C0B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268CDF9-8CC6-1DF2-C9A2-BF2097D0547D}"/>
              </a:ext>
            </a:extLst>
          </p:cNvPr>
          <p:cNvGrpSpPr/>
          <p:nvPr/>
        </p:nvGrpSpPr>
        <p:grpSpPr>
          <a:xfrm>
            <a:off x="4572000" y="3734883"/>
            <a:ext cx="3930883" cy="1156308"/>
            <a:chOff x="4678586" y="3450459"/>
            <a:chExt cx="4198767" cy="1156308"/>
          </a:xfrm>
        </p:grpSpPr>
        <p:sp>
          <p:nvSpPr>
            <p:cNvPr id="29" name="Google Shape;1645;p43">
              <a:extLst>
                <a:ext uri="{FF2B5EF4-FFF2-40B4-BE49-F238E27FC236}">
                  <a16:creationId xmlns:a16="http://schemas.microsoft.com/office/drawing/2014/main" id="{D5C486EA-BEE4-664B-E577-BF7B3ABAADAC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2EEA37F-51D2-FE97-E75E-A9B3403A3F17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31" name="Google Shape;2611;p58">
                <a:extLst>
                  <a:ext uri="{FF2B5EF4-FFF2-40B4-BE49-F238E27FC236}">
                    <a16:creationId xmlns:a16="http://schemas.microsoft.com/office/drawing/2014/main" id="{8CA69273-C562-9304-54CC-EE7A2BB0FA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Event</a:t>
                </a: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</a:t>
                </a: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Logging</a:t>
                </a:r>
                <a:endParaRPr lang="en-US" sz="18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Montserrat"/>
                  <a:sym typeface="Montserrat"/>
                </a:endParaRPr>
              </a:p>
            </p:txBody>
          </p:sp>
          <p:sp>
            <p:nvSpPr>
              <p:cNvPr id="32" name="Google Shape;2615;p58">
                <a:extLst>
                  <a:ext uri="{FF2B5EF4-FFF2-40B4-BE49-F238E27FC236}">
                    <a16:creationId xmlns:a16="http://schemas.microsoft.com/office/drawing/2014/main" id="{F31A2AF1-4798-D8D9-5CDF-4143B6B776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Every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event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from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piece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movement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and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operator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interaction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is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logged</a:t>
                </a:r>
                <a:endParaRPr lang="pt-PT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E34E9B2-5073-9494-A5A8-6606FB6DE4DE}"/>
              </a:ext>
            </a:extLst>
          </p:cNvPr>
          <p:cNvGrpSpPr/>
          <p:nvPr/>
        </p:nvGrpSpPr>
        <p:grpSpPr>
          <a:xfrm>
            <a:off x="4572000" y="1650564"/>
            <a:ext cx="4440382" cy="1435892"/>
            <a:chOff x="4678586" y="3170875"/>
            <a:chExt cx="4742988" cy="1435892"/>
          </a:xfrm>
        </p:grpSpPr>
        <p:sp>
          <p:nvSpPr>
            <p:cNvPr id="34" name="Google Shape;1645;p43">
              <a:extLst>
                <a:ext uri="{FF2B5EF4-FFF2-40B4-BE49-F238E27FC236}">
                  <a16:creationId xmlns:a16="http://schemas.microsoft.com/office/drawing/2014/main" id="{F7ABDB89-2CB8-3B2E-47AE-13A9BBAE21FC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E0C5140-1863-A629-729E-B7240432968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170875"/>
              <a:ext cx="3844446" cy="1435892"/>
              <a:chOff x="1309928" y="1921924"/>
              <a:chExt cx="3844446" cy="1435892"/>
            </a:xfrm>
          </p:grpSpPr>
          <p:sp>
            <p:nvSpPr>
              <p:cNvPr id="36" name="Google Shape;2611;p58">
                <a:extLst>
                  <a:ext uri="{FF2B5EF4-FFF2-40B4-BE49-F238E27FC236}">
                    <a16:creationId xmlns:a16="http://schemas.microsoft.com/office/drawing/2014/main" id="{533668EF-91B8-4158-8E85-638FE50DFD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1921924"/>
                <a:ext cx="3844446" cy="665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Failures</a:t>
                </a: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&amp; </a:t>
                </a: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Maintenance</a:t>
                </a:r>
                <a:endParaRPr lang="en-US" sz="18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Montserrat"/>
                  <a:sym typeface="Montserrat"/>
                </a:endParaRPr>
              </a:p>
            </p:txBody>
          </p:sp>
          <p:sp>
            <p:nvSpPr>
              <p:cNvPr id="37" name="Google Shape;2615;p58">
                <a:extLst>
                  <a:ext uri="{FF2B5EF4-FFF2-40B4-BE49-F238E27FC236}">
                    <a16:creationId xmlns:a16="http://schemas.microsoft.com/office/drawing/2014/main" id="{7AC14BD9-F372-5B93-937E-0D6C6684A5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509393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MTBF 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–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avg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 time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between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failures</a:t>
                </a:r>
                <a:endParaRPr lang="pt-PT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MTTR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–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avg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repair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time</a:t>
                </a:r>
                <a:endParaRPr lang="pt-PT" sz="12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MTBM 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–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avg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 time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between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maintenance</a:t>
                </a:r>
                <a:endParaRPr lang="pt-PT" sz="12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TSLM 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– time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since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last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maintenance</a:t>
                </a:r>
                <a:endParaRPr lang="pt-PT" sz="12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MTM 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–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avg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maintenance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duration</a:t>
                </a:r>
                <a:endParaRPr lang="pt-PT" sz="12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B32911-5293-84B4-A156-BFC536B69EEA}"/>
              </a:ext>
            </a:extLst>
          </p:cNvPr>
          <p:cNvGrpSpPr/>
          <p:nvPr/>
        </p:nvGrpSpPr>
        <p:grpSpPr>
          <a:xfrm>
            <a:off x="519113" y="1933159"/>
            <a:ext cx="3889115" cy="1156308"/>
            <a:chOff x="4678585" y="3450459"/>
            <a:chExt cx="4198768" cy="1156308"/>
          </a:xfrm>
        </p:grpSpPr>
        <p:sp>
          <p:nvSpPr>
            <p:cNvPr id="39" name="Google Shape;1645;p43">
              <a:extLst>
                <a:ext uri="{FF2B5EF4-FFF2-40B4-BE49-F238E27FC236}">
                  <a16:creationId xmlns:a16="http://schemas.microsoft.com/office/drawing/2014/main" id="{4A91E092-812B-7F1E-F074-C85A6BF856F3}"/>
                </a:ext>
              </a:extLst>
            </p:cNvPr>
            <p:cNvSpPr>
              <a:spLocks/>
            </p:cNvSpPr>
            <p:nvPr/>
          </p:nvSpPr>
          <p:spPr>
            <a:xfrm>
              <a:off x="4678585" y="3567306"/>
              <a:ext cx="898429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07983CE-0EB1-49DF-9E2F-BE29F2BC1EF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41" name="Google Shape;2611;p58">
                <a:extLst>
                  <a:ext uri="{FF2B5EF4-FFF2-40B4-BE49-F238E27FC236}">
                    <a16:creationId xmlns:a16="http://schemas.microsoft.com/office/drawing/2014/main" id="{FDB75269-7E4D-1363-4E2B-10C499092F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300225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Piece</a:t>
                </a: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</a:t>
                </a: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Conformity</a:t>
                </a: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</a:t>
                </a: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Errors</a:t>
                </a:r>
                <a:endParaRPr lang="en-US" sz="18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Montserrat"/>
                  <a:sym typeface="Montserrat"/>
                </a:endParaRPr>
              </a:p>
            </p:txBody>
          </p:sp>
          <p:sp>
            <p:nvSpPr>
              <p:cNvPr id="42" name="Google Shape;2615;p58">
                <a:extLst>
                  <a:ext uri="{FF2B5EF4-FFF2-40B4-BE49-F238E27FC236}">
                    <a16:creationId xmlns:a16="http://schemas.microsoft.com/office/drawing/2014/main" id="{0E4612D7-FEA2-8716-A4A9-77A41B6A0A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Each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process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has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a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configurable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defect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rate</a:t>
                </a: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Detected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defective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parts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are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immediately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reject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ed</a:t>
                </a:r>
              </a:p>
              <a:p>
                <a:pPr lvl="0">
                  <a:lnSpc>
                    <a:spcPct val="115000"/>
                  </a:lnSpc>
                </a:pPr>
                <a:endParaRPr lang="pt-PT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09BF1C-DFF1-7CF6-0EF3-AFE6373A3D51}"/>
              </a:ext>
            </a:extLst>
          </p:cNvPr>
          <p:cNvGrpSpPr/>
          <p:nvPr/>
        </p:nvGrpSpPr>
        <p:grpSpPr>
          <a:xfrm>
            <a:off x="538208" y="3413545"/>
            <a:ext cx="3918460" cy="1094363"/>
            <a:chOff x="4678586" y="3450459"/>
            <a:chExt cx="4251322" cy="1094363"/>
          </a:xfrm>
        </p:grpSpPr>
        <p:sp>
          <p:nvSpPr>
            <p:cNvPr id="44" name="Google Shape;1645;p43">
              <a:extLst>
                <a:ext uri="{FF2B5EF4-FFF2-40B4-BE49-F238E27FC236}">
                  <a16:creationId xmlns:a16="http://schemas.microsoft.com/office/drawing/2014/main" id="{46E100F3-EADC-6B50-2BD3-CE80903D2696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82144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1BF20E-FF10-E6EE-0660-BDD52946D43D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52780" cy="1094363"/>
              <a:chOff x="1309928" y="2201508"/>
              <a:chExt cx="3352780" cy="1094363"/>
            </a:xfrm>
          </p:grpSpPr>
          <p:sp>
            <p:nvSpPr>
              <p:cNvPr id="46" name="Google Shape;2611;p58">
                <a:extLst>
                  <a:ext uri="{FF2B5EF4-FFF2-40B4-BE49-F238E27FC236}">
                    <a16:creationId xmlns:a16="http://schemas.microsoft.com/office/drawing/2014/main" id="{57148584-B3BF-1DB0-C5F3-50B3CE464E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286166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Simulation</a:t>
                </a: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</a:t>
                </a:r>
                <a:r>
                  <a:rPr lang="pt-PT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Behavior</a:t>
                </a:r>
                <a:endParaRPr lang="en-US" sz="18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Montserrat"/>
                  <a:sym typeface="Montserrat"/>
                </a:endParaRPr>
              </a:p>
            </p:txBody>
          </p:sp>
          <p:sp>
            <p:nvSpPr>
              <p:cNvPr id="47" name="Google Shape;2615;p58">
                <a:extLst>
                  <a:ext uri="{FF2B5EF4-FFF2-40B4-BE49-F238E27FC236}">
                    <a16:creationId xmlns:a16="http://schemas.microsoft.com/office/drawing/2014/main" id="{491DBA05-3F5B-DEFC-FED2-2A2CD89319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5409" y="2432471"/>
                <a:ext cx="3337299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Non-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conformities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occur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probabilistically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Failures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and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maintenance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trigger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at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respective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threshold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</a:t>
                </a: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Preventive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Maintenance</a:t>
                </a:r>
                <a:endParaRPr lang="pt-PT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pic>
        <p:nvPicPr>
          <p:cNvPr id="6" name="Picture 5" descr="A blue figure with arms up in a circle&#10;&#10;AI-generated content may be incorrect.">
            <a:extLst>
              <a:ext uri="{FF2B5EF4-FFF2-40B4-BE49-F238E27FC236}">
                <a16:creationId xmlns:a16="http://schemas.microsoft.com/office/drawing/2014/main" id="{8938EE9A-D1C8-61CB-39A5-F0E83DBE3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6" y="3735333"/>
            <a:ext cx="447132" cy="447132"/>
          </a:xfrm>
          <a:prstGeom prst="rect">
            <a:avLst/>
          </a:prstGeom>
        </p:spPr>
      </p:pic>
      <p:pic>
        <p:nvPicPr>
          <p:cNvPr id="8" name="Picture 7" descr="A computer screen with a error sign&#10;&#10;AI-generated content may be incorrect.">
            <a:extLst>
              <a:ext uri="{FF2B5EF4-FFF2-40B4-BE49-F238E27FC236}">
                <a16:creationId xmlns:a16="http://schemas.microsoft.com/office/drawing/2014/main" id="{8FB1B2B7-910E-9DB1-3857-3493B3F7D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38" y="2245331"/>
            <a:ext cx="471519" cy="471519"/>
          </a:xfrm>
          <a:prstGeom prst="rect">
            <a:avLst/>
          </a:prstGeom>
        </p:spPr>
      </p:pic>
      <p:pic>
        <p:nvPicPr>
          <p:cNvPr id="10" name="Picture 9" descr="A close-up of a paper&#10;&#10;AI-generated content may be incorrect.">
            <a:extLst>
              <a:ext uri="{FF2B5EF4-FFF2-40B4-BE49-F238E27FC236}">
                <a16:creationId xmlns:a16="http://schemas.microsoft.com/office/drawing/2014/main" id="{45BFFAF0-4FFF-F28F-E0AC-1F9DD8007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037" y="4027791"/>
            <a:ext cx="447014" cy="447014"/>
          </a:xfrm>
          <a:prstGeom prst="rect">
            <a:avLst/>
          </a:prstGeom>
        </p:spPr>
      </p:pic>
      <p:pic>
        <p:nvPicPr>
          <p:cNvPr id="12" name="Picture 11" descr="A wrench and screwdriver crossed&#10;&#10;AI-generated content may be incorrect.">
            <a:extLst>
              <a:ext uri="{FF2B5EF4-FFF2-40B4-BE49-F238E27FC236}">
                <a16:creationId xmlns:a16="http://schemas.microsoft.com/office/drawing/2014/main" id="{E94A0178-C63C-ED72-A63E-BAB635155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513" y="2231750"/>
            <a:ext cx="446188" cy="4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90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C8C9239-90A9-FF2F-C078-995FF1AA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9C658F57-1B7C-26AB-29E2-FC499DD32E0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C17F5E82-69BA-E71A-CF9C-5B88BBDB56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9024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GUI with Qt </a:t>
            </a:r>
            <a:r>
              <a:rPr kumimoji="0" lang="en" sz="1000" b="1" i="0" u="none" strike="noStrike" kern="0" cap="none" spc="0" normalizeH="0" baseline="0" noProof="0" dirty="0">
                <a:ln>
                  <a:noFill/>
                </a:ln>
                <a:solidFill>
                  <a:srgbClr val="112E54">
                    <a:lumMod val="90000"/>
                    <a:lumOff val="10000"/>
                  </a:srgbClr>
                </a:solidFill>
                <a:effectLst/>
                <a:uLnTx/>
                <a:uFillTx/>
                <a:latin typeface="Poppins" panose="020B0502040204020203" pitchFamily="2" charset="0"/>
                <a:ea typeface="Inter"/>
                <a:cs typeface="Poppins" panose="020B0502040204020203" pitchFamily="2" charset="0"/>
                <a:sym typeface="Inter"/>
              </a:rPr>
              <a:t>– Main Window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66C96D-20F2-145E-3D27-E87DEA2EDB19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F54A63-40AB-3DCA-610F-1465874E0D6B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16C08D-819B-7C42-A8DB-E5EC45D3AE4C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80F0559A-848B-DC88-EDE4-69B7AB92135B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7" name="Google Shape;2615;p58">
            <a:extLst>
              <a:ext uri="{FF2B5EF4-FFF2-40B4-BE49-F238E27FC236}">
                <a16:creationId xmlns:a16="http://schemas.microsoft.com/office/drawing/2014/main" id="{93017BED-8DF4-7002-BB11-DD3380CEF7E8}"/>
              </a:ext>
            </a:extLst>
          </p:cNvPr>
          <p:cNvSpPr>
            <a:spLocks/>
          </p:cNvSpPr>
          <p:nvPr/>
        </p:nvSpPr>
        <p:spPr>
          <a:xfrm>
            <a:off x="519113" y="1913208"/>
            <a:ext cx="2099396" cy="263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en-US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lvl="0">
              <a:lnSpc>
                <a:spcPct val="115000"/>
              </a:lnSpc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9A55D8-04EF-3014-30F7-E27F740583C7}"/>
              </a:ext>
            </a:extLst>
          </p:cNvPr>
          <p:cNvGrpSpPr/>
          <p:nvPr/>
        </p:nvGrpSpPr>
        <p:grpSpPr>
          <a:xfrm>
            <a:off x="1935745" y="1750764"/>
            <a:ext cx="5104749" cy="2834224"/>
            <a:chOff x="1957280" y="1750764"/>
            <a:chExt cx="5104749" cy="283422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2EC28AB-4760-03B5-110A-55BFB09DEA03}"/>
                </a:ext>
              </a:extLst>
            </p:cNvPr>
            <p:cNvGrpSpPr/>
            <p:nvPr/>
          </p:nvGrpSpPr>
          <p:grpSpPr>
            <a:xfrm>
              <a:off x="1957280" y="1750764"/>
              <a:ext cx="5104749" cy="2834224"/>
              <a:chOff x="607219" y="2015836"/>
              <a:chExt cx="4040981" cy="2243606"/>
            </a:xfrm>
          </p:grpSpPr>
          <p:sp>
            <p:nvSpPr>
              <p:cNvPr id="15" name="Google Shape;2824;p61">
                <a:extLst>
                  <a:ext uri="{FF2B5EF4-FFF2-40B4-BE49-F238E27FC236}">
                    <a16:creationId xmlns:a16="http://schemas.microsoft.com/office/drawing/2014/main" id="{D73A13F4-0363-14E0-7CAA-B5E98451D1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D5FB866-DE3D-1E9B-8606-9D96ED90B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6CB944E-123D-069F-BB67-20F026116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40" y="1894112"/>
              <a:ext cx="4790758" cy="2562309"/>
            </a:xfrm>
            <a:prstGeom prst="rect">
              <a:avLst/>
            </a:prstGeom>
          </p:spPr>
        </p:pic>
      </p:grpSp>
      <p:sp>
        <p:nvSpPr>
          <p:cNvPr id="9" name="Google Shape;536;p33">
            <a:extLst>
              <a:ext uri="{FF2B5EF4-FFF2-40B4-BE49-F238E27FC236}">
                <a16:creationId xmlns:a16="http://schemas.microsoft.com/office/drawing/2014/main" id="{F3C816C9-D09A-217C-E7F5-3F193B74EBAF}"/>
              </a:ext>
            </a:extLst>
          </p:cNvPr>
          <p:cNvSpPr txBox="1">
            <a:spLocks/>
          </p:cNvSpPr>
          <p:nvPr/>
        </p:nvSpPr>
        <p:spPr>
          <a:xfrm>
            <a:off x="2092741" y="4546922"/>
            <a:ext cx="4790758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Framework M</a:t>
            </a:r>
            <a:r>
              <a:rPr lang="en-US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ain</a:t>
            </a:r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Window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089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500FBF9-BD1D-67AD-3A50-33C73809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F5369530-BFD1-2E3F-1E86-CEE4C696F8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38309F0C-6A7B-4A06-C6D4-F47E4DD37E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9024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GUI with Qt </a:t>
            </a:r>
            <a:r>
              <a:rPr kumimoji="0" lang="en" sz="1000" b="1" i="0" u="none" strike="noStrike" kern="0" cap="none" spc="0" normalizeH="0" baseline="0" noProof="0" dirty="0">
                <a:ln>
                  <a:noFill/>
                </a:ln>
                <a:solidFill>
                  <a:srgbClr val="112E54">
                    <a:lumMod val="90000"/>
                    <a:lumOff val="10000"/>
                  </a:srgbClr>
                </a:solidFill>
                <a:effectLst/>
                <a:uLnTx/>
                <a:uFillTx/>
                <a:latin typeface="Poppins" panose="020B0502040204020203" pitchFamily="2" charset="0"/>
                <a:ea typeface="Inter"/>
                <a:cs typeface="Poppins" panose="020B0502040204020203" pitchFamily="2" charset="0"/>
                <a:sym typeface="Inter"/>
              </a:rPr>
              <a:t>– Adding Elements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56672A-710B-C73D-64D4-B24A2762230E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52E8EB-E0EB-4209-D53C-68F14EDB8F40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A93037-2149-ABFA-84CC-C1C954854151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0B916A3C-5488-CC65-60D7-30C266EFB243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7" name="Google Shape;2615;p58">
            <a:extLst>
              <a:ext uri="{FF2B5EF4-FFF2-40B4-BE49-F238E27FC236}">
                <a16:creationId xmlns:a16="http://schemas.microsoft.com/office/drawing/2014/main" id="{904E1347-F8E4-283F-E736-DBDEDDB19453}"/>
              </a:ext>
            </a:extLst>
          </p:cNvPr>
          <p:cNvSpPr>
            <a:spLocks/>
          </p:cNvSpPr>
          <p:nvPr/>
        </p:nvSpPr>
        <p:spPr>
          <a:xfrm>
            <a:off x="519113" y="1913208"/>
            <a:ext cx="2099396" cy="263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en-US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lvl="0">
              <a:lnSpc>
                <a:spcPct val="115000"/>
              </a:lnSpc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22E824-97FE-A2FE-1CCB-BE8B9F42F645}"/>
              </a:ext>
            </a:extLst>
          </p:cNvPr>
          <p:cNvGrpSpPr/>
          <p:nvPr/>
        </p:nvGrpSpPr>
        <p:grpSpPr>
          <a:xfrm>
            <a:off x="1936281" y="1750764"/>
            <a:ext cx="5104749" cy="2834224"/>
            <a:chOff x="1957280" y="1750764"/>
            <a:chExt cx="5104749" cy="283422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45213DD-4DE8-D34B-F7ED-A94A8EE3CB65}"/>
                </a:ext>
              </a:extLst>
            </p:cNvPr>
            <p:cNvGrpSpPr/>
            <p:nvPr/>
          </p:nvGrpSpPr>
          <p:grpSpPr>
            <a:xfrm>
              <a:off x="1957280" y="1750764"/>
              <a:ext cx="5104749" cy="2834224"/>
              <a:chOff x="607219" y="2015836"/>
              <a:chExt cx="4040981" cy="2243606"/>
            </a:xfrm>
          </p:grpSpPr>
          <p:sp>
            <p:nvSpPr>
              <p:cNvPr id="15" name="Google Shape;2824;p61">
                <a:extLst>
                  <a:ext uri="{FF2B5EF4-FFF2-40B4-BE49-F238E27FC236}">
                    <a16:creationId xmlns:a16="http://schemas.microsoft.com/office/drawing/2014/main" id="{F1DC2502-92DB-083A-89FC-127693AC52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34F43FB-F76B-6E07-3AB0-4221ACAD6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8CF62BB-423E-9899-BB6A-80D6CBE7C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40" y="1888449"/>
              <a:ext cx="4790757" cy="256071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2DE8801-3A14-EDD0-62DC-029B7885E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4276" y="1894112"/>
              <a:ext cx="4790757" cy="2555051"/>
            </a:xfrm>
            <a:prstGeom prst="rect">
              <a:avLst/>
            </a:prstGeom>
          </p:spPr>
        </p:pic>
      </p:grpSp>
      <p:sp>
        <p:nvSpPr>
          <p:cNvPr id="10" name="Google Shape;536;p33">
            <a:extLst>
              <a:ext uri="{FF2B5EF4-FFF2-40B4-BE49-F238E27FC236}">
                <a16:creationId xmlns:a16="http://schemas.microsoft.com/office/drawing/2014/main" id="{107187B1-D02A-9CC1-7DCA-D45C23C6E784}"/>
              </a:ext>
            </a:extLst>
          </p:cNvPr>
          <p:cNvSpPr txBox="1">
            <a:spLocks/>
          </p:cNvSpPr>
          <p:nvPr/>
        </p:nvSpPr>
        <p:spPr>
          <a:xfrm>
            <a:off x="2092741" y="4553529"/>
            <a:ext cx="4790757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Add/Edit Element with Import Data Window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46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F053F509-3F49-462D-4C33-883CA89C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61EA7D8C-390E-9093-9D44-D0CA01C9B0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E8923009-CE4B-815E-7711-1F10F8B79E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9024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GUI with Qt </a:t>
            </a:r>
            <a:r>
              <a:rPr kumimoji="0" lang="en" sz="1000" b="1" i="0" u="none" strike="noStrike" kern="0" cap="none" spc="0" normalizeH="0" baseline="0" noProof="0" dirty="0">
                <a:ln>
                  <a:noFill/>
                </a:ln>
                <a:solidFill>
                  <a:srgbClr val="112E54">
                    <a:lumMod val="90000"/>
                    <a:lumOff val="10000"/>
                  </a:srgbClr>
                </a:solidFill>
                <a:effectLst/>
                <a:uLnTx/>
                <a:uFillTx/>
                <a:latin typeface="Poppins" panose="020B0502040204020203" pitchFamily="2" charset="0"/>
                <a:ea typeface="Inter"/>
                <a:cs typeface="Poppins" panose="020B0502040204020203" pitchFamily="2" charset="0"/>
                <a:sym typeface="Inter"/>
              </a:rPr>
              <a:t>– </a:t>
            </a:r>
            <a:r>
              <a:rPr lang="en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Model Validation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99D227-A935-2438-BD8D-681777ABE204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C81BD5-F374-2D92-0F2A-18A5CDBA0F04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E719E8-C17D-02D1-85EC-3AAE25883AA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6394E4A1-7647-E79A-B0FB-7EFDF1884A7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7" name="Google Shape;2615;p58">
            <a:extLst>
              <a:ext uri="{FF2B5EF4-FFF2-40B4-BE49-F238E27FC236}">
                <a16:creationId xmlns:a16="http://schemas.microsoft.com/office/drawing/2014/main" id="{211F9F3B-4B9B-D524-609F-31C4ADE88155}"/>
              </a:ext>
            </a:extLst>
          </p:cNvPr>
          <p:cNvSpPr>
            <a:spLocks/>
          </p:cNvSpPr>
          <p:nvPr/>
        </p:nvSpPr>
        <p:spPr>
          <a:xfrm>
            <a:off x="519113" y="1913208"/>
            <a:ext cx="2099396" cy="263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en-US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lvl="0">
              <a:lnSpc>
                <a:spcPct val="115000"/>
              </a:lnSpc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951A2C-8374-F618-0918-0D16E10FE6B0}"/>
              </a:ext>
            </a:extLst>
          </p:cNvPr>
          <p:cNvGrpSpPr/>
          <p:nvPr/>
        </p:nvGrpSpPr>
        <p:grpSpPr>
          <a:xfrm>
            <a:off x="1936281" y="1750764"/>
            <a:ext cx="5104749" cy="2834224"/>
            <a:chOff x="3593957" y="1750764"/>
            <a:chExt cx="5104749" cy="283422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09097FE-8217-3927-DDE0-F329AD566E8F}"/>
                </a:ext>
              </a:extLst>
            </p:cNvPr>
            <p:cNvGrpSpPr/>
            <p:nvPr/>
          </p:nvGrpSpPr>
          <p:grpSpPr>
            <a:xfrm>
              <a:off x="3593957" y="1750764"/>
              <a:ext cx="5104749" cy="2834224"/>
              <a:chOff x="607219" y="2015836"/>
              <a:chExt cx="4040981" cy="2243606"/>
            </a:xfrm>
          </p:grpSpPr>
          <p:sp>
            <p:nvSpPr>
              <p:cNvPr id="15" name="Google Shape;2824;p61">
                <a:extLst>
                  <a:ext uri="{FF2B5EF4-FFF2-40B4-BE49-F238E27FC236}">
                    <a16:creationId xmlns:a16="http://schemas.microsoft.com/office/drawing/2014/main" id="{6C8A83FA-45A6-0AFE-54E3-92405E18A5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9422E98-3F8C-991C-8DF4-07282C1B9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D120C77-E951-A8CC-C14F-FA185B355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50417" y="1893521"/>
              <a:ext cx="4790758" cy="256230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72706DD-1038-9881-6088-AE2DA3BD1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5377" y="2179723"/>
              <a:ext cx="2105600" cy="78405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4D980BF-936D-31AC-DEBB-3047B2E11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7718" y="2250115"/>
              <a:ext cx="1909060" cy="643270"/>
            </a:xfrm>
            <a:prstGeom prst="rect">
              <a:avLst/>
            </a:prstGeom>
          </p:spPr>
        </p:pic>
      </p:grpSp>
      <p:sp>
        <p:nvSpPr>
          <p:cNvPr id="24" name="Google Shape;2611;p58">
            <a:extLst>
              <a:ext uri="{FF2B5EF4-FFF2-40B4-BE49-F238E27FC236}">
                <a16:creationId xmlns:a16="http://schemas.microsoft.com/office/drawing/2014/main" id="{138416C1-7E6D-1D95-7F43-ACCC98DD5432}"/>
              </a:ext>
            </a:extLst>
          </p:cNvPr>
          <p:cNvSpPr>
            <a:spLocks/>
          </p:cNvSpPr>
          <p:nvPr/>
        </p:nvSpPr>
        <p:spPr>
          <a:xfrm>
            <a:off x="4166229" y="2036374"/>
            <a:ext cx="2063231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pt-PT" b="1" dirty="0">
                <a:solidFill>
                  <a:srgbClr val="FF0000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Error </a:t>
            </a:r>
            <a:r>
              <a:rPr lang="pt-PT" b="1" dirty="0" err="1">
                <a:solidFill>
                  <a:srgbClr val="FF0000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Detected</a:t>
            </a:r>
            <a:endParaRPr lang="en-US" b="1" dirty="0">
              <a:solidFill>
                <a:srgbClr val="FF0000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25" name="Google Shape;2611;p58">
            <a:extLst>
              <a:ext uri="{FF2B5EF4-FFF2-40B4-BE49-F238E27FC236}">
                <a16:creationId xmlns:a16="http://schemas.microsoft.com/office/drawing/2014/main" id="{2E8C3B78-AEBD-45E9-0F58-58B9A0024D6B}"/>
              </a:ext>
            </a:extLst>
          </p:cNvPr>
          <p:cNvSpPr>
            <a:spLocks/>
          </p:cNvSpPr>
          <p:nvPr/>
        </p:nvSpPr>
        <p:spPr>
          <a:xfrm>
            <a:off x="6634404" y="2121550"/>
            <a:ext cx="2063231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pt-PT" b="1" dirty="0" err="1">
                <a:solidFill>
                  <a:srgbClr val="00B050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Valid</a:t>
            </a:r>
            <a:r>
              <a:rPr lang="pt-PT" b="1" dirty="0">
                <a:solidFill>
                  <a:srgbClr val="00B050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 </a:t>
            </a:r>
            <a:r>
              <a:rPr lang="pt-PT" b="1" dirty="0" err="1">
                <a:solidFill>
                  <a:srgbClr val="00B050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System</a:t>
            </a:r>
            <a:endParaRPr lang="en-US" b="1" dirty="0">
              <a:solidFill>
                <a:srgbClr val="00B050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8" name="Google Shape;536;p33">
            <a:extLst>
              <a:ext uri="{FF2B5EF4-FFF2-40B4-BE49-F238E27FC236}">
                <a16:creationId xmlns:a16="http://schemas.microsoft.com/office/drawing/2014/main" id="{1050C0B5-3324-72AE-A808-041E003A93FF}"/>
              </a:ext>
            </a:extLst>
          </p:cNvPr>
          <p:cNvSpPr txBox="1">
            <a:spLocks/>
          </p:cNvSpPr>
          <p:nvPr/>
        </p:nvSpPr>
        <p:spPr>
          <a:xfrm>
            <a:off x="2102970" y="4560829"/>
            <a:ext cx="4790758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Validation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Return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Options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139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D75860E-A907-B40B-CC7D-77128712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9E24957D-FD32-DEBB-1FB3-F3D2E0DCBFB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1880AE78-2687-90E3-BEE3-05CAB114E9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9024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GUI with Qt </a:t>
            </a:r>
            <a:r>
              <a:rPr kumimoji="0" lang="en" sz="1000" b="1" i="0" u="none" strike="noStrike" kern="0" cap="none" spc="0" normalizeH="0" baseline="0" noProof="0" dirty="0">
                <a:ln>
                  <a:noFill/>
                </a:ln>
                <a:solidFill>
                  <a:srgbClr val="112E54">
                    <a:lumMod val="90000"/>
                    <a:lumOff val="10000"/>
                  </a:srgbClr>
                </a:solidFill>
                <a:effectLst/>
                <a:uLnTx/>
                <a:uFillTx/>
                <a:latin typeface="Poppins" panose="020B0502040204020203" pitchFamily="2" charset="0"/>
                <a:ea typeface="Inter"/>
                <a:cs typeface="Poppins" panose="020B0502040204020203" pitchFamily="2" charset="0"/>
                <a:sym typeface="Inter"/>
              </a:rPr>
              <a:t>– Simulation Parameters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EBA7DA-47BA-3FC7-3D51-5342603B2C41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AB56B4-CAC8-5687-F58E-41E21A4A7CCA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CAA08C2-CD1F-67A3-C3F6-7BD039DE861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C842E93F-3422-3A94-10F7-493CDE3EEC89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7" name="Google Shape;2615;p58">
            <a:extLst>
              <a:ext uri="{FF2B5EF4-FFF2-40B4-BE49-F238E27FC236}">
                <a16:creationId xmlns:a16="http://schemas.microsoft.com/office/drawing/2014/main" id="{19CADDA7-CCE8-ECD6-8A2C-DBFE2299A864}"/>
              </a:ext>
            </a:extLst>
          </p:cNvPr>
          <p:cNvSpPr>
            <a:spLocks/>
          </p:cNvSpPr>
          <p:nvPr/>
        </p:nvSpPr>
        <p:spPr>
          <a:xfrm>
            <a:off x="519113" y="1913208"/>
            <a:ext cx="2099396" cy="263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endParaRPr lang="en-US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lvl="0">
              <a:lnSpc>
                <a:spcPct val="115000"/>
              </a:lnSpc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CBE81C-7D7E-36CF-BF2F-C563B40E296F}"/>
              </a:ext>
            </a:extLst>
          </p:cNvPr>
          <p:cNvGrpSpPr/>
          <p:nvPr/>
        </p:nvGrpSpPr>
        <p:grpSpPr>
          <a:xfrm>
            <a:off x="1936281" y="1744864"/>
            <a:ext cx="5104749" cy="2834224"/>
            <a:chOff x="3593957" y="1750764"/>
            <a:chExt cx="5104749" cy="283422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10863B-BBC6-D4FD-83BC-52297FB588FC}"/>
                </a:ext>
              </a:extLst>
            </p:cNvPr>
            <p:cNvGrpSpPr/>
            <p:nvPr/>
          </p:nvGrpSpPr>
          <p:grpSpPr>
            <a:xfrm>
              <a:off x="3593957" y="1750764"/>
              <a:ext cx="5104749" cy="2834224"/>
              <a:chOff x="1957280" y="1750764"/>
              <a:chExt cx="5104749" cy="2834224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6952B5E-98B2-BA53-EECD-2B6354C42ECF}"/>
                  </a:ext>
                </a:extLst>
              </p:cNvPr>
              <p:cNvGrpSpPr/>
              <p:nvPr/>
            </p:nvGrpSpPr>
            <p:grpSpPr>
              <a:xfrm>
                <a:off x="1957280" y="1750764"/>
                <a:ext cx="5104749" cy="2834224"/>
                <a:chOff x="607219" y="2015836"/>
                <a:chExt cx="4040981" cy="2243606"/>
              </a:xfrm>
            </p:grpSpPr>
            <p:sp>
              <p:nvSpPr>
                <p:cNvPr id="15" name="Google Shape;2824;p61">
                  <a:extLst>
                    <a:ext uri="{FF2B5EF4-FFF2-40B4-BE49-F238E27FC236}">
                      <a16:creationId xmlns:a16="http://schemas.microsoft.com/office/drawing/2014/main" id="{7DC6CFBA-745D-8182-D1DA-D7A1A7347D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07219" y="2015836"/>
                  <a:ext cx="4040981" cy="2243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62" h="181204" extrusionOk="0">
                      <a:moveTo>
                        <a:pt x="4636" y="0"/>
                      </a:moveTo>
                      <a:cubicBezTo>
                        <a:pt x="2053" y="0"/>
                        <a:pt x="0" y="2053"/>
                        <a:pt x="0" y="4636"/>
                      </a:cubicBezTo>
                      <a:lnTo>
                        <a:pt x="0" y="176634"/>
                      </a:lnTo>
                      <a:cubicBezTo>
                        <a:pt x="0" y="179151"/>
                        <a:pt x="2053" y="181204"/>
                        <a:pt x="4636" y="181204"/>
                      </a:cubicBezTo>
                      <a:lnTo>
                        <a:pt x="243526" y="181204"/>
                      </a:lnTo>
                      <a:cubicBezTo>
                        <a:pt x="246109" y="181204"/>
                        <a:pt x="248162" y="179151"/>
                        <a:pt x="248162" y="176634"/>
                      </a:cubicBezTo>
                      <a:lnTo>
                        <a:pt x="248162" y="4636"/>
                      </a:lnTo>
                      <a:cubicBezTo>
                        <a:pt x="248162" y="2053"/>
                        <a:pt x="246109" y="0"/>
                        <a:pt x="243526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 w="9525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F9CCDD6D-9313-A538-14FD-3377F18A51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0112" b="42360"/>
                <a:stretch>
                  <a:fillRect/>
                </a:stretch>
              </p:blipFill>
              <p:spPr>
                <a:xfrm>
                  <a:off x="731075" y="2129313"/>
                  <a:ext cx="3792422" cy="2028355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</p:pic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808CC46B-CFCD-8CC2-9686-AA5E11C166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4276" y="2292926"/>
                <a:ext cx="4790757" cy="2156237"/>
              </a:xfrm>
              <a:prstGeom prst="rect">
                <a:avLst/>
              </a:prstGeom>
            </p:spPr>
          </p:pic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39810D4-1D9E-9FD2-6D96-0D5D9EAEC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49881" y="1887812"/>
              <a:ext cx="4790756" cy="2562309"/>
            </a:xfrm>
            <a:prstGeom prst="rect">
              <a:avLst/>
            </a:prstGeom>
          </p:spPr>
        </p:pic>
      </p:grpSp>
      <p:sp>
        <p:nvSpPr>
          <p:cNvPr id="10" name="Google Shape;536;p33">
            <a:extLst>
              <a:ext uri="{FF2B5EF4-FFF2-40B4-BE49-F238E27FC236}">
                <a16:creationId xmlns:a16="http://schemas.microsoft.com/office/drawing/2014/main" id="{3B5C95F3-AF6C-D204-A71B-A31A961B36BE}"/>
              </a:ext>
            </a:extLst>
          </p:cNvPr>
          <p:cNvSpPr txBox="1">
            <a:spLocks/>
          </p:cNvSpPr>
          <p:nvPr/>
        </p:nvSpPr>
        <p:spPr>
          <a:xfrm>
            <a:off x="2092205" y="4573905"/>
            <a:ext cx="479075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Parameters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358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954699C8-8DFD-AB9A-9D29-012947CF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528FD91D-5BC4-6724-D0FF-E984629F664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5A6E7454-29A0-1C3C-7E4F-FB1A631F86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Output Metrics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- Flows 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DE33FB-59D2-BC73-78FD-2CC4104BC683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B0114F-9FED-9EAE-7E2C-1426D3A5AD9F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0A0119-A297-C7F1-6F80-8CECF2386C5D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667F17E3-731E-B32B-05F7-196BD887C3DB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9" name="Google Shape;536;p33">
            <a:extLst>
              <a:ext uri="{FF2B5EF4-FFF2-40B4-BE49-F238E27FC236}">
                <a16:creationId xmlns:a16="http://schemas.microsoft.com/office/drawing/2014/main" id="{283FAE9C-2727-9856-9BB9-606708F4114D}"/>
              </a:ext>
            </a:extLst>
          </p:cNvPr>
          <p:cNvSpPr txBox="1">
            <a:spLocks/>
          </p:cNvSpPr>
          <p:nvPr/>
        </p:nvSpPr>
        <p:spPr>
          <a:xfrm>
            <a:off x="519113" y="4220421"/>
            <a:ext cx="3622655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Piece Flow Spreadsheet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10" name="Google Shape;536;p33">
            <a:extLst>
              <a:ext uri="{FF2B5EF4-FFF2-40B4-BE49-F238E27FC236}">
                <a16:creationId xmlns:a16="http://schemas.microsoft.com/office/drawing/2014/main" id="{252BC529-7729-CA41-BD48-727C4B5E0269}"/>
              </a:ext>
            </a:extLst>
          </p:cNvPr>
          <p:cNvSpPr txBox="1">
            <a:spLocks/>
          </p:cNvSpPr>
          <p:nvPr/>
        </p:nvSpPr>
        <p:spPr>
          <a:xfrm>
            <a:off x="4939145" y="4215206"/>
            <a:ext cx="3665765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Operator Workflow Spreadsheet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0913E1-E311-4F7E-DFCB-CB280D2C79E5}"/>
              </a:ext>
            </a:extLst>
          </p:cNvPr>
          <p:cNvGrpSpPr/>
          <p:nvPr/>
        </p:nvGrpSpPr>
        <p:grpSpPr>
          <a:xfrm>
            <a:off x="420183" y="2038508"/>
            <a:ext cx="3840090" cy="2132069"/>
            <a:chOff x="1957280" y="1750764"/>
            <a:chExt cx="5104749" cy="283422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1AC3E3-7F55-4A17-6B81-56C0FC42AF97}"/>
                </a:ext>
              </a:extLst>
            </p:cNvPr>
            <p:cNvGrpSpPr/>
            <p:nvPr/>
          </p:nvGrpSpPr>
          <p:grpSpPr>
            <a:xfrm>
              <a:off x="1957280" y="1750764"/>
              <a:ext cx="5104749" cy="2834224"/>
              <a:chOff x="607219" y="2015836"/>
              <a:chExt cx="4040981" cy="2243606"/>
            </a:xfrm>
          </p:grpSpPr>
          <p:sp>
            <p:nvSpPr>
              <p:cNvPr id="13" name="Google Shape;2824;p61">
                <a:extLst>
                  <a:ext uri="{FF2B5EF4-FFF2-40B4-BE49-F238E27FC236}">
                    <a16:creationId xmlns:a16="http://schemas.microsoft.com/office/drawing/2014/main" id="{02D9E745-EA29-DA06-4236-D50D6B7F8D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E808A2F-6F94-3D8E-B93F-8A12F82D5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528C21-1694-445B-6E40-7D6C9A40E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40" y="1888449"/>
              <a:ext cx="4790757" cy="256071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30AB3A-6D71-3C61-5409-FAC161E07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4276" y="1882102"/>
              <a:ext cx="4790757" cy="256706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88EB003-563E-27CC-B7C2-23E74D5EEB29}"/>
              </a:ext>
            </a:extLst>
          </p:cNvPr>
          <p:cNvGrpSpPr/>
          <p:nvPr/>
        </p:nvGrpSpPr>
        <p:grpSpPr>
          <a:xfrm>
            <a:off x="4883729" y="2038508"/>
            <a:ext cx="3840090" cy="2132069"/>
            <a:chOff x="1957280" y="1750764"/>
            <a:chExt cx="5104749" cy="283422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6EEB1F4-2212-9D93-4AEF-AD5C77D1F197}"/>
                </a:ext>
              </a:extLst>
            </p:cNvPr>
            <p:cNvGrpSpPr/>
            <p:nvPr/>
          </p:nvGrpSpPr>
          <p:grpSpPr>
            <a:xfrm>
              <a:off x="1957280" y="1750764"/>
              <a:ext cx="5104749" cy="2834224"/>
              <a:chOff x="607219" y="2015836"/>
              <a:chExt cx="4040981" cy="2243606"/>
            </a:xfrm>
          </p:grpSpPr>
          <p:sp>
            <p:nvSpPr>
              <p:cNvPr id="20" name="Google Shape;2824;p61">
                <a:extLst>
                  <a:ext uri="{FF2B5EF4-FFF2-40B4-BE49-F238E27FC236}">
                    <a16:creationId xmlns:a16="http://schemas.microsoft.com/office/drawing/2014/main" id="{831F2E5B-10B0-E2B6-4D22-DA0E3FE873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38932872-D1B4-368F-5B29-7730DCF1D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583C6B-7933-590A-6B91-B5206E30F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40" y="1888449"/>
              <a:ext cx="4790757" cy="256071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61256F3-C54F-30B4-A42E-340C15E1E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4276" y="1882102"/>
              <a:ext cx="4790757" cy="2567062"/>
            </a:xfrm>
            <a:prstGeom prst="rect">
              <a:avLst/>
            </a:prstGeom>
          </p:spPr>
        </p:pic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A31F9B-05C5-396E-F2E8-4BA2B77A4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78" y="2145372"/>
            <a:ext cx="3604290" cy="193109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1A4B8F-B271-948F-7AB3-4778D3EE3B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023" y="2158665"/>
            <a:ext cx="3603887" cy="19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01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ABC350-9BB0-22A2-90CC-536AB08D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C7A52307-D2E3-CC5A-208E-B957E386C3C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B3959C57-1CF6-AB6F-93F5-C1BA72CBDC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Output Metrics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KPIs and Efficacy  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509CB6-0158-BB6A-30E5-B88C6A944C04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3EAB60-F11D-9A09-D565-37B57D298C72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B932C1-22AE-DC88-AAA4-8FB066BE30E2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B1823E9E-AAFE-703B-AB28-60083B31CDAE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9" name="Google Shape;536;p33">
            <a:extLst>
              <a:ext uri="{FF2B5EF4-FFF2-40B4-BE49-F238E27FC236}">
                <a16:creationId xmlns:a16="http://schemas.microsoft.com/office/drawing/2014/main" id="{FDC3F7AC-F9AE-7EAD-8ED6-E58AE8C622BD}"/>
              </a:ext>
            </a:extLst>
          </p:cNvPr>
          <p:cNvSpPr txBox="1">
            <a:spLocks/>
          </p:cNvSpPr>
          <p:nvPr/>
        </p:nvSpPr>
        <p:spPr>
          <a:xfrm>
            <a:off x="537073" y="4220421"/>
            <a:ext cx="3603887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Production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KPIs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Dashboard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10" name="Google Shape;536;p33">
            <a:extLst>
              <a:ext uri="{FF2B5EF4-FFF2-40B4-BE49-F238E27FC236}">
                <a16:creationId xmlns:a16="http://schemas.microsoft.com/office/drawing/2014/main" id="{31BFA3CA-F8D6-79C4-8D77-0F4D4BE65257}"/>
              </a:ext>
            </a:extLst>
          </p:cNvPr>
          <p:cNvSpPr txBox="1">
            <a:spLocks/>
          </p:cNvSpPr>
          <p:nvPr/>
        </p:nvSpPr>
        <p:spPr>
          <a:xfrm>
            <a:off x="5000618" y="4220421"/>
            <a:ext cx="3603887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Process Efficacy Spreadsheet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2CE15F-EB57-3CB2-6723-E780590EF6C2}"/>
              </a:ext>
            </a:extLst>
          </p:cNvPr>
          <p:cNvGrpSpPr/>
          <p:nvPr/>
        </p:nvGrpSpPr>
        <p:grpSpPr>
          <a:xfrm>
            <a:off x="420183" y="2038508"/>
            <a:ext cx="3840090" cy="2132069"/>
            <a:chOff x="1957280" y="1750764"/>
            <a:chExt cx="5104749" cy="283422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11893-2EA2-CA54-7B93-F6087C023086}"/>
                </a:ext>
              </a:extLst>
            </p:cNvPr>
            <p:cNvGrpSpPr/>
            <p:nvPr/>
          </p:nvGrpSpPr>
          <p:grpSpPr>
            <a:xfrm>
              <a:off x="1957280" y="1750764"/>
              <a:ext cx="5104749" cy="2834224"/>
              <a:chOff x="607219" y="2015836"/>
              <a:chExt cx="4040981" cy="2243606"/>
            </a:xfrm>
          </p:grpSpPr>
          <p:sp>
            <p:nvSpPr>
              <p:cNvPr id="13" name="Google Shape;2824;p61">
                <a:extLst>
                  <a:ext uri="{FF2B5EF4-FFF2-40B4-BE49-F238E27FC236}">
                    <a16:creationId xmlns:a16="http://schemas.microsoft.com/office/drawing/2014/main" id="{468A71E7-15F1-855C-84C2-CACB2A4DBC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7C54D1D-0786-8377-A6DF-D3FD4D0CB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41E4BC0-7444-485B-27C8-0512FB387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40" y="1888449"/>
              <a:ext cx="4790757" cy="256071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1AFF63-9870-29E0-4D0F-25D9C8548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4276" y="1882102"/>
              <a:ext cx="4790757" cy="256706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1E3256-EE7F-0412-E6E5-1FDB426193E3}"/>
              </a:ext>
            </a:extLst>
          </p:cNvPr>
          <p:cNvGrpSpPr/>
          <p:nvPr/>
        </p:nvGrpSpPr>
        <p:grpSpPr>
          <a:xfrm>
            <a:off x="4883729" y="2038508"/>
            <a:ext cx="3840090" cy="2132069"/>
            <a:chOff x="1957280" y="1750764"/>
            <a:chExt cx="5104749" cy="283422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7B4C76F-7FAC-AA21-FDE5-846D9FADDB7A}"/>
                </a:ext>
              </a:extLst>
            </p:cNvPr>
            <p:cNvGrpSpPr/>
            <p:nvPr/>
          </p:nvGrpSpPr>
          <p:grpSpPr>
            <a:xfrm>
              <a:off x="1957280" y="1750764"/>
              <a:ext cx="5104749" cy="2834224"/>
              <a:chOff x="607219" y="2015836"/>
              <a:chExt cx="4040981" cy="2243606"/>
            </a:xfrm>
          </p:grpSpPr>
          <p:sp>
            <p:nvSpPr>
              <p:cNvPr id="20" name="Google Shape;2824;p61">
                <a:extLst>
                  <a:ext uri="{FF2B5EF4-FFF2-40B4-BE49-F238E27FC236}">
                    <a16:creationId xmlns:a16="http://schemas.microsoft.com/office/drawing/2014/main" id="{ABA2C301-0298-0AC6-79B9-1782437AFD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7219" y="2015836"/>
                <a:ext cx="4040981" cy="2243606"/>
              </a:xfrm>
              <a:custGeom>
                <a:avLst/>
                <a:gdLst/>
                <a:ahLst/>
                <a:cxnLst/>
                <a:rect l="l" t="t" r="r" b="b"/>
                <a:pathLst>
                  <a:path w="248162" h="181204" extrusionOk="0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rgbClr val="7F7F7F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859AB30-5243-8561-987C-93FC3C283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0112" b="42360"/>
              <a:stretch>
                <a:fillRect/>
              </a:stretch>
            </p:blipFill>
            <p:spPr>
              <a:xfrm>
                <a:off x="731075" y="2129313"/>
                <a:ext cx="3792422" cy="20283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18C5AB0-C4BC-CF3E-68BF-E1D8F4A63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3740" y="1888449"/>
              <a:ext cx="4790757" cy="256071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7EB73E1-B28C-1782-DEF0-B2DB21847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4276" y="1882102"/>
              <a:ext cx="4790757" cy="2567062"/>
            </a:xfrm>
            <a:prstGeom prst="rect">
              <a:avLst/>
            </a:prstGeom>
          </p:spPr>
        </p:pic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878406-176B-E631-5F89-6FC667746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78" y="2145372"/>
            <a:ext cx="3604290" cy="193109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48F51-6F5B-99C3-8DC7-C957F70438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023" y="2158665"/>
            <a:ext cx="3603887" cy="19097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874DC7-DCD6-139C-33DA-74B3224547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073" y="2158665"/>
            <a:ext cx="3603887" cy="19097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899EF9-6AA9-540A-0C12-FDCD276492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18" y="2137308"/>
            <a:ext cx="3603887" cy="193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31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504B3105-8162-DA9A-E47F-51784504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54E090A7-BEEC-E571-A65A-F3039C514D3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3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Development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86627DE9-F2A7-4AF1-77B8-F2F2C760B6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Framework Limitations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D99E70-5CCE-94A2-6FFD-0DC136C8A4F4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1CC079-1994-5FB0-F9E9-AEB24184DB56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297219-29A0-F9AF-D15E-0D95BE5DC68D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AB6FA9BA-A777-84DF-7F71-787C898E5EF8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E58CD7-AB91-D0CE-B8D3-7859997E2421}"/>
              </a:ext>
            </a:extLst>
          </p:cNvPr>
          <p:cNvGrpSpPr/>
          <p:nvPr/>
        </p:nvGrpSpPr>
        <p:grpSpPr>
          <a:xfrm>
            <a:off x="4572000" y="3455851"/>
            <a:ext cx="3930883" cy="1156308"/>
            <a:chOff x="4678586" y="3450459"/>
            <a:chExt cx="4198767" cy="1156308"/>
          </a:xfrm>
        </p:grpSpPr>
        <p:sp>
          <p:nvSpPr>
            <p:cNvPr id="29" name="Google Shape;1645;p43">
              <a:extLst>
                <a:ext uri="{FF2B5EF4-FFF2-40B4-BE49-F238E27FC236}">
                  <a16:creationId xmlns:a16="http://schemas.microsoft.com/office/drawing/2014/main" id="{C92454DB-B9DC-3C37-7E7F-F1279F03550C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DFC1FC2-221F-F353-8CA5-B865B633996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31" name="Google Shape;2611;p58">
                <a:extLst>
                  <a:ext uri="{FF2B5EF4-FFF2-40B4-BE49-F238E27FC236}">
                    <a16:creationId xmlns:a16="http://schemas.microsoft.com/office/drawing/2014/main" id="{83C5C5C3-680A-57DE-7B33-60ADA26D87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D</a:t>
                </a:r>
                <a:r>
                  <a:rPr lang="en-US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igital</a:t>
                </a: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Twins and AI</a:t>
                </a:r>
              </a:p>
            </p:txBody>
          </p:sp>
          <p:sp>
            <p:nvSpPr>
              <p:cNvPr id="32" name="Google Shape;2615;p58">
                <a:extLst>
                  <a:ext uri="{FF2B5EF4-FFF2-40B4-BE49-F238E27FC236}">
                    <a16:creationId xmlns:a16="http://schemas.microsoft.com/office/drawing/2014/main" id="{75D4448B-9455-2932-FDF3-0B687168D1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 framework does not include automatic balancing, intelligent routing, or optimization features.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FDABAC2-8F9F-9202-D924-B876568A9DC6}"/>
              </a:ext>
            </a:extLst>
          </p:cNvPr>
          <p:cNvGrpSpPr/>
          <p:nvPr/>
        </p:nvGrpSpPr>
        <p:grpSpPr>
          <a:xfrm>
            <a:off x="4572000" y="1930148"/>
            <a:ext cx="3930883" cy="1156308"/>
            <a:chOff x="4678586" y="3450459"/>
            <a:chExt cx="4198767" cy="1156308"/>
          </a:xfrm>
        </p:grpSpPr>
        <p:sp>
          <p:nvSpPr>
            <p:cNvPr id="34" name="Google Shape;1645;p43">
              <a:extLst>
                <a:ext uri="{FF2B5EF4-FFF2-40B4-BE49-F238E27FC236}">
                  <a16:creationId xmlns:a16="http://schemas.microsoft.com/office/drawing/2014/main" id="{790CDAA7-7A4D-5300-1C84-71F2E79DF63F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EA6163E-B6EF-C059-51EB-95D31D0EFAEA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36" name="Google Shape;2611;p58">
                <a:extLst>
                  <a:ext uri="{FF2B5EF4-FFF2-40B4-BE49-F238E27FC236}">
                    <a16:creationId xmlns:a16="http://schemas.microsoft.com/office/drawing/2014/main" id="{EA05C8E3-B5F4-BD12-7D38-081366C264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Simulation of </a:t>
                </a:r>
                <a:r>
                  <a:rPr lang="en-US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CoBots</a:t>
                </a:r>
                <a:endParaRPr lang="en-US" sz="1800" b="1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Montserrat"/>
                  <a:sym typeface="Montserrat"/>
                </a:endParaRPr>
              </a:p>
            </p:txBody>
          </p:sp>
          <p:sp>
            <p:nvSpPr>
              <p:cNvPr id="37" name="Google Shape;2615;p58">
                <a:extLst>
                  <a:ext uri="{FF2B5EF4-FFF2-40B4-BE49-F238E27FC236}">
                    <a16:creationId xmlns:a16="http://schemas.microsoft.com/office/drawing/2014/main" id="{CE4A18E6-C763-BDA2-E052-2F1417E5BD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Cobot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behavior was modeled based on field observations and internal assumptions.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D0658CB-BF51-6D80-B7DB-79C6C392900F}"/>
              </a:ext>
            </a:extLst>
          </p:cNvPr>
          <p:cNvGrpSpPr/>
          <p:nvPr/>
        </p:nvGrpSpPr>
        <p:grpSpPr>
          <a:xfrm>
            <a:off x="519113" y="1933159"/>
            <a:ext cx="3889115" cy="1156308"/>
            <a:chOff x="4678585" y="3450459"/>
            <a:chExt cx="4198768" cy="1156308"/>
          </a:xfrm>
        </p:grpSpPr>
        <p:sp>
          <p:nvSpPr>
            <p:cNvPr id="39" name="Google Shape;1645;p43">
              <a:extLst>
                <a:ext uri="{FF2B5EF4-FFF2-40B4-BE49-F238E27FC236}">
                  <a16:creationId xmlns:a16="http://schemas.microsoft.com/office/drawing/2014/main" id="{DCD2ED0E-4FCF-7244-66BB-BB57B7897917}"/>
                </a:ext>
              </a:extLst>
            </p:cNvPr>
            <p:cNvSpPr>
              <a:spLocks/>
            </p:cNvSpPr>
            <p:nvPr/>
          </p:nvSpPr>
          <p:spPr>
            <a:xfrm>
              <a:off x="4678585" y="3567306"/>
              <a:ext cx="898429" cy="841445"/>
            </a:xfrm>
            <a:prstGeom prst="ellipse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9E466C7-4E74-E74E-AD7A-6F06C2555787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41" name="Google Shape;2611;p58">
                <a:extLst>
                  <a:ext uri="{FF2B5EF4-FFF2-40B4-BE49-F238E27FC236}">
                    <a16:creationId xmlns:a16="http://schemas.microsoft.com/office/drawing/2014/main" id="{A4B69A8A-D271-7D21-9D58-FB26FDA17B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O</a:t>
                </a:r>
                <a:r>
                  <a:rPr lang="en-US" sz="1800" b="1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perator</a:t>
                </a: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Behavior</a:t>
                </a:r>
              </a:p>
            </p:txBody>
          </p:sp>
          <p:sp>
            <p:nvSpPr>
              <p:cNvPr id="42" name="Google Shape;2615;p58">
                <a:extLst>
                  <a:ext uri="{FF2B5EF4-FFF2-40B4-BE49-F238E27FC236}">
                    <a16:creationId xmlns:a16="http://schemas.microsoft.com/office/drawing/2014/main" id="{9EC4D435-8C2A-6ED6-13AC-78AB184434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Real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operators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level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of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experience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and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skill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level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are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not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modeled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</a:t>
                </a:r>
              </a:p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Operator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simulation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is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linear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and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deterministic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</a:t>
                </a:r>
                <a:endParaRPr lang="en-US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4A80E51-5B55-9027-6854-B7A5F9D31D91}"/>
              </a:ext>
            </a:extLst>
          </p:cNvPr>
          <p:cNvGrpSpPr/>
          <p:nvPr/>
        </p:nvGrpSpPr>
        <p:grpSpPr>
          <a:xfrm>
            <a:off x="538208" y="3413545"/>
            <a:ext cx="3870020" cy="1156308"/>
            <a:chOff x="4678586" y="3450459"/>
            <a:chExt cx="4198767" cy="1156308"/>
          </a:xfrm>
        </p:grpSpPr>
        <p:sp>
          <p:nvSpPr>
            <p:cNvPr id="44" name="Google Shape;1645;p43">
              <a:extLst>
                <a:ext uri="{FF2B5EF4-FFF2-40B4-BE49-F238E27FC236}">
                  <a16:creationId xmlns:a16="http://schemas.microsoft.com/office/drawing/2014/main" id="{A8C4F1B5-89BF-A5AA-95B1-5F7FB770ABF1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82144" cy="841445"/>
            </a:xfrm>
            <a:prstGeom prst="ellipse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BB39F44-8039-CFE3-1C7D-9CAD4566494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46" name="Google Shape;2611;p58">
                <a:extLst>
                  <a:ext uri="{FF2B5EF4-FFF2-40B4-BE49-F238E27FC236}">
                    <a16:creationId xmlns:a16="http://schemas.microsoft.com/office/drawing/2014/main" id="{A703BCDF-D3FF-5603-5002-609FC46354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286166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Physical World Modeling</a:t>
                </a:r>
              </a:p>
            </p:txBody>
          </p:sp>
          <p:sp>
            <p:nvSpPr>
              <p:cNvPr id="47" name="Google Shape;2615;p58">
                <a:extLst>
                  <a:ext uri="{FF2B5EF4-FFF2-40B4-BE49-F238E27FC236}">
                    <a16:creationId xmlns:a16="http://schemas.microsoft.com/office/drawing/2014/main" id="{1405DC70-D8D5-5755-5C7E-53C6438201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>
                  <a:lnSpc>
                    <a:spcPct val="115000"/>
                  </a:lnSpc>
                  <a:buFont typeface="Arial" panose="020B0604020202020204" pitchFamily="34" charset="0"/>
                  <a:buChar char="•"/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framework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lacks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physical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aspects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such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as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safety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procedures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or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ergonomic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factors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</a:t>
                </a:r>
                <a:endParaRPr lang="en-US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pic>
        <p:nvPicPr>
          <p:cNvPr id="565" name="Picture 564" descr="A person standing next to a machine&#10;&#10;AI-generated content may be incorrect.">
            <a:extLst>
              <a:ext uri="{FF2B5EF4-FFF2-40B4-BE49-F238E27FC236}">
                <a16:creationId xmlns:a16="http://schemas.microsoft.com/office/drawing/2014/main" id="{F134CE9E-3D45-FCF1-8F67-01E54F1C1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99" y="3648751"/>
            <a:ext cx="551784" cy="551784"/>
          </a:xfrm>
          <a:prstGeom prst="rect">
            <a:avLst/>
          </a:prstGeom>
        </p:spPr>
      </p:pic>
      <p:pic>
        <p:nvPicPr>
          <p:cNvPr id="567" name="Picture 566" descr="A brain with a white circle and a blue circle with green dots&#10;&#10;AI-generated content may be incorrect.">
            <a:extLst>
              <a:ext uri="{FF2B5EF4-FFF2-40B4-BE49-F238E27FC236}">
                <a16:creationId xmlns:a16="http://schemas.microsoft.com/office/drawing/2014/main" id="{7A5ACB2F-6167-583D-DD55-99A1BD378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984" y="3715702"/>
            <a:ext cx="523246" cy="523246"/>
          </a:xfrm>
          <a:prstGeom prst="rect">
            <a:avLst/>
          </a:prstGeom>
        </p:spPr>
      </p:pic>
      <p:pic>
        <p:nvPicPr>
          <p:cNvPr id="569" name="Picture 568" descr="A person with a robot&#10;&#10;AI-generated content may be incorrect.">
            <a:extLst>
              <a:ext uri="{FF2B5EF4-FFF2-40B4-BE49-F238E27FC236}">
                <a16:creationId xmlns:a16="http://schemas.microsoft.com/office/drawing/2014/main" id="{6785BC11-5646-3897-EFA3-86AE8984C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061" y="2143726"/>
            <a:ext cx="605093" cy="605093"/>
          </a:xfrm>
          <a:prstGeom prst="rect">
            <a:avLst/>
          </a:prstGeom>
        </p:spPr>
      </p:pic>
      <p:pic>
        <p:nvPicPr>
          <p:cNvPr id="571" name="Picture 570" descr="A person's head with a gear and arrows pointing to his head&#10;&#10;AI-generated content may be incorrect.">
            <a:extLst>
              <a:ext uri="{FF2B5EF4-FFF2-40B4-BE49-F238E27FC236}">
                <a16:creationId xmlns:a16="http://schemas.microsoft.com/office/drawing/2014/main" id="{1B7A91F5-BC18-AC82-7528-153604D12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26375" y="2177532"/>
            <a:ext cx="571287" cy="5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48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736D9EB8-2773-AF2E-DD45-17C5F48F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7ED9E473-B8CB-7E60-D9EA-72245B1E9D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2BDEF487-63AA-A3F2-B756-7C882F7FA6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Context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DF755D-9811-EF36-D92A-4E1B0BF54352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73A338-C12E-24BF-F07C-F7AAC68508D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788D38-D260-8273-EFFE-1DA2F30756A0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01F16C8E-A868-9752-9EA5-9117ECD9BD38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 descr="A smoke detector with a couple of open parts&#10;&#10;AI-generated content may be incorrect.">
            <a:extLst>
              <a:ext uri="{FF2B5EF4-FFF2-40B4-BE49-F238E27FC236}">
                <a16:creationId xmlns:a16="http://schemas.microsoft.com/office/drawing/2014/main" id="{8311B95E-B1C9-727A-D772-5BCFF10B8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9" y="1608063"/>
            <a:ext cx="2422917" cy="2422917"/>
          </a:xfrm>
          <a:prstGeom prst="rect">
            <a:avLst/>
          </a:prstGeom>
        </p:spPr>
      </p:pic>
      <p:sp>
        <p:nvSpPr>
          <p:cNvPr id="7" name="Google Shape;536;p33">
            <a:extLst>
              <a:ext uri="{FF2B5EF4-FFF2-40B4-BE49-F238E27FC236}">
                <a16:creationId xmlns:a16="http://schemas.microsoft.com/office/drawing/2014/main" id="{C809211F-9CAB-DD51-7772-11B4C980A2F5}"/>
              </a:ext>
            </a:extLst>
          </p:cNvPr>
          <p:cNvSpPr txBox="1">
            <a:spLocks/>
          </p:cNvSpPr>
          <p:nvPr/>
        </p:nvSpPr>
        <p:spPr>
          <a:xfrm>
            <a:off x="6275790" y="4030980"/>
            <a:ext cx="242291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Avenar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Fire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Detector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8" name="Google Shape;2504;p56">
            <a:extLst>
              <a:ext uri="{FF2B5EF4-FFF2-40B4-BE49-F238E27FC236}">
                <a16:creationId xmlns:a16="http://schemas.microsoft.com/office/drawing/2014/main" id="{50F6412D-8776-3009-519C-B3B6D8EE4609}"/>
              </a:ext>
            </a:extLst>
          </p:cNvPr>
          <p:cNvSpPr txBox="1">
            <a:spLocks/>
          </p:cNvSpPr>
          <p:nvPr/>
        </p:nvSpPr>
        <p:spPr>
          <a:xfrm>
            <a:off x="519113" y="2040047"/>
            <a:ext cx="5256095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Bosch Security Systems, S.A., located in </a:t>
            </a:r>
            <a:r>
              <a:rPr lang="en-US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Ovar</a:t>
            </a: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, operates a significant manufacturing facility that produces security and fire detection systems. The shop floor features multiple assembly lines dedicated to assembling complex products.</a:t>
            </a:r>
          </a:p>
        </p:txBody>
      </p:sp>
      <p:sp>
        <p:nvSpPr>
          <p:cNvPr id="9" name="Google Shape;2506;p56">
            <a:extLst>
              <a:ext uri="{FF2B5EF4-FFF2-40B4-BE49-F238E27FC236}">
                <a16:creationId xmlns:a16="http://schemas.microsoft.com/office/drawing/2014/main" id="{2C930DF4-FEA5-DF17-EF74-57CF68020C9D}"/>
              </a:ext>
            </a:extLst>
          </p:cNvPr>
          <p:cNvSpPr txBox="1">
            <a:spLocks/>
          </p:cNvSpPr>
          <p:nvPr/>
        </p:nvSpPr>
        <p:spPr>
          <a:xfrm>
            <a:off x="526101" y="1688904"/>
            <a:ext cx="5267605" cy="4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Industrial Context</a:t>
            </a:r>
          </a:p>
        </p:txBody>
      </p:sp>
      <p:sp>
        <p:nvSpPr>
          <p:cNvPr id="12" name="Google Shape;2504;p56">
            <a:extLst>
              <a:ext uri="{FF2B5EF4-FFF2-40B4-BE49-F238E27FC236}">
                <a16:creationId xmlns:a16="http://schemas.microsoft.com/office/drawing/2014/main" id="{B80B8DDC-8F12-437E-21CB-26FE4E801378}"/>
              </a:ext>
            </a:extLst>
          </p:cNvPr>
          <p:cNvSpPr txBox="1">
            <a:spLocks/>
          </p:cNvSpPr>
          <p:nvPr/>
        </p:nvSpPr>
        <p:spPr>
          <a:xfrm>
            <a:off x="519113" y="3180314"/>
            <a:ext cx="5256095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L</a:t>
            </a: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05B – Produces the </a:t>
            </a:r>
            <a:r>
              <a:rPr lang="en-US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Avenar</a:t>
            </a: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fire detector in a three-operator regime, which relies almost entirely on human work.</a:t>
            </a:r>
          </a:p>
          <a:p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L05C – Is a more automated version of L05B</a:t>
            </a:r>
          </a:p>
        </p:txBody>
      </p:sp>
      <p:sp>
        <p:nvSpPr>
          <p:cNvPr id="13" name="Google Shape;2506;p56">
            <a:extLst>
              <a:ext uri="{FF2B5EF4-FFF2-40B4-BE49-F238E27FC236}">
                <a16:creationId xmlns:a16="http://schemas.microsoft.com/office/drawing/2014/main" id="{3610C65D-CFE0-0089-07B1-A8CE44CD644B}"/>
              </a:ext>
            </a:extLst>
          </p:cNvPr>
          <p:cNvSpPr txBox="1">
            <a:spLocks/>
          </p:cNvSpPr>
          <p:nvPr/>
        </p:nvSpPr>
        <p:spPr>
          <a:xfrm>
            <a:off x="519113" y="2780168"/>
            <a:ext cx="5267605" cy="4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Lines under Study</a:t>
            </a:r>
          </a:p>
        </p:txBody>
      </p:sp>
      <p:sp>
        <p:nvSpPr>
          <p:cNvPr id="15" name="Google Shape;2504;p56">
            <a:extLst>
              <a:ext uri="{FF2B5EF4-FFF2-40B4-BE49-F238E27FC236}">
                <a16:creationId xmlns:a16="http://schemas.microsoft.com/office/drawing/2014/main" id="{1FB3024E-EF09-092B-61E1-D25D6E448771}"/>
              </a:ext>
            </a:extLst>
          </p:cNvPr>
          <p:cNvSpPr txBox="1">
            <a:spLocks/>
          </p:cNvSpPr>
          <p:nvPr/>
        </p:nvSpPr>
        <p:spPr>
          <a:xfrm>
            <a:off x="519113" y="4162160"/>
            <a:ext cx="5256095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Same product, two different profiles → clear comparison study for manual vs automated HRC lines. </a:t>
            </a:r>
          </a:p>
        </p:txBody>
      </p:sp>
      <p:sp>
        <p:nvSpPr>
          <p:cNvPr id="16" name="Google Shape;2506;p56">
            <a:extLst>
              <a:ext uri="{FF2B5EF4-FFF2-40B4-BE49-F238E27FC236}">
                <a16:creationId xmlns:a16="http://schemas.microsoft.com/office/drawing/2014/main" id="{DB360A74-5AB0-5DEE-1224-DBF7D4694EE0}"/>
              </a:ext>
            </a:extLst>
          </p:cNvPr>
          <p:cNvSpPr txBox="1">
            <a:spLocks/>
          </p:cNvSpPr>
          <p:nvPr/>
        </p:nvSpPr>
        <p:spPr>
          <a:xfrm>
            <a:off x="519113" y="3762014"/>
            <a:ext cx="5267605" cy="4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sz="16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W</a:t>
            </a:r>
            <a:r>
              <a:rPr lang="en-US" sz="1600" b="1" dirty="0">
                <a:solidFill>
                  <a:srgbClr val="001E32"/>
                </a:solidFill>
                <a:latin typeface="Inter" panose="020B0604020202020204" charset="0"/>
                <a:ea typeface="Inter" panose="020B0604020202020204" charset="0"/>
              </a:rPr>
              <a:t>hy these two lines?</a:t>
            </a:r>
          </a:p>
        </p:txBody>
      </p:sp>
    </p:spTree>
    <p:extLst>
      <p:ext uri="{BB962C8B-B14F-4D97-AF65-F5344CB8AC3E}">
        <p14:creationId xmlns:p14="http://schemas.microsoft.com/office/powerpoint/2010/main" val="2735319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2CBBED32-4349-7C79-1142-0E481003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A066074F-BF5F-30FC-EF69-B17261FF321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BB8650D5-5F37-8D88-7F85-2AAF16BB83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Modeling Methods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CBD0B3-476A-A938-2AE1-D5BC09839415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57631F-5F45-7DD2-4471-1332C953793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AC6CF9-94B2-979F-E891-3C6ADE216D7F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34359D4F-8F31-D983-CAAC-3405CA6CBEE8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" name="Google Shape;790;p55">
            <a:extLst>
              <a:ext uri="{FF2B5EF4-FFF2-40B4-BE49-F238E27FC236}">
                <a16:creationId xmlns:a16="http://schemas.microsoft.com/office/drawing/2014/main" id="{275A095F-04A8-334E-D90F-76DA017E089D}"/>
              </a:ext>
            </a:extLst>
          </p:cNvPr>
          <p:cNvGrpSpPr/>
          <p:nvPr/>
        </p:nvGrpSpPr>
        <p:grpSpPr>
          <a:xfrm>
            <a:off x="445294" y="1750764"/>
            <a:ext cx="2302236" cy="2939168"/>
            <a:chOff x="5186401" y="494525"/>
            <a:chExt cx="1834973" cy="3724678"/>
          </a:xfrm>
          <a:solidFill>
            <a:srgbClr val="AEE2F4"/>
          </a:solidFill>
        </p:grpSpPr>
        <p:sp>
          <p:nvSpPr>
            <p:cNvPr id="6" name="Google Shape;791;p55">
              <a:extLst>
                <a:ext uri="{FF2B5EF4-FFF2-40B4-BE49-F238E27FC236}">
                  <a16:creationId xmlns:a16="http://schemas.microsoft.com/office/drawing/2014/main" id="{4CCAF7FA-CC2E-698D-7376-DD71ABEA1136}"/>
                </a:ext>
              </a:extLst>
            </p:cNvPr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grpFill/>
            <a:ln>
              <a:solidFill>
                <a:srgbClr val="112E54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92;p55">
              <a:extLst>
                <a:ext uri="{FF2B5EF4-FFF2-40B4-BE49-F238E27FC236}">
                  <a16:creationId xmlns:a16="http://schemas.microsoft.com/office/drawing/2014/main" id="{06BA032B-57BC-8727-8A23-1E5808A6B737}"/>
                </a:ext>
              </a:extLst>
            </p:cNvPr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rgbClr val="112E54"/>
            </a:solidFill>
            <a:ln>
              <a:solidFill>
                <a:srgbClr val="112E54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790;p55">
            <a:extLst>
              <a:ext uri="{FF2B5EF4-FFF2-40B4-BE49-F238E27FC236}">
                <a16:creationId xmlns:a16="http://schemas.microsoft.com/office/drawing/2014/main" id="{6A82CC5C-9D95-0725-FDC3-2849855C62E1}"/>
              </a:ext>
            </a:extLst>
          </p:cNvPr>
          <p:cNvGrpSpPr/>
          <p:nvPr/>
        </p:nvGrpSpPr>
        <p:grpSpPr>
          <a:xfrm>
            <a:off x="6396470" y="1750764"/>
            <a:ext cx="2302236" cy="2939168"/>
            <a:chOff x="5186401" y="494525"/>
            <a:chExt cx="1834973" cy="3724678"/>
          </a:xfrm>
          <a:solidFill>
            <a:srgbClr val="AEE2F4"/>
          </a:solidFill>
        </p:grpSpPr>
        <p:sp>
          <p:nvSpPr>
            <p:cNvPr id="20" name="Google Shape;791;p55">
              <a:extLst>
                <a:ext uri="{FF2B5EF4-FFF2-40B4-BE49-F238E27FC236}">
                  <a16:creationId xmlns:a16="http://schemas.microsoft.com/office/drawing/2014/main" id="{6C68BE2B-67D4-2A1F-C680-F529CF4DEEC6}"/>
                </a:ext>
              </a:extLst>
            </p:cNvPr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92;p55">
              <a:extLst>
                <a:ext uri="{FF2B5EF4-FFF2-40B4-BE49-F238E27FC236}">
                  <a16:creationId xmlns:a16="http://schemas.microsoft.com/office/drawing/2014/main" id="{768DA5EA-E60D-6F9A-BE51-747DA6566D0E}"/>
                </a:ext>
              </a:extLst>
            </p:cNvPr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rgbClr val="644B86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790;p55">
            <a:extLst>
              <a:ext uri="{FF2B5EF4-FFF2-40B4-BE49-F238E27FC236}">
                <a16:creationId xmlns:a16="http://schemas.microsoft.com/office/drawing/2014/main" id="{5BAE8352-2CD4-3C39-D380-8172B72BD85D}"/>
              </a:ext>
            </a:extLst>
          </p:cNvPr>
          <p:cNvGrpSpPr/>
          <p:nvPr/>
        </p:nvGrpSpPr>
        <p:grpSpPr>
          <a:xfrm>
            <a:off x="3420882" y="1750764"/>
            <a:ext cx="2302236" cy="2939168"/>
            <a:chOff x="5186401" y="494525"/>
            <a:chExt cx="1834973" cy="3724678"/>
          </a:xfrm>
          <a:solidFill>
            <a:srgbClr val="AEE2F4"/>
          </a:solidFill>
        </p:grpSpPr>
        <p:sp>
          <p:nvSpPr>
            <p:cNvPr id="23" name="Google Shape;791;p55">
              <a:extLst>
                <a:ext uri="{FF2B5EF4-FFF2-40B4-BE49-F238E27FC236}">
                  <a16:creationId xmlns:a16="http://schemas.microsoft.com/office/drawing/2014/main" id="{D95B9D0C-B103-4E94-D9D3-AE7A8782F634}"/>
                </a:ext>
              </a:extLst>
            </p:cNvPr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2;p55">
              <a:extLst>
                <a:ext uri="{FF2B5EF4-FFF2-40B4-BE49-F238E27FC236}">
                  <a16:creationId xmlns:a16="http://schemas.microsoft.com/office/drawing/2014/main" id="{429912CD-F324-30F3-91EF-67B8E06ED64F}"/>
                </a:ext>
              </a:extLst>
            </p:cNvPr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rgbClr val="225DA9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611;p58">
            <a:extLst>
              <a:ext uri="{FF2B5EF4-FFF2-40B4-BE49-F238E27FC236}">
                <a16:creationId xmlns:a16="http://schemas.microsoft.com/office/drawing/2014/main" id="{287A74EB-1D43-D69D-EE30-D2EC1389E990}"/>
              </a:ext>
            </a:extLst>
          </p:cNvPr>
          <p:cNvSpPr>
            <a:spLocks/>
          </p:cNvSpPr>
          <p:nvPr/>
        </p:nvSpPr>
        <p:spPr>
          <a:xfrm>
            <a:off x="519113" y="1819135"/>
            <a:ext cx="2134031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pt-PT" b="1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i) Conceptual </a:t>
            </a:r>
            <a:r>
              <a:rPr lang="pt-PT" b="1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Models</a:t>
            </a:r>
            <a:endParaRPr lang="en-US" b="1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26" name="Google Shape;2615;p58">
            <a:extLst>
              <a:ext uri="{FF2B5EF4-FFF2-40B4-BE49-F238E27FC236}">
                <a16:creationId xmlns:a16="http://schemas.microsoft.com/office/drawing/2014/main" id="{1A68E4ED-3EEE-7D05-2669-0982573FE620}"/>
              </a:ext>
            </a:extLst>
          </p:cNvPr>
          <p:cNvSpPr>
            <a:spLocks/>
          </p:cNvSpPr>
          <p:nvPr/>
        </p:nvSpPr>
        <p:spPr>
          <a:xfrm>
            <a:off x="516531" y="2383753"/>
            <a:ext cx="2134032" cy="23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Process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flow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diagrams</a:t>
            </a: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Built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from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on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-site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observations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and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engineer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feedback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Excel timing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mapped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to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tasks</a:t>
            </a:r>
            <a:endParaRPr lang="en-US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27" name="Google Shape;2611;p58">
            <a:extLst>
              <a:ext uri="{FF2B5EF4-FFF2-40B4-BE49-F238E27FC236}">
                <a16:creationId xmlns:a16="http://schemas.microsoft.com/office/drawing/2014/main" id="{AA09DFE2-A04D-ABF1-8938-9395C2733667}"/>
              </a:ext>
            </a:extLst>
          </p:cNvPr>
          <p:cNvSpPr>
            <a:spLocks/>
          </p:cNvSpPr>
          <p:nvPr/>
        </p:nvSpPr>
        <p:spPr>
          <a:xfrm>
            <a:off x="3504984" y="1819135"/>
            <a:ext cx="2134031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pt-PT" b="1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ii</a:t>
            </a:r>
            <a:r>
              <a:rPr lang="pt-PT" b="1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) Digital </a:t>
            </a:r>
            <a:r>
              <a:rPr lang="pt-PT" b="1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Models</a:t>
            </a:r>
            <a:endParaRPr lang="en-US" b="1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28" name="Google Shape;2615;p58">
            <a:extLst>
              <a:ext uri="{FF2B5EF4-FFF2-40B4-BE49-F238E27FC236}">
                <a16:creationId xmlns:a16="http://schemas.microsoft.com/office/drawing/2014/main" id="{A2D18579-46D1-7EA4-E0F4-E6F4F8D112A4}"/>
              </a:ext>
            </a:extLst>
          </p:cNvPr>
          <p:cNvSpPr>
            <a:spLocks/>
          </p:cNvSpPr>
          <p:nvPr/>
        </p:nvSpPr>
        <p:spPr>
          <a:xfrm>
            <a:off x="3512685" y="2308945"/>
            <a:ext cx="2134032" cy="23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Modular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discrete-event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blocks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per station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Normal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distributions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for time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simulation</a:t>
            </a: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Blocks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connect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following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the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real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flow</a:t>
            </a: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29" name="Google Shape;2611;p58">
            <a:extLst>
              <a:ext uri="{FF2B5EF4-FFF2-40B4-BE49-F238E27FC236}">
                <a16:creationId xmlns:a16="http://schemas.microsoft.com/office/drawing/2014/main" id="{D0EF3D32-ABE9-F302-CE1F-043F25F84ED5}"/>
              </a:ext>
            </a:extLst>
          </p:cNvPr>
          <p:cNvSpPr>
            <a:spLocks/>
          </p:cNvSpPr>
          <p:nvPr/>
        </p:nvSpPr>
        <p:spPr>
          <a:xfrm>
            <a:off x="6490855" y="1783152"/>
            <a:ext cx="2134031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pt-PT" b="1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Operator</a:t>
            </a:r>
            <a:r>
              <a:rPr lang="pt-PT" b="1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 </a:t>
            </a:r>
            <a:r>
              <a:rPr lang="pt-PT" b="1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Montserrat"/>
                <a:sym typeface="Montserrat"/>
              </a:rPr>
              <a:t>Modeling</a:t>
            </a:r>
            <a:endParaRPr lang="en-US" b="1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Montserrat"/>
              <a:sym typeface="Montserrat"/>
            </a:endParaRPr>
          </a:p>
        </p:txBody>
      </p:sp>
      <p:sp>
        <p:nvSpPr>
          <p:cNvPr id="30" name="Google Shape;2615;p58">
            <a:extLst>
              <a:ext uri="{FF2B5EF4-FFF2-40B4-BE49-F238E27FC236}">
                <a16:creationId xmlns:a16="http://schemas.microsoft.com/office/drawing/2014/main" id="{DBBAE823-BC6D-09D2-446A-4A65DEDC0EA8}"/>
              </a:ext>
            </a:extLst>
          </p:cNvPr>
          <p:cNvSpPr>
            <a:spLocks/>
          </p:cNvSpPr>
          <p:nvPr/>
        </p:nvSpPr>
        <p:spPr>
          <a:xfrm>
            <a:off x="6490855" y="2274831"/>
            <a:ext cx="2134032" cy="23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Operator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as a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resource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with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availability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and</a:t>
            </a:r>
            <a:r>
              <a:rPr lang="pt-PT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pt-PT" sz="1200" dirty="0" err="1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cost</a:t>
            </a: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PT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Task embedded in process blocks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Each operator task is a linked process</a:t>
            </a:r>
          </a:p>
        </p:txBody>
      </p:sp>
    </p:spTree>
    <p:extLst>
      <p:ext uri="{BB962C8B-B14F-4D97-AF65-F5344CB8AC3E}">
        <p14:creationId xmlns:p14="http://schemas.microsoft.com/office/powerpoint/2010/main" val="3368511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DD16D45-E531-1F48-228A-B73C85E2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619DB81B-507F-E9EB-62E6-47B2D882E8D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347ED9D5-5FE6-86C4-8469-14C018BC10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Assembly Line L05C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- Diagram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49E0CE-A2F3-3A63-D6AE-AC85AF6613F7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F72808-12AA-F287-2E3D-7671F9EBA1F1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96AC0B-9F6A-747B-7E95-E1930C0F3E4F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EB39AFDC-9FA0-B980-4644-7000F5C61626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 descr="A black background with white squares&#10;&#10;AI-generated content may be incorrect.">
            <a:extLst>
              <a:ext uri="{FF2B5EF4-FFF2-40B4-BE49-F238E27FC236}">
                <a16:creationId xmlns:a16="http://schemas.microsoft.com/office/drawing/2014/main" id="{CFE99F25-9D31-9FB8-46BB-9439D205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93" y="2139387"/>
            <a:ext cx="8253414" cy="2151698"/>
          </a:xfrm>
          <a:prstGeom prst="rect">
            <a:avLst/>
          </a:prstGeom>
        </p:spPr>
      </p:pic>
      <p:sp>
        <p:nvSpPr>
          <p:cNvPr id="10" name="Google Shape;536;p33">
            <a:extLst>
              <a:ext uri="{FF2B5EF4-FFF2-40B4-BE49-F238E27FC236}">
                <a16:creationId xmlns:a16="http://schemas.microsoft.com/office/drawing/2014/main" id="{1D0D5276-9384-06BD-46F7-C745A0E3E246}"/>
              </a:ext>
            </a:extLst>
          </p:cNvPr>
          <p:cNvSpPr txBox="1">
            <a:spLocks/>
          </p:cNvSpPr>
          <p:nvPr/>
        </p:nvSpPr>
        <p:spPr>
          <a:xfrm>
            <a:off x="3189459" y="4441808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Block Diagram of L05C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386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9869197-4BBB-2C9C-3E45-06CA43E2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20DC43F5-EA66-80A9-95A2-EF16B705ED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AFAFA5D3-9959-375F-4825-8D2269E4B7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493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Assembly Line L05C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Processing Times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104D1BA-C35F-8D80-AC50-1F0A823E1BE6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7F4B8C-46CF-47A1-8AB2-A3843791A8E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B3DD65-91FB-A4FD-CDA7-7C7F0ABFB16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8A8F6B33-F7E0-39BF-203F-B1EC4A471C45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7FCCF5-884C-514A-5E40-0F5844F7C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461380"/>
              </p:ext>
            </p:extLst>
          </p:nvPr>
        </p:nvGraphicFramePr>
        <p:xfrm>
          <a:off x="4235101" y="1341050"/>
          <a:ext cx="4463605" cy="306325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0399">
                  <a:extLst>
                    <a:ext uri="{9D8B030D-6E8A-4147-A177-3AD203B41FA5}">
                      <a16:colId xmlns:a16="http://schemas.microsoft.com/office/drawing/2014/main" val="2025503158"/>
                    </a:ext>
                  </a:extLst>
                </a:gridCol>
                <a:gridCol w="3106439">
                  <a:extLst>
                    <a:ext uri="{9D8B030D-6E8A-4147-A177-3AD203B41FA5}">
                      <a16:colId xmlns:a16="http://schemas.microsoft.com/office/drawing/2014/main" val="1323382594"/>
                    </a:ext>
                  </a:extLst>
                </a:gridCol>
                <a:gridCol w="1066767">
                  <a:extLst>
                    <a:ext uri="{9D8B030D-6E8A-4147-A177-3AD203B41FA5}">
                      <a16:colId xmlns:a16="http://schemas.microsoft.com/office/drawing/2014/main" val="2513625014"/>
                    </a:ext>
                  </a:extLst>
                </a:gridCol>
              </a:tblGrid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#</a:t>
                      </a:r>
                      <a:endParaRPr lang="pt-PT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Process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Average</a:t>
                      </a:r>
                      <a:r>
                        <a:rPr lang="pt-PT" sz="700" dirty="0"/>
                        <a:t> Time (s)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508077121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</a:t>
                      </a:r>
                      <a:endParaRPr lang="pt-PT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Stick </a:t>
                      </a:r>
                      <a:r>
                        <a:rPr lang="pt-PT" sz="700" dirty="0" err="1"/>
                        <a:t>the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label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3.73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876864700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2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Fit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the</a:t>
                      </a:r>
                      <a:r>
                        <a:rPr lang="pt-PT" sz="700" dirty="0"/>
                        <a:t> PCB in </a:t>
                      </a:r>
                      <a:r>
                        <a:rPr lang="pt-PT" sz="700" dirty="0" err="1"/>
                        <a:t>the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jig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4.04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831595813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Assemble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Components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19.70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699222511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Fit Jig Top + Supply Welding Robot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4.23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619844474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WeldComponents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13.875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258383403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RemoveJig</a:t>
                      </a:r>
                      <a:r>
                        <a:rPr lang="en-US" sz="700" dirty="0"/>
                        <a:t> + Place in the Buffer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4.81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130892607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in the Sensitivity Test + Scan Barcode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2.64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4216838608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8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Sensitivity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10.54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170421209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9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in the Welder + Weld Components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4.305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839961144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10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in the Standby Test + Scan Barcode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1.57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143258007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11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Execute Standby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8.335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2804799604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12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Rotate Switches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 2.19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917923557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Finish Encasing + Place in Buffer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 3.505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896242543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Stick Color Ring + Place in the Final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 2.27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2467955333"/>
                  </a:ext>
                </a:extLst>
              </a:tr>
              <a:tr h="17454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Execute Final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122132595"/>
                  </a:ext>
                </a:extLst>
              </a:tr>
              <a:tr h="266273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Individual Box + Color Ring + Scan + Dust Cover + Place</a:t>
                      </a:r>
                    </a:p>
                    <a:p>
                      <a:pPr algn="ctr"/>
                      <a:r>
                        <a:rPr lang="en-US" sz="700" dirty="0"/>
                        <a:t> in Collective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11.97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2223110221"/>
                  </a:ext>
                </a:extLst>
              </a:tr>
            </a:tbl>
          </a:graphicData>
        </a:graphic>
      </p:graphicFrame>
      <p:sp>
        <p:nvSpPr>
          <p:cNvPr id="7" name="Google Shape;2504;p56">
            <a:extLst>
              <a:ext uri="{FF2B5EF4-FFF2-40B4-BE49-F238E27FC236}">
                <a16:creationId xmlns:a16="http://schemas.microsoft.com/office/drawing/2014/main" id="{42568484-866A-05F4-1DBC-AE3E61AE98EF}"/>
              </a:ext>
            </a:extLst>
          </p:cNvPr>
          <p:cNvSpPr txBox="1">
            <a:spLocks/>
          </p:cNvSpPr>
          <p:nvPr/>
        </p:nvSpPr>
        <p:spPr>
          <a:xfrm>
            <a:off x="671513" y="1755855"/>
            <a:ext cx="2535814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Texto de suporte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" name="Google Shape;536;p33">
            <a:extLst>
              <a:ext uri="{FF2B5EF4-FFF2-40B4-BE49-F238E27FC236}">
                <a16:creationId xmlns:a16="http://schemas.microsoft.com/office/drawing/2014/main" id="{8DD049C9-2AB0-3370-5429-0DE6C8A27D29}"/>
              </a:ext>
            </a:extLst>
          </p:cNvPr>
          <p:cNvSpPr txBox="1">
            <a:spLocks/>
          </p:cNvSpPr>
          <p:nvPr/>
        </p:nvSpPr>
        <p:spPr>
          <a:xfrm>
            <a:off x="5084362" y="4482928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</a:t>
            </a:r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05C Bosch Provided Data</a:t>
            </a:r>
          </a:p>
          <a:p>
            <a:pPr marL="0" indent="0" algn="ctr"/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891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F1F6DAC-28FE-A8C0-1859-03252583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7AEB257E-BE94-73CB-9CAF-CE22CE494AC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CCB14162-BAF3-5FFE-B89D-27C4EFB90D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5214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Assembly Line L05C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Simulation Model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1984CA-6B85-F308-92C4-1D3B6AD97D77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76D055-31F4-95C8-896E-910903F1B76A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770D13-0808-1EFA-FBE3-86B1241C33BD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F2EC45C9-5F65-EC0F-EE12-37FB4EE6ED0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82B9EE-8469-AAD7-95BF-A223C7CA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99" y="1825371"/>
            <a:ext cx="8493202" cy="2525132"/>
          </a:xfrm>
          <a:prstGeom prst="rect">
            <a:avLst/>
          </a:prstGeom>
        </p:spPr>
      </p:pic>
      <p:sp>
        <p:nvSpPr>
          <p:cNvPr id="11" name="Google Shape;2504;p56">
            <a:extLst>
              <a:ext uri="{FF2B5EF4-FFF2-40B4-BE49-F238E27FC236}">
                <a16:creationId xmlns:a16="http://schemas.microsoft.com/office/drawing/2014/main" id="{0BC23094-EF1E-1A95-60EC-E2D70B0034BD}"/>
              </a:ext>
            </a:extLst>
          </p:cNvPr>
          <p:cNvSpPr txBox="1">
            <a:spLocks/>
          </p:cNvSpPr>
          <p:nvPr/>
        </p:nvSpPr>
        <p:spPr>
          <a:xfrm>
            <a:off x="6726895" y="606474"/>
            <a:ext cx="2106323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* Wrong image in the dissertation document</a:t>
            </a:r>
          </a:p>
        </p:txBody>
      </p:sp>
      <p:sp>
        <p:nvSpPr>
          <p:cNvPr id="12" name="Google Shape;536;p33">
            <a:extLst>
              <a:ext uri="{FF2B5EF4-FFF2-40B4-BE49-F238E27FC236}">
                <a16:creationId xmlns:a16="http://schemas.microsoft.com/office/drawing/2014/main" id="{C89D3877-E9F9-F764-B305-BB02FB216FED}"/>
              </a:ext>
            </a:extLst>
          </p:cNvPr>
          <p:cNvSpPr txBox="1">
            <a:spLocks/>
          </p:cNvSpPr>
          <p:nvPr/>
        </p:nvSpPr>
        <p:spPr>
          <a:xfrm>
            <a:off x="3189459" y="4425110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Model of L05C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307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F03741C4-26DE-96F1-C29D-0874D851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1D96D3E2-7D37-65A8-E8A3-CF539AAAD4A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0DF09AC2-4B3E-2E77-962E-F3F7617CDA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Assembly Line L05B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- Diagram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1CCBA5-71D8-CE3B-694C-A476C2D267B2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620044-058C-E189-D263-B03EA2875F70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638226-FB90-7A31-1CD4-D8E41C312D2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D1B06CFA-A304-6016-C0FA-3273B84D5644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 descr="A group of white squares with black text&#10;&#10;AI-generated content may be incorrect.">
            <a:extLst>
              <a:ext uri="{FF2B5EF4-FFF2-40B4-BE49-F238E27FC236}">
                <a16:creationId xmlns:a16="http://schemas.microsoft.com/office/drawing/2014/main" id="{BA7F08C2-EE4E-5367-DE34-4BF3833C3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3" y="2121401"/>
            <a:ext cx="8324633" cy="1966177"/>
          </a:xfrm>
          <a:prstGeom prst="rect">
            <a:avLst/>
          </a:prstGeom>
        </p:spPr>
      </p:pic>
      <p:sp>
        <p:nvSpPr>
          <p:cNvPr id="7" name="Google Shape;536;p33">
            <a:extLst>
              <a:ext uri="{FF2B5EF4-FFF2-40B4-BE49-F238E27FC236}">
                <a16:creationId xmlns:a16="http://schemas.microsoft.com/office/drawing/2014/main" id="{95B9E419-5F43-47ED-D59C-8029E3B075F8}"/>
              </a:ext>
            </a:extLst>
          </p:cNvPr>
          <p:cNvSpPr txBox="1">
            <a:spLocks/>
          </p:cNvSpPr>
          <p:nvPr/>
        </p:nvSpPr>
        <p:spPr>
          <a:xfrm>
            <a:off x="3189459" y="4441808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Block Diagram of L05B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603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208E0BAA-6718-7C90-4F90-2004848D8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A5BB0F7D-350C-0933-156D-75B948A9441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A27F62F7-D45A-0166-3912-324007B0A1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493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Assembly Line L05B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Processing Times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5CDCA8-A92D-3A3B-C1ED-CE95C3B03411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DBF273-B73C-9B44-9401-836EA4C641E5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9F881E-5D86-686C-96F5-A9B968C4A83F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9D53C7F4-B8CF-ECC8-D5C3-7B7C1981E7F1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B9ED1C-8CD2-7CB8-43A0-5D05A0CE6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08065"/>
              </p:ext>
            </p:extLst>
          </p:nvPr>
        </p:nvGraphicFramePr>
        <p:xfrm>
          <a:off x="4218707" y="1172657"/>
          <a:ext cx="4479999" cy="313572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1466">
                  <a:extLst>
                    <a:ext uri="{9D8B030D-6E8A-4147-A177-3AD203B41FA5}">
                      <a16:colId xmlns:a16="http://schemas.microsoft.com/office/drawing/2014/main" val="2025503158"/>
                    </a:ext>
                  </a:extLst>
                </a:gridCol>
                <a:gridCol w="3117848">
                  <a:extLst>
                    <a:ext uri="{9D8B030D-6E8A-4147-A177-3AD203B41FA5}">
                      <a16:colId xmlns:a16="http://schemas.microsoft.com/office/drawing/2014/main" val="1323382594"/>
                    </a:ext>
                  </a:extLst>
                </a:gridCol>
                <a:gridCol w="1070685">
                  <a:extLst>
                    <a:ext uri="{9D8B030D-6E8A-4147-A177-3AD203B41FA5}">
                      <a16:colId xmlns:a16="http://schemas.microsoft.com/office/drawing/2014/main" val="2513625014"/>
                    </a:ext>
                  </a:extLst>
                </a:gridCol>
              </a:tblGrid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#</a:t>
                      </a:r>
                      <a:endParaRPr lang="pt-PT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Process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Average</a:t>
                      </a:r>
                      <a:r>
                        <a:rPr lang="pt-PT" sz="700" dirty="0"/>
                        <a:t> Time (s)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508077121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</a:t>
                      </a:r>
                      <a:endParaRPr lang="pt-PT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Stick </a:t>
                      </a:r>
                      <a:r>
                        <a:rPr lang="pt-PT" sz="700" dirty="0" err="1"/>
                        <a:t>the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label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3.73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876864700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2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 err="1"/>
                        <a:t>Fit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the</a:t>
                      </a:r>
                      <a:r>
                        <a:rPr lang="pt-PT" sz="700" dirty="0"/>
                        <a:t> PCB in </a:t>
                      </a:r>
                      <a:r>
                        <a:rPr lang="pt-PT" sz="700" dirty="0" err="1"/>
                        <a:t>the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jig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4.36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831595813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Manual </a:t>
                      </a:r>
                      <a:r>
                        <a:rPr lang="pt-PT" sz="700" dirty="0" err="1"/>
                        <a:t>Component</a:t>
                      </a:r>
                      <a:r>
                        <a:rPr lang="pt-PT" sz="700" dirty="0"/>
                        <a:t> </a:t>
                      </a:r>
                      <a:r>
                        <a:rPr lang="pt-PT" sz="700" dirty="0" err="1"/>
                        <a:t>Assembly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24.70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699222511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Fit Jig Top + Supply Welding Robot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4.23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619844474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WeldComponents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13.88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258383403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RemoveJig</a:t>
                      </a:r>
                      <a:r>
                        <a:rPr lang="en-US" sz="700" dirty="0"/>
                        <a:t> + Place in the Buffer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5.54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130892607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in the Sensitivity Test + Scan Barcode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700" dirty="0">
                          <a:latin typeface="Inter" panose="020B0604020202020204" charset="0"/>
                          <a:ea typeface="Inter" panose="020B0604020202020204" charset="0"/>
                        </a:rPr>
                        <a:t>2</a:t>
                      </a:r>
                      <a:r>
                        <a:rPr lang="en-US" sz="700" dirty="0">
                          <a:latin typeface="Inter" panose="020B0604020202020204" charset="0"/>
                          <a:ea typeface="Inter" panose="020B0604020202020204" charset="0"/>
                        </a:rPr>
                        <a:t>.45</a:t>
                      </a: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4216838608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8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Sensitivity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10.54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170421209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9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in the Welder + Weld Components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4.56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839961144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10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in the Standby Test + Scan Barcode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1.72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143258007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11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Execute Standby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8.42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2804799604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12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Rotate Switches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 2.14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917923557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13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Finish Encasing + Place in Buffer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 3.505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896242543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Place product in Final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  2.56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2467955333"/>
                  </a:ext>
                </a:extLst>
              </a:tr>
              <a:tr h="159634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15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Execute Final Test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24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1122132595"/>
                  </a:ext>
                </a:extLst>
              </a:tr>
              <a:tr h="247422">
                <a:tc>
                  <a:txBody>
                    <a:bodyPr/>
                    <a:lstStyle/>
                    <a:p>
                      <a:pPr algn="ctr"/>
                      <a:r>
                        <a:rPr lang="pt-PT" sz="700" dirty="0"/>
                        <a:t>16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Assemble Individual Box + Color Ring Check + Scan +</a:t>
                      </a:r>
                    </a:p>
                    <a:p>
                      <a:pPr algn="ctr"/>
                      <a:r>
                        <a:rPr lang="en-US" sz="700" dirty="0"/>
                        <a:t> Place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11.97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2223110221"/>
                  </a:ext>
                </a:extLst>
              </a:tr>
              <a:tr h="243525">
                <a:tc>
                  <a:txBody>
                    <a:bodyPr/>
                    <a:lstStyle/>
                    <a:p>
                      <a:pPr algn="ctr"/>
                      <a:r>
                        <a:rPr lang="pt-PT" sz="700" dirty="0">
                          <a:latin typeface="Inter" panose="020B0604020202020204" charset="0"/>
                          <a:ea typeface="Inter" panose="020B0604020202020204" charset="0"/>
                        </a:rPr>
                        <a:t>17</a:t>
                      </a:r>
                      <a:endParaRPr lang="en-US" sz="7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Inter" panose="020B0604020202020204" charset="0"/>
                          <a:ea typeface="Inter" panose="020B0604020202020204" charset="0"/>
                        </a:rPr>
                        <a:t>Close Individual Box + Stick Label + Place</a:t>
                      </a:r>
                    </a:p>
                  </a:txBody>
                  <a:tcPr marL="57174" marR="57174" marT="28587" marB="2858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Inter" panose="020B0604020202020204" charset="0"/>
                          <a:ea typeface="Inter" panose="020B0604020202020204" charset="0"/>
                        </a:rPr>
                        <a:t>5.96</a:t>
                      </a:r>
                    </a:p>
                  </a:txBody>
                  <a:tcPr marL="57174" marR="57174" marT="28587" marB="28587"/>
                </a:tc>
                <a:extLst>
                  <a:ext uri="{0D108BD9-81ED-4DB2-BD59-A6C34878D82A}">
                    <a16:rowId xmlns:a16="http://schemas.microsoft.com/office/drawing/2014/main" val="3162939869"/>
                  </a:ext>
                </a:extLst>
              </a:tr>
            </a:tbl>
          </a:graphicData>
        </a:graphic>
      </p:graphicFrame>
      <p:sp>
        <p:nvSpPr>
          <p:cNvPr id="6" name="Google Shape;2504;p56">
            <a:extLst>
              <a:ext uri="{FF2B5EF4-FFF2-40B4-BE49-F238E27FC236}">
                <a16:creationId xmlns:a16="http://schemas.microsoft.com/office/drawing/2014/main" id="{34D03A2D-0F9C-98CD-5369-96007E1B48FC}"/>
              </a:ext>
            </a:extLst>
          </p:cNvPr>
          <p:cNvSpPr txBox="1">
            <a:spLocks/>
          </p:cNvSpPr>
          <p:nvPr/>
        </p:nvSpPr>
        <p:spPr>
          <a:xfrm>
            <a:off x="671513" y="1755855"/>
            <a:ext cx="2535814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Texto de suporte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7" name="Google Shape;536;p33">
            <a:extLst>
              <a:ext uri="{FF2B5EF4-FFF2-40B4-BE49-F238E27FC236}">
                <a16:creationId xmlns:a16="http://schemas.microsoft.com/office/drawing/2014/main" id="{BBB6414F-EDA8-299E-13DA-03861727BE2F}"/>
              </a:ext>
            </a:extLst>
          </p:cNvPr>
          <p:cNvSpPr txBox="1">
            <a:spLocks/>
          </p:cNvSpPr>
          <p:nvPr/>
        </p:nvSpPr>
        <p:spPr>
          <a:xfrm>
            <a:off x="5076165" y="4402916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</a:t>
            </a:r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05B Bosch Provided Data</a:t>
            </a:r>
          </a:p>
          <a:p>
            <a:pPr marL="0" indent="0" algn="ctr"/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840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BD72E9B8-3CAA-904A-8EA8-2AD7E72D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890D8D73-FAD8-5683-C96E-85AB7AEE9C1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033C361D-B18E-6A1B-DB43-2BCC3CFC84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5214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Assembly Line L05B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Simulation Model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A48F331-350F-064B-11AB-D319E6DE233D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EF0F62-CA41-BF47-BCFC-F773E5039557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FF6943-B8D6-F11A-22AE-9408128D150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FBE4BAE1-6CB4-BE1E-5D6F-22FCBA61E4C6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57687-5145-72F6-5D2A-3CE0A09D7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17" y="1734059"/>
            <a:ext cx="8347364" cy="2811743"/>
          </a:xfrm>
          <a:prstGeom prst="rect">
            <a:avLst/>
          </a:prstGeom>
        </p:spPr>
      </p:pic>
      <p:sp>
        <p:nvSpPr>
          <p:cNvPr id="7" name="Google Shape;536;p33">
            <a:extLst>
              <a:ext uri="{FF2B5EF4-FFF2-40B4-BE49-F238E27FC236}">
                <a16:creationId xmlns:a16="http://schemas.microsoft.com/office/drawing/2014/main" id="{AAEA11C8-566A-0ADD-B4A2-B6BCC327FDEA}"/>
              </a:ext>
            </a:extLst>
          </p:cNvPr>
          <p:cNvSpPr txBox="1">
            <a:spLocks/>
          </p:cNvSpPr>
          <p:nvPr/>
        </p:nvSpPr>
        <p:spPr>
          <a:xfrm>
            <a:off x="3189458" y="4545802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Model of L05B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583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92434D03-CCB5-CA5D-1AA1-B501B29F9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A9BC912D-A04B-59EA-34E2-C4AD5862A15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4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Case Study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77C4D3CD-CD03-BA3A-9037-C239717224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Setup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5DF5C7-4071-07FA-F659-5A43F76F7420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AE9683-F810-7432-DD82-B2CCEFC809F8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6049AD-079B-9495-6BD5-8D15410B9A3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204F654C-2172-61B3-B108-7766FDD97503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2504;p56">
            <a:extLst>
              <a:ext uri="{FF2B5EF4-FFF2-40B4-BE49-F238E27FC236}">
                <a16:creationId xmlns:a16="http://schemas.microsoft.com/office/drawing/2014/main" id="{34222D31-262E-072D-CEAB-FB1248439531}"/>
              </a:ext>
            </a:extLst>
          </p:cNvPr>
          <p:cNvSpPr txBox="1">
            <a:spLocks/>
          </p:cNvSpPr>
          <p:nvPr/>
        </p:nvSpPr>
        <p:spPr>
          <a:xfrm>
            <a:off x="607219" y="1953965"/>
            <a:ext cx="3128531" cy="2312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Each scenario was executed for 25 simulated hours to match Bosch’s minimum baseline window for KPI extraction.</a:t>
            </a:r>
          </a:p>
          <a:p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 economics were parameterized using PPC (Bosch’s unit profit per assembled unit) to translate throughput into revenue and estimate ROI and payback across scenarios.</a:t>
            </a:r>
          </a:p>
          <a:p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This setup ensures that technical KPIs are directly comparable with other scenarios.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D03275-000B-104A-1BC7-11F695284F70}"/>
              </a:ext>
            </a:extLst>
          </p:cNvPr>
          <p:cNvGrpSpPr/>
          <p:nvPr/>
        </p:nvGrpSpPr>
        <p:grpSpPr>
          <a:xfrm>
            <a:off x="4055280" y="1750764"/>
            <a:ext cx="4573255" cy="2539132"/>
            <a:chOff x="4051632" y="1582882"/>
            <a:chExt cx="4573255" cy="25391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DCFA15-6237-E04B-F23A-7495D8764204}"/>
                </a:ext>
              </a:extLst>
            </p:cNvPr>
            <p:cNvGrpSpPr/>
            <p:nvPr/>
          </p:nvGrpSpPr>
          <p:grpSpPr>
            <a:xfrm>
              <a:off x="4051632" y="1582882"/>
              <a:ext cx="4573255" cy="2539132"/>
              <a:chOff x="1957280" y="1750764"/>
              <a:chExt cx="5104749" cy="283422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F2FC0B7-9C5F-5DA6-992A-1FCF7B2ECBED}"/>
                  </a:ext>
                </a:extLst>
              </p:cNvPr>
              <p:cNvGrpSpPr/>
              <p:nvPr/>
            </p:nvGrpSpPr>
            <p:grpSpPr>
              <a:xfrm>
                <a:off x="1957280" y="1750764"/>
                <a:ext cx="5104749" cy="2834224"/>
                <a:chOff x="607219" y="2015836"/>
                <a:chExt cx="4040981" cy="2243606"/>
              </a:xfrm>
            </p:grpSpPr>
            <p:sp>
              <p:nvSpPr>
                <p:cNvPr id="12" name="Google Shape;2824;p61">
                  <a:extLst>
                    <a:ext uri="{FF2B5EF4-FFF2-40B4-BE49-F238E27FC236}">
                      <a16:creationId xmlns:a16="http://schemas.microsoft.com/office/drawing/2014/main" id="{6D6F7FD8-52F4-F4CA-6A6E-C539297525D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07219" y="2015836"/>
                  <a:ext cx="4040981" cy="2243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62" h="181204" extrusionOk="0">
                      <a:moveTo>
                        <a:pt x="4636" y="0"/>
                      </a:moveTo>
                      <a:cubicBezTo>
                        <a:pt x="2053" y="0"/>
                        <a:pt x="0" y="2053"/>
                        <a:pt x="0" y="4636"/>
                      </a:cubicBezTo>
                      <a:lnTo>
                        <a:pt x="0" y="176634"/>
                      </a:lnTo>
                      <a:cubicBezTo>
                        <a:pt x="0" y="179151"/>
                        <a:pt x="2053" y="181204"/>
                        <a:pt x="4636" y="181204"/>
                      </a:cubicBezTo>
                      <a:lnTo>
                        <a:pt x="243526" y="181204"/>
                      </a:lnTo>
                      <a:cubicBezTo>
                        <a:pt x="246109" y="181204"/>
                        <a:pt x="248162" y="179151"/>
                        <a:pt x="248162" y="176634"/>
                      </a:cubicBezTo>
                      <a:lnTo>
                        <a:pt x="248162" y="4636"/>
                      </a:lnTo>
                      <a:cubicBezTo>
                        <a:pt x="248162" y="2053"/>
                        <a:pt x="246109" y="0"/>
                        <a:pt x="243526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 w="9525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00E73E1-A2FA-F200-BA9F-EA269B290A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0112" b="42360"/>
                <a:stretch>
                  <a:fillRect/>
                </a:stretch>
              </p:blipFill>
              <p:spPr>
                <a:xfrm>
                  <a:off x="731075" y="2129313"/>
                  <a:ext cx="3792422" cy="2028355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</p:pic>
          </p:grp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590A649-C9F1-D25C-EFB0-EB11DE507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3740" y="1888449"/>
                <a:ext cx="4790757" cy="2560715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62710E3-F8C9-BDAA-AC68-C6F2CB9701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4276" y="1882102"/>
                <a:ext cx="4790757" cy="2567062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1C85A6-6945-9CAF-A39E-DE8C90ABA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91802" y="1700545"/>
              <a:ext cx="4291955" cy="22941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BBE24EA-3303-F51A-6BC5-406DC740B0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1514" y="2272145"/>
            <a:ext cx="1660789" cy="1165031"/>
          </a:xfrm>
          <a:prstGeom prst="rect">
            <a:avLst/>
          </a:prstGeom>
        </p:spPr>
      </p:pic>
      <p:sp>
        <p:nvSpPr>
          <p:cNvPr id="17" name="Google Shape;536;p33">
            <a:extLst>
              <a:ext uri="{FF2B5EF4-FFF2-40B4-BE49-F238E27FC236}">
                <a16:creationId xmlns:a16="http://schemas.microsoft.com/office/drawing/2014/main" id="{07B0AF55-F6A9-A54C-7442-FFBF57846E03}"/>
              </a:ext>
            </a:extLst>
          </p:cNvPr>
          <p:cNvSpPr txBox="1">
            <a:spLocks/>
          </p:cNvSpPr>
          <p:nvPr/>
        </p:nvSpPr>
        <p:spPr>
          <a:xfrm>
            <a:off x="4958886" y="4365352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Simulation Setup Window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569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AB89439-D68D-6FE6-C722-ACEF847F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E6D1A3C7-10F3-EB4B-D73A-B74AA4FFAB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091452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6B62623D-CD3F-37F8-9EAC-70ECBD79C0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Evaluation Metrics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BF3B70-9A76-AE42-473E-3FF0392225A0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8C9709-D1C2-F8FD-8F21-C38D8047570A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1BE699-5815-E4AA-A3F6-CAF6C4DDEC60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A13FD6D2-C517-8057-EE8D-D95A861907F1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C2F02F-FEBC-0DA2-C74D-DF6287093121}"/>
              </a:ext>
            </a:extLst>
          </p:cNvPr>
          <p:cNvGrpSpPr/>
          <p:nvPr/>
        </p:nvGrpSpPr>
        <p:grpSpPr>
          <a:xfrm>
            <a:off x="4572000" y="3455851"/>
            <a:ext cx="3930883" cy="1156308"/>
            <a:chOff x="4678586" y="3450459"/>
            <a:chExt cx="4198767" cy="1156308"/>
          </a:xfrm>
        </p:grpSpPr>
        <p:sp>
          <p:nvSpPr>
            <p:cNvPr id="31" name="Google Shape;1645;p43">
              <a:extLst>
                <a:ext uri="{FF2B5EF4-FFF2-40B4-BE49-F238E27FC236}">
                  <a16:creationId xmlns:a16="http://schemas.microsoft.com/office/drawing/2014/main" id="{6423AE1A-A08A-FC3B-716D-81A937346E49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F929E24-F54F-AFE2-A10C-5590C8045F4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33" name="Google Shape;2611;p58">
                <a:extLst>
                  <a:ext uri="{FF2B5EF4-FFF2-40B4-BE49-F238E27FC236}">
                    <a16:creationId xmlns:a16="http://schemas.microsoft.com/office/drawing/2014/main" id="{905AF4B8-9C79-7D8B-3CE7-A1AC0AB41B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Value-Added Time</a:t>
                </a:r>
              </a:p>
            </p:txBody>
          </p:sp>
          <p:sp>
            <p:nvSpPr>
              <p:cNvPr id="34" name="Google Shape;2615;p58">
                <a:extLst>
                  <a:ext uri="{FF2B5EF4-FFF2-40B4-BE49-F238E27FC236}">
                    <a16:creationId xmlns:a16="http://schemas.microsoft.com/office/drawing/2014/main" id="{A8EDD892-BB8B-BAEF-7C71-50648780E8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execution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of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added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value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operations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in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each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</a:t>
                </a:r>
                <a:r>
                  <a:rPr lang="pt-PT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given</a:t>
                </a: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node.</a:t>
                </a:r>
                <a:endParaRPr lang="en-US" sz="1200" dirty="0">
                  <a:solidFill>
                    <a:schemeClr val="dk1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3384F8-351C-3417-CAAE-21026B3597E1}"/>
              </a:ext>
            </a:extLst>
          </p:cNvPr>
          <p:cNvGrpSpPr/>
          <p:nvPr/>
        </p:nvGrpSpPr>
        <p:grpSpPr>
          <a:xfrm>
            <a:off x="4572000" y="1930148"/>
            <a:ext cx="4211782" cy="1156308"/>
            <a:chOff x="4678586" y="3450459"/>
            <a:chExt cx="4498809" cy="1156308"/>
          </a:xfrm>
        </p:grpSpPr>
        <p:sp>
          <p:nvSpPr>
            <p:cNvPr id="36" name="Google Shape;1645;p43">
              <a:extLst>
                <a:ext uri="{FF2B5EF4-FFF2-40B4-BE49-F238E27FC236}">
                  <a16:creationId xmlns:a16="http://schemas.microsoft.com/office/drawing/2014/main" id="{5A9F1DE3-879C-3604-B61F-96F752392F39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FBF5BAB-5316-812D-0E22-F7144AD3221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600267" cy="1156308"/>
              <a:chOff x="1309928" y="2201508"/>
              <a:chExt cx="3600267" cy="115630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Google Shape;2611;p58">
                    <a:extLst>
                      <a:ext uri="{FF2B5EF4-FFF2-40B4-BE49-F238E27FC236}">
                        <a16:creationId xmlns:a16="http://schemas.microsoft.com/office/drawing/2014/main" id="{329C1211-A4D9-6AEA-342A-40E97032561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309928" y="2201508"/>
                    <a:ext cx="3600267" cy="385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b" anchorCtr="0">
                    <a:noAutofit/>
                  </a:bodyPr>
                  <a:lstStyle/>
                  <a:p>
                    <a:pPr lvl="0">
                      <a:lnSpc>
                        <a:spcPct val="115000"/>
                      </a:lnSpc>
                    </a:pPr>
                    <a:r>
                      <a:rPr lang="en-US" sz="1800" b="1" dirty="0">
                        <a:solidFill>
                          <a:schemeClr val="dk1"/>
                        </a:solidFill>
                        <a:latin typeface="Inter" panose="020B0604020202020204" charset="0"/>
                        <a:ea typeface="Inter" panose="020B0604020202020204" charset="0"/>
                        <a:cs typeface="Montserrat"/>
                        <a:sym typeface="Montserrat"/>
                      </a:rPr>
                      <a:t>Overall Cycle Time </a:t>
                    </a:r>
                    <a:r>
                      <a:rPr lang="en-US" sz="1800" dirty="0">
                        <a:solidFill>
                          <a:schemeClr val="dk1"/>
                        </a:solidFill>
                        <a:latin typeface="Inter" panose="020B0604020202020204" charset="0"/>
                        <a:ea typeface="Inter" panose="020B0604020202020204" charset="0"/>
                        <a:cs typeface="Inter"/>
                        <a:sym typeface="Inter"/>
                      </a:rPr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PT" sz="1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Inter" panose="020B0604020202020204" charset="0"/>
                                <a:sym typeface="Inter"/>
                              </a:rPr>
                            </m:ctrlPr>
                          </m:sSubPr>
                          <m:e>
                            <m:r>
                              <a:rPr lang="pt-PT" sz="1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Inter" panose="020B0604020202020204" charset="0"/>
                                <a:sym typeface="Inter"/>
                              </a:rPr>
                              <m:t>𝐶𝑇</m:t>
                            </m:r>
                          </m:e>
                          <m:sub>
                            <m:r>
                              <a:rPr lang="pt-PT" sz="1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Inter" panose="020B0604020202020204" charset="0"/>
                                <a:sym typeface="Inter"/>
                              </a:rPr>
                              <m:t>𝑚𝑒𝑑</m:t>
                            </m:r>
                          </m:sub>
                        </m:sSub>
                      </m:oMath>
                    </a14:m>
                    <a:r>
                      <a:rPr lang="en-US" sz="1800" dirty="0">
                        <a:solidFill>
                          <a:schemeClr val="dk1"/>
                        </a:solidFill>
                        <a:latin typeface="Inter" panose="020B0604020202020204" charset="0"/>
                        <a:ea typeface="Inter" panose="020B0604020202020204" charset="0"/>
                        <a:cs typeface="Inter"/>
                        <a:sym typeface="Inter"/>
                      </a:rPr>
                      <a:t>)</a:t>
                    </a:r>
                    <a:endParaRPr lang="en-US" sz="1800" b="1" dirty="0">
                      <a:solidFill>
                        <a:schemeClr val="dk1"/>
                      </a:solidFill>
                      <a:latin typeface="Inter" panose="020B0604020202020204" charset="0"/>
                      <a:ea typeface="Inter" panose="020B0604020202020204" charset="0"/>
                      <a:cs typeface="Montserrat"/>
                      <a:sym typeface="Montserrat"/>
                    </a:endParaRPr>
                  </a:p>
                </p:txBody>
              </p:sp>
            </mc:Choice>
            <mc:Fallback>
              <p:sp>
                <p:nvSpPr>
                  <p:cNvPr id="38" name="Google Shape;2611;p58">
                    <a:extLst>
                      <a:ext uri="{FF2B5EF4-FFF2-40B4-BE49-F238E27FC236}">
                        <a16:creationId xmlns:a16="http://schemas.microsoft.com/office/drawing/2014/main" id="{329C1211-A4D9-6AEA-342A-40E9703256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9928" y="2201508"/>
                    <a:ext cx="3600267" cy="3858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27" t="-22222" b="-793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Google Shape;2615;p58">
                <a:extLst>
                  <a:ext uri="{FF2B5EF4-FFF2-40B4-BE49-F238E27FC236}">
                    <a16:creationId xmlns:a16="http://schemas.microsoft.com/office/drawing/2014/main" id="{E1BBE9F6-862C-92A3-41B7-F11738E7949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R</a:t>
                </a:r>
                <a:r>
                  <a:rPr lang="en-US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epresents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the average time interval between the completion of two consecutive pieces. 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877348-C4DC-24C6-3C74-955431784DFA}"/>
              </a:ext>
            </a:extLst>
          </p:cNvPr>
          <p:cNvGrpSpPr/>
          <p:nvPr/>
        </p:nvGrpSpPr>
        <p:grpSpPr>
          <a:xfrm>
            <a:off x="519113" y="1933159"/>
            <a:ext cx="3889115" cy="1156308"/>
            <a:chOff x="4678585" y="3450459"/>
            <a:chExt cx="4198768" cy="1156308"/>
          </a:xfrm>
        </p:grpSpPr>
        <p:sp>
          <p:nvSpPr>
            <p:cNvPr id="41" name="Google Shape;1645;p43">
              <a:extLst>
                <a:ext uri="{FF2B5EF4-FFF2-40B4-BE49-F238E27FC236}">
                  <a16:creationId xmlns:a16="http://schemas.microsoft.com/office/drawing/2014/main" id="{F277729E-B20B-966C-38E5-DA1EE4C11B5D}"/>
                </a:ext>
              </a:extLst>
            </p:cNvPr>
            <p:cNvSpPr>
              <a:spLocks/>
            </p:cNvSpPr>
            <p:nvPr/>
          </p:nvSpPr>
          <p:spPr>
            <a:xfrm>
              <a:off x="4678585" y="3567306"/>
              <a:ext cx="898429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34941D4-B5CE-E743-4127-AA43C4A6211A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43" name="Google Shape;2611;p58">
                <a:extLst>
                  <a:ext uri="{FF2B5EF4-FFF2-40B4-BE49-F238E27FC236}">
                    <a16:creationId xmlns:a16="http://schemas.microsoft.com/office/drawing/2014/main" id="{5B08A69D-DA60-2C5C-F8A9-FB1DF46106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Throughput</a:t>
                </a:r>
              </a:p>
            </p:txBody>
          </p:sp>
          <p:sp>
            <p:nvSpPr>
              <p:cNvPr id="44" name="Google Shape;2615;p58">
                <a:extLst>
                  <a:ext uri="{FF2B5EF4-FFF2-40B4-BE49-F238E27FC236}">
                    <a16:creationId xmlns:a16="http://schemas.microsoft.com/office/drawing/2014/main" id="{BCF32108-31CA-8635-F3D9-42D580DA1F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Total number of average finished products per hour in a given simulation.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7C2A72-5720-20D9-9BBB-B7DF7FFDCC94}"/>
              </a:ext>
            </a:extLst>
          </p:cNvPr>
          <p:cNvGrpSpPr/>
          <p:nvPr/>
        </p:nvGrpSpPr>
        <p:grpSpPr>
          <a:xfrm>
            <a:off x="538208" y="3413545"/>
            <a:ext cx="3870020" cy="1156308"/>
            <a:chOff x="4678586" y="3450459"/>
            <a:chExt cx="4198767" cy="1156308"/>
          </a:xfrm>
        </p:grpSpPr>
        <p:sp>
          <p:nvSpPr>
            <p:cNvPr id="46" name="Google Shape;1645;p43">
              <a:extLst>
                <a:ext uri="{FF2B5EF4-FFF2-40B4-BE49-F238E27FC236}">
                  <a16:creationId xmlns:a16="http://schemas.microsoft.com/office/drawing/2014/main" id="{04734F90-65D2-46E8-60C5-797097BAC95A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82144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995D3A3-2D96-1A0C-E81A-4422D0826AE1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300225" cy="1156308"/>
              <a:chOff x="1309928" y="2201508"/>
              <a:chExt cx="3300225" cy="1156308"/>
            </a:xfrm>
          </p:grpSpPr>
          <p:sp>
            <p:nvSpPr>
              <p:cNvPr id="48" name="Google Shape;2611;p58">
                <a:extLst>
                  <a:ext uri="{FF2B5EF4-FFF2-40B4-BE49-F238E27FC236}">
                    <a16:creationId xmlns:a16="http://schemas.microsoft.com/office/drawing/2014/main" id="{A46A698A-BF02-D3AF-B526-5CB49416B6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2802752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Processing Time</a:t>
                </a:r>
              </a:p>
            </p:txBody>
          </p:sp>
          <p:sp>
            <p:nvSpPr>
              <p:cNvPr id="49" name="Google Shape;2615;p58">
                <a:extLst>
                  <a:ext uri="{FF2B5EF4-FFF2-40B4-BE49-F238E27FC236}">
                    <a16:creationId xmlns:a16="http://schemas.microsoft.com/office/drawing/2014/main" id="{0560ED01-A687-E2B1-D62D-3F90B82F87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Total time each piece spends being processed, in each process.</a:t>
                </a:r>
              </a:p>
            </p:txBody>
          </p:sp>
        </p:grpSp>
      </p:grpSp>
      <p:pic>
        <p:nvPicPr>
          <p:cNvPr id="55" name="Picture 54" descr="A colorful circular arrows around a gear&#10;&#10;AI-generated content may be incorrect.">
            <a:extLst>
              <a:ext uri="{FF2B5EF4-FFF2-40B4-BE49-F238E27FC236}">
                <a16:creationId xmlns:a16="http://schemas.microsoft.com/office/drawing/2014/main" id="{93C9D934-2467-BBBE-0CEE-65897E77A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34" y="3688867"/>
            <a:ext cx="519506" cy="519506"/>
          </a:xfrm>
          <a:prstGeom prst="rect">
            <a:avLst/>
          </a:prstGeom>
        </p:spPr>
      </p:pic>
      <p:pic>
        <p:nvPicPr>
          <p:cNvPr id="57" name="Picture 56" descr="A computer chip with a chip in the center&#10;&#10;AI-generated content may be incorrect.">
            <a:extLst>
              <a:ext uri="{FF2B5EF4-FFF2-40B4-BE49-F238E27FC236}">
                <a16:creationId xmlns:a16="http://schemas.microsoft.com/office/drawing/2014/main" id="{BE3C88F0-ABA2-3A0D-DCC0-79D8C3B56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43" y="2223056"/>
            <a:ext cx="555024" cy="514131"/>
          </a:xfrm>
          <a:prstGeom prst="rect">
            <a:avLst/>
          </a:prstGeom>
        </p:spPr>
      </p:pic>
      <p:pic>
        <p:nvPicPr>
          <p:cNvPr id="59" name="Picture 58" descr="A clock with arrows around it&#10;&#10;AI-generated content may be incorrect.">
            <a:extLst>
              <a:ext uri="{FF2B5EF4-FFF2-40B4-BE49-F238E27FC236}">
                <a16:creationId xmlns:a16="http://schemas.microsoft.com/office/drawing/2014/main" id="{8EED26DA-6FEB-80D9-334D-9EF6F1766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854" y="2234766"/>
            <a:ext cx="519506" cy="519506"/>
          </a:xfrm>
          <a:prstGeom prst="rect">
            <a:avLst/>
          </a:prstGeom>
        </p:spPr>
      </p:pic>
      <p:pic>
        <p:nvPicPr>
          <p:cNvPr id="61" name="Picture 60" descr="A clock and dollar signs&#10;&#10;AI-generated content may be incorrect.">
            <a:extLst>
              <a:ext uri="{FF2B5EF4-FFF2-40B4-BE49-F238E27FC236}">
                <a16:creationId xmlns:a16="http://schemas.microsoft.com/office/drawing/2014/main" id="{BAC0ABDA-67BB-8E08-A1D6-95AA86951F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166" y="3733667"/>
            <a:ext cx="519506" cy="5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7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B17212ED-A9E2-7AD8-3CD8-4F52C71D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E3FD96EA-C722-ACBB-62F4-45A88AFAA93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69E09B86-2378-2493-6097-17038771711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398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L05C Case Study Results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Utilization per Station</a:t>
            </a:r>
            <a:endParaRPr lang="en-US" sz="1500" b="1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5EE07A-FDD0-0AB5-172F-EAC4C096A2E8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8B9BF0-BF4D-0AC6-8066-3BBD21852B90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FCC3CB-2F2C-57E0-5BDA-5CE7ED73BF89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8B871DEC-0B28-50E4-35B3-789FA69650F1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F7501-9196-D61E-3891-9BFB1198A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58496"/>
              </p:ext>
            </p:extLst>
          </p:nvPr>
        </p:nvGraphicFramePr>
        <p:xfrm>
          <a:off x="4939910" y="817910"/>
          <a:ext cx="3640924" cy="36192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85138">
                  <a:extLst>
                    <a:ext uri="{9D8B030D-6E8A-4147-A177-3AD203B41FA5}">
                      <a16:colId xmlns:a16="http://schemas.microsoft.com/office/drawing/2014/main" val="2788716691"/>
                    </a:ext>
                  </a:extLst>
                </a:gridCol>
                <a:gridCol w="791381">
                  <a:extLst>
                    <a:ext uri="{9D8B030D-6E8A-4147-A177-3AD203B41FA5}">
                      <a16:colId xmlns:a16="http://schemas.microsoft.com/office/drawing/2014/main" val="4209325926"/>
                    </a:ext>
                  </a:extLst>
                </a:gridCol>
                <a:gridCol w="864405">
                  <a:extLst>
                    <a:ext uri="{9D8B030D-6E8A-4147-A177-3AD203B41FA5}">
                      <a16:colId xmlns:a16="http://schemas.microsoft.com/office/drawing/2014/main" val="1587958511"/>
                    </a:ext>
                  </a:extLst>
                </a:gridCol>
              </a:tblGrid>
              <a:tr h="185225"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Time (s)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Utilization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28865224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PCB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22.73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7.75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12585519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Stick a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Label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L05C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22.72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7.75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42512776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Assemble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Components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Machine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L05C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22.67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7.73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84377484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Assemble Machine Input Conveyor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18.56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6.33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43965390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Assemble Machine Output Buffer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109.77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37.43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36482444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Assemble Machine Output Conveyor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21.24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7.24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87000514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Soldering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18.64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6.36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088115432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Middle Buffer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2.57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0.87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044803431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Sensitivity Test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10.52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3.59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79559766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Manual Weld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5.80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1.98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4066644312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Standby Test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8.34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2.84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55385634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Rotate Switches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2.35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0.80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28636269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Encasing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3.44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1.17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35651949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Workstation Buffer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6.44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2.19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35113778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Final Test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16.11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5.49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24140944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Final Test Input Conveyor L05C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1.37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0.47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537010924"/>
                  </a:ext>
                </a:extLst>
              </a:tr>
            </a:tbl>
          </a:graphicData>
        </a:graphic>
      </p:graphicFrame>
      <p:sp>
        <p:nvSpPr>
          <p:cNvPr id="6" name="Google Shape;2504;p56">
            <a:extLst>
              <a:ext uri="{FF2B5EF4-FFF2-40B4-BE49-F238E27FC236}">
                <a16:creationId xmlns:a16="http://schemas.microsoft.com/office/drawing/2014/main" id="{46E413C7-44B6-0CA7-86A9-B9EE4AC750D8}"/>
              </a:ext>
            </a:extLst>
          </p:cNvPr>
          <p:cNvSpPr txBox="1">
            <a:spLocks/>
          </p:cNvSpPr>
          <p:nvPr/>
        </p:nvSpPr>
        <p:spPr>
          <a:xfrm>
            <a:off x="1253404" y="1863278"/>
            <a:ext cx="2535814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Texto de suporte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7" name="Google Shape;536;p33">
            <a:extLst>
              <a:ext uri="{FF2B5EF4-FFF2-40B4-BE49-F238E27FC236}">
                <a16:creationId xmlns:a16="http://schemas.microsoft.com/office/drawing/2014/main" id="{C5620F4D-3652-13F4-B5D9-B6ADE5D35E57}"/>
              </a:ext>
            </a:extLst>
          </p:cNvPr>
          <p:cNvSpPr txBox="1">
            <a:spLocks/>
          </p:cNvSpPr>
          <p:nvPr/>
        </p:nvSpPr>
        <p:spPr>
          <a:xfrm>
            <a:off x="5465323" y="4482928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U</a:t>
            </a:r>
            <a:r>
              <a:rPr lang="en-US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tilization</a:t>
            </a:r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per Station L05C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549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8B7BC805-6EBC-76C0-6855-20D185AD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F266B399-94C3-A28B-B886-3CE35F49B2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398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L05C Case Study Results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Added Time Value</a:t>
            </a:r>
            <a:endParaRPr lang="en-US" sz="1500" b="1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97349C-2663-CB94-8E59-C8F0FDB5F639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EFED68-2838-C342-9CEB-55AEBC096845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3D9369-9258-B03A-AC63-3862CD60FD21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A0B015CB-21F8-6D67-C896-DDCD0599F924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12" name="Google Shape;2504;p56">
            <a:extLst>
              <a:ext uri="{FF2B5EF4-FFF2-40B4-BE49-F238E27FC236}">
                <a16:creationId xmlns:a16="http://schemas.microsoft.com/office/drawing/2014/main" id="{71C95819-6246-6F94-6E0C-192169C3EF32}"/>
              </a:ext>
            </a:extLst>
          </p:cNvPr>
          <p:cNvSpPr txBox="1">
            <a:spLocks/>
          </p:cNvSpPr>
          <p:nvPr/>
        </p:nvSpPr>
        <p:spPr>
          <a:xfrm>
            <a:off x="1229521" y="1610699"/>
            <a:ext cx="6430163" cy="895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D190D7-E702-DA10-1B65-9C17A6512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750484"/>
              </p:ext>
            </p:extLst>
          </p:nvPr>
        </p:nvGraphicFramePr>
        <p:xfrm>
          <a:off x="1401619" y="1750764"/>
          <a:ext cx="6258065" cy="262232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35298">
                  <a:extLst>
                    <a:ext uri="{9D8B030D-6E8A-4147-A177-3AD203B41FA5}">
                      <a16:colId xmlns:a16="http://schemas.microsoft.com/office/drawing/2014/main" val="2788716691"/>
                    </a:ext>
                  </a:extLst>
                </a:gridCol>
                <a:gridCol w="672939">
                  <a:extLst>
                    <a:ext uri="{9D8B030D-6E8A-4147-A177-3AD203B41FA5}">
                      <a16:colId xmlns:a16="http://schemas.microsoft.com/office/drawing/2014/main" val="4209325926"/>
                    </a:ext>
                  </a:extLst>
                </a:gridCol>
                <a:gridCol w="857365">
                  <a:extLst>
                    <a:ext uri="{9D8B030D-6E8A-4147-A177-3AD203B41FA5}">
                      <a16:colId xmlns:a16="http://schemas.microsoft.com/office/drawing/2014/main" val="1587958511"/>
                    </a:ext>
                  </a:extLst>
                </a:gridCol>
                <a:gridCol w="684638">
                  <a:extLst>
                    <a:ext uri="{9D8B030D-6E8A-4147-A177-3AD203B41FA5}">
                      <a16:colId xmlns:a16="http://schemas.microsoft.com/office/drawing/2014/main" val="3128509046"/>
                    </a:ext>
                  </a:extLst>
                </a:gridCol>
                <a:gridCol w="907825">
                  <a:extLst>
                    <a:ext uri="{9D8B030D-6E8A-4147-A177-3AD203B41FA5}">
                      <a16:colId xmlns:a16="http://schemas.microsoft.com/office/drawing/2014/main" val="3183596751"/>
                    </a:ext>
                  </a:extLst>
                </a:gridCol>
              </a:tblGrid>
              <a:tr h="301614"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2935" marR="62935" marT="31468" marB="3146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Automatic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Loading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% of Total Time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extLst>
                  <a:ext uri="{0D108BD9-81ED-4DB2-BD59-A6C34878D82A}">
                    <a16:rowId xmlns:a16="http://schemas.microsoft.com/office/drawing/2014/main" val="1288652247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Stick a Label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3.65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3.96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6.7%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212585519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Assemble Components Machine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19.70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17.3%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242512776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Assemble Machine Output Buffer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4.16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3.7%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384377484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Soldering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13.84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4.76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16.3%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439653905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Middle Buffer L05C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2.54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2.2%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236482444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Sensitivity Test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10.44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9.2%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1870005145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Weld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4.24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1.55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5.1%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1088115432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Standby Test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8.25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7.2%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2044803431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Rotate Switchs L05C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2.34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2.1%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3795597667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Encasing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3.45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4066644312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Workstation Buffer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2.24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255385634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Final Test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15.95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14.0%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128636269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Color Ring Check + Packing + Place on Collective L05C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12.66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11.1%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b"/>
                </a:tc>
                <a:extLst>
                  <a:ext uri="{0D108BD9-81ED-4DB2-BD59-A6C34878D82A}">
                    <a16:rowId xmlns:a16="http://schemas.microsoft.com/office/drawing/2014/main" val="3356519495"/>
                  </a:ext>
                </a:extLst>
              </a:tr>
            </a:tbl>
          </a:graphicData>
        </a:graphic>
      </p:graphicFrame>
      <p:sp>
        <p:nvSpPr>
          <p:cNvPr id="7" name="Google Shape;2504;p56">
            <a:extLst>
              <a:ext uri="{FF2B5EF4-FFF2-40B4-BE49-F238E27FC236}">
                <a16:creationId xmlns:a16="http://schemas.microsoft.com/office/drawing/2014/main" id="{40239B8C-480E-1937-E905-054AA096584B}"/>
              </a:ext>
            </a:extLst>
          </p:cNvPr>
          <p:cNvSpPr txBox="1">
            <a:spLocks/>
          </p:cNvSpPr>
          <p:nvPr/>
        </p:nvSpPr>
        <p:spPr>
          <a:xfrm>
            <a:off x="6753444" y="613863"/>
            <a:ext cx="2106323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* Wrong figure in this section of the dissertation document</a:t>
            </a:r>
          </a:p>
        </p:txBody>
      </p:sp>
      <p:sp>
        <p:nvSpPr>
          <p:cNvPr id="8" name="Google Shape;536;p33">
            <a:extLst>
              <a:ext uri="{FF2B5EF4-FFF2-40B4-BE49-F238E27FC236}">
                <a16:creationId xmlns:a16="http://schemas.microsoft.com/office/drawing/2014/main" id="{30B3E8A5-90A2-4421-8B4E-5B1E8DC93EA7}"/>
              </a:ext>
            </a:extLst>
          </p:cNvPr>
          <p:cNvSpPr txBox="1">
            <a:spLocks/>
          </p:cNvSpPr>
          <p:nvPr/>
        </p:nvSpPr>
        <p:spPr>
          <a:xfrm>
            <a:off x="3062061" y="4434996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Added Time Value per Station on L05C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16" name="Google Shape;535;p33">
            <a:extLst>
              <a:ext uri="{FF2B5EF4-FFF2-40B4-BE49-F238E27FC236}">
                <a16:creationId xmlns:a16="http://schemas.microsoft.com/office/drawing/2014/main" id="{E5A2E230-BF04-CBBA-F0E8-1E80D3458AD6}"/>
              </a:ext>
            </a:extLst>
          </p:cNvPr>
          <p:cNvSpPr txBox="1">
            <a:spLocks/>
          </p:cNvSpPr>
          <p:nvPr/>
        </p:nvSpPr>
        <p:spPr>
          <a:xfrm>
            <a:off x="563166" y="1112520"/>
            <a:ext cx="7850981" cy="32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3600" i="1" spc="-300"/>
              <a:t>5 </a:t>
            </a:r>
            <a:r>
              <a:rPr lang="en-US" sz="3600" b="0" i="1" spc="-300"/>
              <a:t>–</a:t>
            </a:r>
            <a:r>
              <a:rPr lang="en-US" sz="3600" i="1" spc="-300"/>
              <a:t> Results</a:t>
            </a:r>
            <a:endParaRPr lang="en-US" sz="3600" b="0" i="1" spc="-300" dirty="0"/>
          </a:p>
        </p:txBody>
      </p:sp>
    </p:spTree>
    <p:extLst>
      <p:ext uri="{BB962C8B-B14F-4D97-AF65-F5344CB8AC3E}">
        <p14:creationId xmlns:p14="http://schemas.microsoft.com/office/powerpoint/2010/main" val="856072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63A34B4-E387-9D8A-50A7-F64ED486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55976C44-8D38-5553-CCE2-E0E883C3A1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398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L05C Case Study Results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Comparison with Real Data</a:t>
            </a:r>
            <a:endParaRPr lang="en-US" sz="1500" b="1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5E2368-6CCC-A5E8-70DA-7CD4385CE905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D7E45F-53F8-1048-5D3B-4482A28AF9C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BAD43D-E8CB-79BD-9FDB-DB310341F66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6B298E2D-6565-A377-1A22-5AF071113B1D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9B01C70-5442-2619-47C3-2C11B67FB7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49670"/>
                  </p:ext>
                </p:extLst>
              </p:nvPr>
            </p:nvGraphicFramePr>
            <p:xfrm>
              <a:off x="1336292" y="2677864"/>
              <a:ext cx="6288945" cy="107858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010333">
                      <a:extLst>
                        <a:ext uri="{9D8B030D-6E8A-4147-A177-3AD203B41FA5}">
                          <a16:colId xmlns:a16="http://schemas.microsoft.com/office/drawing/2014/main" val="2172320469"/>
                        </a:ext>
                      </a:extLst>
                    </a:gridCol>
                    <a:gridCol w="785233">
                      <a:extLst>
                        <a:ext uri="{9D8B030D-6E8A-4147-A177-3AD203B41FA5}">
                          <a16:colId xmlns:a16="http://schemas.microsoft.com/office/drawing/2014/main" val="2297755274"/>
                        </a:ext>
                      </a:extLst>
                    </a:gridCol>
                    <a:gridCol w="754452">
                      <a:extLst>
                        <a:ext uri="{9D8B030D-6E8A-4147-A177-3AD203B41FA5}">
                          <a16:colId xmlns:a16="http://schemas.microsoft.com/office/drawing/2014/main" val="2033347088"/>
                        </a:ext>
                      </a:extLst>
                    </a:gridCol>
                    <a:gridCol w="755991">
                      <a:extLst>
                        <a:ext uri="{9D8B030D-6E8A-4147-A177-3AD203B41FA5}">
                          <a16:colId xmlns:a16="http://schemas.microsoft.com/office/drawing/2014/main" val="254318277"/>
                        </a:ext>
                      </a:extLst>
                    </a:gridCol>
                    <a:gridCol w="909897">
                      <a:extLst>
                        <a:ext uri="{9D8B030D-6E8A-4147-A177-3AD203B41FA5}">
                          <a16:colId xmlns:a16="http://schemas.microsoft.com/office/drawing/2014/main" val="2896713145"/>
                        </a:ext>
                      </a:extLst>
                    </a:gridCol>
                    <a:gridCol w="1073039">
                      <a:extLst>
                        <a:ext uri="{9D8B030D-6E8A-4147-A177-3AD203B41FA5}">
                          <a16:colId xmlns:a16="http://schemas.microsoft.com/office/drawing/2014/main" val="3940468193"/>
                        </a:ext>
                      </a:extLst>
                    </a:gridCol>
                  </a:tblGrid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Metric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3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Average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Simulation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648855472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Throughtput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(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pcs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/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hr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146.44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152.51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152.11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150.30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158.48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804655890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</m:ctrlPr>
                                </m:sSubPr>
                                <m:e>
                                  <m: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  <m:t>𝐶𝑇</m:t>
                                  </m:r>
                                </m:e>
                                <m:sub>
                                  <m: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  <m:t>𝑚𝑒𝑑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pt-PT" sz="14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(s)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24.61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23.62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23.68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23.97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22.72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35928277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9B01C70-5442-2619-47C3-2C11B67FB7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49670"/>
                  </p:ext>
                </p:extLst>
              </p:nvPr>
            </p:nvGraphicFramePr>
            <p:xfrm>
              <a:off x="1336292" y="2677864"/>
              <a:ext cx="6288945" cy="107858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010333">
                      <a:extLst>
                        <a:ext uri="{9D8B030D-6E8A-4147-A177-3AD203B41FA5}">
                          <a16:colId xmlns:a16="http://schemas.microsoft.com/office/drawing/2014/main" val="2172320469"/>
                        </a:ext>
                      </a:extLst>
                    </a:gridCol>
                    <a:gridCol w="785233">
                      <a:extLst>
                        <a:ext uri="{9D8B030D-6E8A-4147-A177-3AD203B41FA5}">
                          <a16:colId xmlns:a16="http://schemas.microsoft.com/office/drawing/2014/main" val="2297755274"/>
                        </a:ext>
                      </a:extLst>
                    </a:gridCol>
                    <a:gridCol w="754452">
                      <a:extLst>
                        <a:ext uri="{9D8B030D-6E8A-4147-A177-3AD203B41FA5}">
                          <a16:colId xmlns:a16="http://schemas.microsoft.com/office/drawing/2014/main" val="2033347088"/>
                        </a:ext>
                      </a:extLst>
                    </a:gridCol>
                    <a:gridCol w="755991">
                      <a:extLst>
                        <a:ext uri="{9D8B030D-6E8A-4147-A177-3AD203B41FA5}">
                          <a16:colId xmlns:a16="http://schemas.microsoft.com/office/drawing/2014/main" val="254318277"/>
                        </a:ext>
                      </a:extLst>
                    </a:gridCol>
                    <a:gridCol w="909897">
                      <a:extLst>
                        <a:ext uri="{9D8B030D-6E8A-4147-A177-3AD203B41FA5}">
                          <a16:colId xmlns:a16="http://schemas.microsoft.com/office/drawing/2014/main" val="2896713145"/>
                        </a:ext>
                      </a:extLst>
                    </a:gridCol>
                    <a:gridCol w="1073039">
                      <a:extLst>
                        <a:ext uri="{9D8B030D-6E8A-4147-A177-3AD203B41FA5}">
                          <a16:colId xmlns:a16="http://schemas.microsoft.com/office/drawing/2014/main" val="3940468193"/>
                        </a:ext>
                      </a:extLst>
                    </a:gridCol>
                  </a:tblGrid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Metric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3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Average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Simulation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648855472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Throughtput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(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pcs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/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hr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146.44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152.51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152.11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150.30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158.48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804655890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651" marR="88651" marT="44325" marB="44325">
                        <a:blipFill>
                          <a:blip r:embed="rId3"/>
                          <a:stretch>
                            <a:fillRect t="-203390" r="-213030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24.61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23.62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23.68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23.97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22.72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35928277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504;p56">
            <a:extLst>
              <a:ext uri="{FF2B5EF4-FFF2-40B4-BE49-F238E27FC236}">
                <a16:creationId xmlns:a16="http://schemas.microsoft.com/office/drawing/2014/main" id="{583593B5-A0CE-5DD5-445D-B2710A8A772E}"/>
              </a:ext>
            </a:extLst>
          </p:cNvPr>
          <p:cNvSpPr txBox="1">
            <a:spLocks/>
          </p:cNvSpPr>
          <p:nvPr/>
        </p:nvSpPr>
        <p:spPr>
          <a:xfrm>
            <a:off x="1265684" y="3973393"/>
            <a:ext cx="6430163" cy="747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Simulation aligns closely with reality, with a deviation of ~5.4%. The gap is expected since human behavior isn’t modeled, yet the model captures L05C’s dynamics and is valid for scenario testing and optimization</a:t>
            </a:r>
          </a:p>
        </p:txBody>
      </p:sp>
      <p:sp>
        <p:nvSpPr>
          <p:cNvPr id="12" name="Google Shape;2504;p56">
            <a:extLst>
              <a:ext uri="{FF2B5EF4-FFF2-40B4-BE49-F238E27FC236}">
                <a16:creationId xmlns:a16="http://schemas.microsoft.com/office/drawing/2014/main" id="{0685508F-D104-2C03-1EFC-B4703859EBD0}"/>
              </a:ext>
            </a:extLst>
          </p:cNvPr>
          <p:cNvSpPr txBox="1">
            <a:spLocks/>
          </p:cNvSpPr>
          <p:nvPr/>
        </p:nvSpPr>
        <p:spPr>
          <a:xfrm>
            <a:off x="1272238" y="1625960"/>
            <a:ext cx="6430163" cy="895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Google Shape;2504;p56">
                <a:extLst>
                  <a:ext uri="{FF2B5EF4-FFF2-40B4-BE49-F238E27FC236}">
                    <a16:creationId xmlns:a16="http://schemas.microsoft.com/office/drawing/2014/main" id="{FD9E4269-F5C7-0740-114C-4925DF7EB1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2238" y="1824315"/>
                <a:ext cx="6430163" cy="74743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sz="1100" dirty="0">
                    <a:solidFill>
                      <a:srgbClr val="112E54"/>
                    </a:solidFill>
                    <a:latin typeface="Inter" panose="020B0604020202020204" charset="0"/>
                    <a:ea typeface="Inter" panose="020B0604020202020204" charset="0"/>
                  </a:rPr>
                  <a:t>Side-by-side comparison between simulated L05C results and Bosch real data across three 25-hour shifts, using Throughput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  <m:t>𝐶𝑇</m:t>
                        </m:r>
                      </m:e>
                      <m:sub>
                        <m: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  <m:t>𝑚𝑒𝑑</m:t>
                        </m:r>
                      </m:sub>
                    </m:sSub>
                    <m:r>
                      <a:rPr lang="pt-PT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 panose="020B0604020202020204" charset="0"/>
                        <a:sym typeface="Inter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rgbClr val="112E54"/>
                    </a:solidFill>
                    <a:latin typeface="Inter" panose="020B0604020202020204" charset="0"/>
                    <a:ea typeface="Inter" panose="020B0604020202020204" charset="0"/>
                  </a:rPr>
                  <a:t>as validation KPIs.</a:t>
                </a:r>
              </a:p>
            </p:txBody>
          </p:sp>
        </mc:Choice>
        <mc:Fallback>
          <p:sp>
            <p:nvSpPr>
              <p:cNvPr id="13" name="Google Shape;2504;p56">
                <a:extLst>
                  <a:ext uri="{FF2B5EF4-FFF2-40B4-BE49-F238E27FC236}">
                    <a16:creationId xmlns:a16="http://schemas.microsoft.com/office/drawing/2014/main" id="{FD9E4269-F5C7-0740-114C-4925DF7EB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38" y="1824315"/>
                <a:ext cx="6430163" cy="747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535;p33">
            <a:extLst>
              <a:ext uri="{FF2B5EF4-FFF2-40B4-BE49-F238E27FC236}">
                <a16:creationId xmlns:a16="http://schemas.microsoft.com/office/drawing/2014/main" id="{79FC9D0D-454B-950D-0017-868D4A3DFE61}"/>
              </a:ext>
            </a:extLst>
          </p:cNvPr>
          <p:cNvSpPr txBox="1">
            <a:spLocks/>
          </p:cNvSpPr>
          <p:nvPr/>
        </p:nvSpPr>
        <p:spPr>
          <a:xfrm>
            <a:off x="563166" y="1112520"/>
            <a:ext cx="7850981" cy="32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3600" i="1" spc="-300"/>
              <a:t>5 </a:t>
            </a:r>
            <a:r>
              <a:rPr lang="en-US" sz="3600" b="0" i="1" spc="-300"/>
              <a:t>–</a:t>
            </a:r>
            <a:r>
              <a:rPr lang="en-US" sz="3600" i="1" spc="-300"/>
              <a:t> Results</a:t>
            </a:r>
            <a:endParaRPr lang="en-US" sz="3600" b="0" i="1" spc="-300" dirty="0"/>
          </a:p>
        </p:txBody>
      </p:sp>
    </p:spTree>
    <p:extLst>
      <p:ext uri="{BB962C8B-B14F-4D97-AF65-F5344CB8AC3E}">
        <p14:creationId xmlns:p14="http://schemas.microsoft.com/office/powerpoint/2010/main" val="645762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42D65E3-4A8C-A765-6D97-0FFB1465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75106605-1512-3231-37FC-8BEDFC30FE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0FB595ED-CD0D-243A-1797-A2F86250EE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398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L05B Case Study Results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Utilization per Station</a:t>
            </a:r>
            <a:endParaRPr lang="en-US" sz="1500" b="1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826C70-4B87-2CE6-D60C-3D266A17A296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06133E-9A01-82D5-5327-6B949D8389B3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23B541-C948-D412-3B84-5C8BB560C076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E83ECAA0-3660-1702-CE77-BA05CFA5208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43697A-7517-C5AF-7C55-993DA62E7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212598"/>
              </p:ext>
            </p:extLst>
          </p:nvPr>
        </p:nvGraphicFramePr>
        <p:xfrm>
          <a:off x="4907676" y="1599852"/>
          <a:ext cx="3872644" cy="268368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15368">
                  <a:extLst>
                    <a:ext uri="{9D8B030D-6E8A-4147-A177-3AD203B41FA5}">
                      <a16:colId xmlns:a16="http://schemas.microsoft.com/office/drawing/2014/main" val="2788716691"/>
                    </a:ext>
                  </a:extLst>
                </a:gridCol>
                <a:gridCol w="857529">
                  <a:extLst>
                    <a:ext uri="{9D8B030D-6E8A-4147-A177-3AD203B41FA5}">
                      <a16:colId xmlns:a16="http://schemas.microsoft.com/office/drawing/2014/main" val="4209325926"/>
                    </a:ext>
                  </a:extLst>
                </a:gridCol>
                <a:gridCol w="799747">
                  <a:extLst>
                    <a:ext uri="{9D8B030D-6E8A-4147-A177-3AD203B41FA5}">
                      <a16:colId xmlns:a16="http://schemas.microsoft.com/office/drawing/2014/main" val="1587958511"/>
                    </a:ext>
                  </a:extLst>
                </a:gridCol>
              </a:tblGrid>
              <a:tr h="144262"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Avg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Time (s)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%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Utilization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28865224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PCB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34.79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1.16%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125855199"/>
                  </a:ext>
                </a:extLst>
              </a:tr>
              <a:tr h="195747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Stick a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Label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13.12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0.44%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42512776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Manual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Component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Assembly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30.70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1.02%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84377484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Workstation Space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68.04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1.02%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43965390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Soldering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31.56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1.05%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36482444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Middle Buffer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1970.46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65.70%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87000514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Sensivity</a:t>
                      </a:r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 Test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27.15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0.91%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088115432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Manual Weld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31.71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1.06%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044803431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StandbyTest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29.21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0.97%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79559766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Rotate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Switch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31.46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1.05%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4066644312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Encasing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31.90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1.06%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55385634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Workstation Buffer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678.34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22.62%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28636269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Final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Test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Individual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20.95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0.70%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356519495"/>
                  </a:ext>
                </a:extLst>
              </a:tr>
            </a:tbl>
          </a:graphicData>
        </a:graphic>
      </p:graphicFrame>
      <p:sp>
        <p:nvSpPr>
          <p:cNvPr id="6" name="Google Shape;2504;p56">
            <a:extLst>
              <a:ext uri="{FF2B5EF4-FFF2-40B4-BE49-F238E27FC236}">
                <a16:creationId xmlns:a16="http://schemas.microsoft.com/office/drawing/2014/main" id="{28651C9C-5E01-995F-A8BC-BE766E5FD372}"/>
              </a:ext>
            </a:extLst>
          </p:cNvPr>
          <p:cNvSpPr txBox="1">
            <a:spLocks/>
          </p:cNvSpPr>
          <p:nvPr/>
        </p:nvSpPr>
        <p:spPr>
          <a:xfrm>
            <a:off x="1253404" y="1863278"/>
            <a:ext cx="2535814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Texto de suporte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" name="Google Shape;536;p33">
            <a:extLst>
              <a:ext uri="{FF2B5EF4-FFF2-40B4-BE49-F238E27FC236}">
                <a16:creationId xmlns:a16="http://schemas.microsoft.com/office/drawing/2014/main" id="{FA03107A-77DD-B7CA-81CB-5E2176E6F665}"/>
              </a:ext>
            </a:extLst>
          </p:cNvPr>
          <p:cNvSpPr txBox="1">
            <a:spLocks/>
          </p:cNvSpPr>
          <p:nvPr/>
        </p:nvSpPr>
        <p:spPr>
          <a:xfrm>
            <a:off x="5465323" y="4370414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U</a:t>
            </a:r>
            <a:r>
              <a:rPr lang="en-US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tilization</a:t>
            </a:r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per Station L05B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513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04EE80FD-CB0B-2F51-B20F-64EA31E6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63BE99AA-7CD4-0738-1985-8937501136B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E2583D65-BACE-D641-A607-35CBD82C3B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39872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L05B Case Study Results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Added Time Value</a:t>
            </a:r>
            <a:endParaRPr lang="en-US" sz="1500" b="1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186175-61E0-9ED7-5BC8-0864B83C7A12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C25C5B3-53F2-6710-9732-AC0457059747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E1DE18-1C94-5219-5CC6-B7A42A58487C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95E3A915-FC9D-3185-EA16-1A3F84F1A306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12" name="Google Shape;2504;p56">
            <a:extLst>
              <a:ext uri="{FF2B5EF4-FFF2-40B4-BE49-F238E27FC236}">
                <a16:creationId xmlns:a16="http://schemas.microsoft.com/office/drawing/2014/main" id="{EBF434CA-F825-A189-303A-AD579BDA5E81}"/>
              </a:ext>
            </a:extLst>
          </p:cNvPr>
          <p:cNvSpPr txBox="1">
            <a:spLocks/>
          </p:cNvSpPr>
          <p:nvPr/>
        </p:nvSpPr>
        <p:spPr>
          <a:xfrm>
            <a:off x="1272238" y="1625960"/>
            <a:ext cx="6430163" cy="895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Google Shape;536;p33">
            <a:extLst>
              <a:ext uri="{FF2B5EF4-FFF2-40B4-BE49-F238E27FC236}">
                <a16:creationId xmlns:a16="http://schemas.microsoft.com/office/drawing/2014/main" id="{50406BEA-EE72-54E7-1124-AD28AB95EE3B}"/>
              </a:ext>
            </a:extLst>
          </p:cNvPr>
          <p:cNvSpPr txBox="1">
            <a:spLocks/>
          </p:cNvSpPr>
          <p:nvPr/>
        </p:nvSpPr>
        <p:spPr>
          <a:xfrm>
            <a:off x="3062061" y="4434996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Added Time Value per Station on L05B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40D4CC-D87E-2A94-C885-8739FC9BB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689102"/>
              </p:ext>
            </p:extLst>
          </p:nvPr>
        </p:nvGraphicFramePr>
        <p:xfrm>
          <a:off x="1401619" y="1750764"/>
          <a:ext cx="6258065" cy="262232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35298">
                  <a:extLst>
                    <a:ext uri="{9D8B030D-6E8A-4147-A177-3AD203B41FA5}">
                      <a16:colId xmlns:a16="http://schemas.microsoft.com/office/drawing/2014/main" val="2788716691"/>
                    </a:ext>
                  </a:extLst>
                </a:gridCol>
                <a:gridCol w="672939">
                  <a:extLst>
                    <a:ext uri="{9D8B030D-6E8A-4147-A177-3AD203B41FA5}">
                      <a16:colId xmlns:a16="http://schemas.microsoft.com/office/drawing/2014/main" val="4209325926"/>
                    </a:ext>
                  </a:extLst>
                </a:gridCol>
                <a:gridCol w="857365">
                  <a:extLst>
                    <a:ext uri="{9D8B030D-6E8A-4147-A177-3AD203B41FA5}">
                      <a16:colId xmlns:a16="http://schemas.microsoft.com/office/drawing/2014/main" val="1587958511"/>
                    </a:ext>
                  </a:extLst>
                </a:gridCol>
                <a:gridCol w="684638">
                  <a:extLst>
                    <a:ext uri="{9D8B030D-6E8A-4147-A177-3AD203B41FA5}">
                      <a16:colId xmlns:a16="http://schemas.microsoft.com/office/drawing/2014/main" val="3128509046"/>
                    </a:ext>
                  </a:extLst>
                </a:gridCol>
                <a:gridCol w="907825">
                  <a:extLst>
                    <a:ext uri="{9D8B030D-6E8A-4147-A177-3AD203B41FA5}">
                      <a16:colId xmlns:a16="http://schemas.microsoft.com/office/drawing/2014/main" val="3183596751"/>
                    </a:ext>
                  </a:extLst>
                </a:gridCol>
              </a:tblGrid>
              <a:tr h="301614"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2935" marR="62935" marT="31468" marB="3146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Automatic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Loading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% of Total Time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extLst>
                  <a:ext uri="{0D108BD9-81ED-4DB2-BD59-A6C34878D82A}">
                    <a16:rowId xmlns:a16="http://schemas.microsoft.com/office/drawing/2014/main" val="1288652247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Stick a Label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6.60%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585519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Component  Assembly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21.59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18.30%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512776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Workstation Space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2.70%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377484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Soldering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13.80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5.45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16.30%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9653905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Middle Buffer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2.00%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482444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Sensivity Test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10.46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8.50%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70005145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Weld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1.55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4.30%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8115432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Standby Test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8.25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6.70%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4803431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Rotate Switch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1.70%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5597667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Encasing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3.20%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6644312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Workstation Buffer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2.20%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385634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Final Test Individual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20.95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16.90%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636269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Assemble Individual Box + Color Ring Check + Scan + Place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7.05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5.85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10.40%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6519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256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84A0CD09-F194-4A5E-3FAB-2C936470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0FA03033-F082-7B11-C3D8-6ACD8B9427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A7A868D6-5594-604F-D50F-D7B47ADAA5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56550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L05B Case Study Results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Comparison with Real Data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C572A1-DB72-8791-F580-B0FD030F88F4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D0C65C-9980-2D11-A439-A6241212A2E2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29393E-D7F9-0DE9-6053-B707D8982D9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DB7A9721-771E-740E-3D81-33811BCB9B86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9D21F8C-A908-A00A-0246-EBC433942B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5903101"/>
                  </p:ext>
                </p:extLst>
              </p:nvPr>
            </p:nvGraphicFramePr>
            <p:xfrm>
              <a:off x="1336292" y="2677864"/>
              <a:ext cx="6288945" cy="107858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010333">
                      <a:extLst>
                        <a:ext uri="{9D8B030D-6E8A-4147-A177-3AD203B41FA5}">
                          <a16:colId xmlns:a16="http://schemas.microsoft.com/office/drawing/2014/main" val="2172320469"/>
                        </a:ext>
                      </a:extLst>
                    </a:gridCol>
                    <a:gridCol w="785233">
                      <a:extLst>
                        <a:ext uri="{9D8B030D-6E8A-4147-A177-3AD203B41FA5}">
                          <a16:colId xmlns:a16="http://schemas.microsoft.com/office/drawing/2014/main" val="2297755274"/>
                        </a:ext>
                      </a:extLst>
                    </a:gridCol>
                    <a:gridCol w="754452">
                      <a:extLst>
                        <a:ext uri="{9D8B030D-6E8A-4147-A177-3AD203B41FA5}">
                          <a16:colId xmlns:a16="http://schemas.microsoft.com/office/drawing/2014/main" val="2033347088"/>
                        </a:ext>
                      </a:extLst>
                    </a:gridCol>
                    <a:gridCol w="755991">
                      <a:extLst>
                        <a:ext uri="{9D8B030D-6E8A-4147-A177-3AD203B41FA5}">
                          <a16:colId xmlns:a16="http://schemas.microsoft.com/office/drawing/2014/main" val="254318277"/>
                        </a:ext>
                      </a:extLst>
                    </a:gridCol>
                    <a:gridCol w="1021735">
                      <a:extLst>
                        <a:ext uri="{9D8B030D-6E8A-4147-A177-3AD203B41FA5}">
                          <a16:colId xmlns:a16="http://schemas.microsoft.com/office/drawing/2014/main" val="2896713145"/>
                        </a:ext>
                      </a:extLst>
                    </a:gridCol>
                    <a:gridCol w="961201">
                      <a:extLst>
                        <a:ext uri="{9D8B030D-6E8A-4147-A177-3AD203B41FA5}">
                          <a16:colId xmlns:a16="http://schemas.microsoft.com/office/drawing/2014/main" val="3940468193"/>
                        </a:ext>
                      </a:extLst>
                    </a:gridCol>
                  </a:tblGrid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Metric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3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Average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Simulation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648855472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Throughtput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(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pcs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/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hr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92.94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96.14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95.76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94.95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103.56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804655890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</m:ctrlPr>
                                </m:sSubPr>
                                <m:e>
                                  <m: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  <m:t>𝐶𝑇</m:t>
                                  </m:r>
                                </m:e>
                                <m:sub>
                                  <m: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  <m:t>𝑚𝑒𝑑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pt-PT" sz="14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(s)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35.32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34.77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35.37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35.15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34.76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35928277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9D21F8C-A908-A00A-0246-EBC433942B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5903101"/>
                  </p:ext>
                </p:extLst>
              </p:nvPr>
            </p:nvGraphicFramePr>
            <p:xfrm>
              <a:off x="1336292" y="2677864"/>
              <a:ext cx="6288945" cy="107858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010333">
                      <a:extLst>
                        <a:ext uri="{9D8B030D-6E8A-4147-A177-3AD203B41FA5}">
                          <a16:colId xmlns:a16="http://schemas.microsoft.com/office/drawing/2014/main" val="2172320469"/>
                        </a:ext>
                      </a:extLst>
                    </a:gridCol>
                    <a:gridCol w="785233">
                      <a:extLst>
                        <a:ext uri="{9D8B030D-6E8A-4147-A177-3AD203B41FA5}">
                          <a16:colId xmlns:a16="http://schemas.microsoft.com/office/drawing/2014/main" val="2297755274"/>
                        </a:ext>
                      </a:extLst>
                    </a:gridCol>
                    <a:gridCol w="754452">
                      <a:extLst>
                        <a:ext uri="{9D8B030D-6E8A-4147-A177-3AD203B41FA5}">
                          <a16:colId xmlns:a16="http://schemas.microsoft.com/office/drawing/2014/main" val="2033347088"/>
                        </a:ext>
                      </a:extLst>
                    </a:gridCol>
                    <a:gridCol w="755991">
                      <a:extLst>
                        <a:ext uri="{9D8B030D-6E8A-4147-A177-3AD203B41FA5}">
                          <a16:colId xmlns:a16="http://schemas.microsoft.com/office/drawing/2014/main" val="254318277"/>
                        </a:ext>
                      </a:extLst>
                    </a:gridCol>
                    <a:gridCol w="1021735">
                      <a:extLst>
                        <a:ext uri="{9D8B030D-6E8A-4147-A177-3AD203B41FA5}">
                          <a16:colId xmlns:a16="http://schemas.microsoft.com/office/drawing/2014/main" val="2896713145"/>
                        </a:ext>
                      </a:extLst>
                    </a:gridCol>
                    <a:gridCol w="961201">
                      <a:extLst>
                        <a:ext uri="{9D8B030D-6E8A-4147-A177-3AD203B41FA5}">
                          <a16:colId xmlns:a16="http://schemas.microsoft.com/office/drawing/2014/main" val="3940468193"/>
                        </a:ext>
                      </a:extLst>
                    </a:gridCol>
                  </a:tblGrid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Metric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1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Shift 3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Average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Simulation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648855472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Throughtput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(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pcs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/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hr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92.94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96.14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95.76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94.95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103.56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804655890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651" marR="88651" marT="44325" marB="44325">
                        <a:blipFill>
                          <a:blip r:embed="rId3"/>
                          <a:stretch>
                            <a:fillRect t="-203390" r="-213030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35.32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34.77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35.37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35.15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34.76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35928277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504;p56">
            <a:extLst>
              <a:ext uri="{FF2B5EF4-FFF2-40B4-BE49-F238E27FC236}">
                <a16:creationId xmlns:a16="http://schemas.microsoft.com/office/drawing/2014/main" id="{2987E189-1AC8-2465-B5E0-104C23F1433C}"/>
              </a:ext>
            </a:extLst>
          </p:cNvPr>
          <p:cNvSpPr txBox="1">
            <a:spLocks/>
          </p:cNvSpPr>
          <p:nvPr/>
        </p:nvSpPr>
        <p:spPr>
          <a:xfrm>
            <a:off x="1265684" y="3973393"/>
            <a:ext cx="6430163" cy="747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 simulation aligns closely with reality, with a deviation of only 9%. Because individual human behaviors are not modeled, and the flow assumes uninterrupted operation, slight output overestimation is expected. </a:t>
            </a:r>
          </a:p>
        </p:txBody>
      </p:sp>
      <p:sp>
        <p:nvSpPr>
          <p:cNvPr id="12" name="Google Shape;2504;p56">
            <a:extLst>
              <a:ext uri="{FF2B5EF4-FFF2-40B4-BE49-F238E27FC236}">
                <a16:creationId xmlns:a16="http://schemas.microsoft.com/office/drawing/2014/main" id="{9DD7D69D-4BD6-5D41-2263-5C2A620A3EDB}"/>
              </a:ext>
            </a:extLst>
          </p:cNvPr>
          <p:cNvSpPr txBox="1">
            <a:spLocks/>
          </p:cNvSpPr>
          <p:nvPr/>
        </p:nvSpPr>
        <p:spPr>
          <a:xfrm>
            <a:off x="1265684" y="1625960"/>
            <a:ext cx="6430163" cy="895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Google Shape;2504;p56">
                <a:extLst>
                  <a:ext uri="{FF2B5EF4-FFF2-40B4-BE49-F238E27FC236}">
                    <a16:creationId xmlns:a16="http://schemas.microsoft.com/office/drawing/2014/main" id="{CBB723A2-4364-77CB-2D29-AAA6E0ECAB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2238" y="1824315"/>
                <a:ext cx="6430163" cy="74743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sz="1100" dirty="0">
                    <a:solidFill>
                      <a:srgbClr val="112E54"/>
                    </a:solidFill>
                    <a:latin typeface="Inter" panose="020B0604020202020204" charset="0"/>
                    <a:ea typeface="Inter" panose="020B0604020202020204" charset="0"/>
                  </a:rPr>
                  <a:t>Side-by-side comparison between simulated L05B results and Bosch real data across three 25-hour shifts, using Throughput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  <m:t>𝐶𝑇</m:t>
                        </m:r>
                      </m:e>
                      <m:sub>
                        <m: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  <m:t>𝑚𝑒𝑑</m:t>
                        </m:r>
                      </m:sub>
                    </m:sSub>
                    <m:r>
                      <a:rPr lang="pt-PT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 panose="020B0604020202020204" charset="0"/>
                        <a:sym typeface="Inter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rgbClr val="112E54"/>
                    </a:solidFill>
                    <a:latin typeface="Inter" panose="020B0604020202020204" charset="0"/>
                    <a:ea typeface="Inter" panose="020B0604020202020204" charset="0"/>
                  </a:rPr>
                  <a:t>as validation KPIs.</a:t>
                </a:r>
              </a:p>
            </p:txBody>
          </p:sp>
        </mc:Choice>
        <mc:Fallback>
          <p:sp>
            <p:nvSpPr>
              <p:cNvPr id="13" name="Google Shape;2504;p56">
                <a:extLst>
                  <a:ext uri="{FF2B5EF4-FFF2-40B4-BE49-F238E27FC236}">
                    <a16:creationId xmlns:a16="http://schemas.microsoft.com/office/drawing/2014/main" id="{CBB723A2-4364-77CB-2D29-AAA6E0ECA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38" y="1824315"/>
                <a:ext cx="6430163" cy="747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146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D69BBA7-E3E9-E216-DFC4-F364F8FE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44508999-467B-E527-09EE-FEA02395E3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ABAD12A9-763D-00EC-9A77-6E3DEC645A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740969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Solution for L05B </a:t>
            </a:r>
            <a:r>
              <a:rPr lang="en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Integration Description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A5C90E-AD49-F167-FAF9-299C9D4B92F1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23CAA5-5E61-05BC-7D8B-5340FB881236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79B3FE-6067-D9EA-4D23-6AE0EEE1F4A4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365216CF-3939-E6A7-0008-E2839A095F1D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17" name="Google Shape;2504;p56">
            <a:extLst>
              <a:ext uri="{FF2B5EF4-FFF2-40B4-BE49-F238E27FC236}">
                <a16:creationId xmlns:a16="http://schemas.microsoft.com/office/drawing/2014/main" id="{6C927824-B027-73D6-8FA3-415E89DDD6CA}"/>
              </a:ext>
            </a:extLst>
          </p:cNvPr>
          <p:cNvSpPr txBox="1">
            <a:spLocks/>
          </p:cNvSpPr>
          <p:nvPr/>
        </p:nvSpPr>
        <p:spPr>
          <a:xfrm>
            <a:off x="759619" y="1863513"/>
            <a:ext cx="3588569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Consolidates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b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Sensitivity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b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Test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+ 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Resistor </a:t>
            </a:r>
            <a:r>
              <a:rPr lang="pt-PT" sz="1100" b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Welding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+ </a:t>
            </a:r>
            <a:r>
              <a:rPr lang="pt-PT" sz="1100" b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Stanby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b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Test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into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one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coordinated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loop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</a:t>
            </a:r>
            <a:r>
              <a:rPr lang="en-US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100" b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cobot</a:t>
            </a:r>
            <a:r>
              <a:rPr lang="en-US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manages the testing, loads components into an autonomous welder, transfers them to the standby test, and outputs to a slide buffer.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Operates within an isolated acrylic or glass enclosure, with the operator feeding into an input buffer and receiving from the slide buffer.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Loading time of N(2.43 s, 0.41 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Processing time of N(17.42 s, 0.80 s).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9BC314-71A3-4FD7-F34C-A40386FBCF6F}"/>
              </a:ext>
            </a:extLst>
          </p:cNvPr>
          <p:cNvGrpSpPr/>
          <p:nvPr/>
        </p:nvGrpSpPr>
        <p:grpSpPr>
          <a:xfrm>
            <a:off x="5024472" y="2963270"/>
            <a:ext cx="3280224" cy="1821224"/>
            <a:chOff x="4055280" y="1750764"/>
            <a:chExt cx="4573255" cy="253913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7BF6388-9651-86AD-6F13-D3998084D9AB}"/>
                </a:ext>
              </a:extLst>
            </p:cNvPr>
            <p:cNvGrpSpPr/>
            <p:nvPr/>
          </p:nvGrpSpPr>
          <p:grpSpPr>
            <a:xfrm>
              <a:off x="4055280" y="1750764"/>
              <a:ext cx="4573255" cy="2539132"/>
              <a:chOff x="4051632" y="1582882"/>
              <a:chExt cx="4573255" cy="253913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D59D4F1-9083-3C75-330B-4099E1B57A54}"/>
                  </a:ext>
                </a:extLst>
              </p:cNvPr>
              <p:cNvGrpSpPr/>
              <p:nvPr/>
            </p:nvGrpSpPr>
            <p:grpSpPr>
              <a:xfrm>
                <a:off x="4051632" y="1582882"/>
                <a:ext cx="4573255" cy="2539132"/>
                <a:chOff x="1957280" y="1750764"/>
                <a:chExt cx="5104749" cy="2834224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560DC4EF-B1E1-04B5-0DBB-6BE10B81225B}"/>
                    </a:ext>
                  </a:extLst>
                </p:cNvPr>
                <p:cNvGrpSpPr/>
                <p:nvPr/>
              </p:nvGrpSpPr>
              <p:grpSpPr>
                <a:xfrm>
                  <a:off x="1957280" y="1750764"/>
                  <a:ext cx="5104749" cy="2834224"/>
                  <a:chOff x="607219" y="2015836"/>
                  <a:chExt cx="4040981" cy="2243606"/>
                </a:xfrm>
              </p:grpSpPr>
              <p:sp>
                <p:nvSpPr>
                  <p:cNvPr id="13" name="Google Shape;2824;p61">
                    <a:extLst>
                      <a:ext uri="{FF2B5EF4-FFF2-40B4-BE49-F238E27FC236}">
                        <a16:creationId xmlns:a16="http://schemas.microsoft.com/office/drawing/2014/main" id="{1204650D-0AF6-4ACA-5756-ED65B5AFF23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7219" y="2015836"/>
                    <a:ext cx="4040981" cy="2243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162" h="181204" extrusionOk="0">
                        <a:moveTo>
                          <a:pt x="4636" y="0"/>
                        </a:moveTo>
                        <a:cubicBezTo>
                          <a:pt x="2053" y="0"/>
                          <a:pt x="0" y="2053"/>
                          <a:pt x="0" y="4636"/>
                        </a:cubicBezTo>
                        <a:lnTo>
                          <a:pt x="0" y="176634"/>
                        </a:lnTo>
                        <a:cubicBezTo>
                          <a:pt x="0" y="179151"/>
                          <a:pt x="2053" y="181204"/>
                          <a:pt x="4636" y="181204"/>
                        </a:cubicBezTo>
                        <a:lnTo>
                          <a:pt x="243526" y="181204"/>
                        </a:lnTo>
                        <a:cubicBezTo>
                          <a:pt x="246109" y="181204"/>
                          <a:pt x="248162" y="179151"/>
                          <a:pt x="248162" y="176634"/>
                        </a:cubicBezTo>
                        <a:lnTo>
                          <a:pt x="248162" y="4636"/>
                        </a:lnTo>
                        <a:cubicBezTo>
                          <a:pt x="248162" y="2053"/>
                          <a:pt x="246109" y="0"/>
                          <a:pt x="243526" y="0"/>
                        </a:cubicBezTo>
                        <a:close/>
                      </a:path>
                    </a:pathLst>
                  </a:custGeom>
                  <a:solidFill>
                    <a:srgbClr val="7F7F7F"/>
                  </a:solidFill>
                  <a:ln w="9525" cap="flat" cmpd="sng">
                    <a:solidFill>
                      <a:schemeClr val="accent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DF27697B-FC8A-8B58-2480-2B83EF3126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r="50112" b="42360"/>
                  <a:stretch>
                    <a:fillRect/>
                  </a:stretch>
                </p:blipFill>
                <p:spPr>
                  <a:xfrm>
                    <a:off x="731075" y="2129313"/>
                    <a:ext cx="3792422" cy="2028355"/>
                  </a:xfrm>
                  <a:prstGeom prst="rect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</p:pic>
            </p:grpSp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87B3A552-8992-8F1C-DE43-A10ED25F7B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13740" y="1888449"/>
                  <a:ext cx="4790757" cy="2560715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5D4FB6CB-1CCE-AF0B-6414-5E86350F4E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14276" y="1882102"/>
                  <a:ext cx="4790757" cy="2567062"/>
                </a:xfrm>
                <a:prstGeom prst="rect">
                  <a:avLst/>
                </a:prstGeom>
              </p:spPr>
            </p:pic>
          </p:grp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1C2BE16-FBCE-1D66-C104-AE448DE4C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1802" y="1700545"/>
                <a:ext cx="4291955" cy="2294100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4899A8C-52AE-4213-2EE6-639A7E4B8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4970" y="1868427"/>
              <a:ext cx="4291955" cy="2306289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8DD3DD-77BF-C367-9471-5D5E1B1D23D4}"/>
              </a:ext>
            </a:extLst>
          </p:cNvPr>
          <p:cNvGrpSpPr/>
          <p:nvPr/>
        </p:nvGrpSpPr>
        <p:grpSpPr>
          <a:xfrm>
            <a:off x="5024472" y="640356"/>
            <a:ext cx="3280224" cy="1821224"/>
            <a:chOff x="4051632" y="1582882"/>
            <a:chExt cx="4573255" cy="253913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BBF6A2B-4034-938C-6C00-7D83AC517E5D}"/>
                </a:ext>
              </a:extLst>
            </p:cNvPr>
            <p:cNvGrpSpPr/>
            <p:nvPr/>
          </p:nvGrpSpPr>
          <p:grpSpPr>
            <a:xfrm>
              <a:off x="4051632" y="1582882"/>
              <a:ext cx="4573255" cy="2539132"/>
              <a:chOff x="1957280" y="1750764"/>
              <a:chExt cx="5104749" cy="283422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F165321-C014-D791-D200-CCD8FEED636F}"/>
                  </a:ext>
                </a:extLst>
              </p:cNvPr>
              <p:cNvGrpSpPr/>
              <p:nvPr/>
            </p:nvGrpSpPr>
            <p:grpSpPr>
              <a:xfrm>
                <a:off x="1957280" y="1750764"/>
                <a:ext cx="5104749" cy="2834224"/>
                <a:chOff x="607219" y="2015836"/>
                <a:chExt cx="4040981" cy="2243606"/>
              </a:xfrm>
            </p:grpSpPr>
            <p:sp>
              <p:nvSpPr>
                <p:cNvPr id="30" name="Google Shape;2824;p61">
                  <a:extLst>
                    <a:ext uri="{FF2B5EF4-FFF2-40B4-BE49-F238E27FC236}">
                      <a16:creationId xmlns:a16="http://schemas.microsoft.com/office/drawing/2014/main" id="{578ADD0A-ED03-54BC-8BD6-1C4D733AB18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07219" y="2015836"/>
                  <a:ext cx="4040981" cy="2243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62" h="181204" extrusionOk="0">
                      <a:moveTo>
                        <a:pt x="4636" y="0"/>
                      </a:moveTo>
                      <a:cubicBezTo>
                        <a:pt x="2053" y="0"/>
                        <a:pt x="0" y="2053"/>
                        <a:pt x="0" y="4636"/>
                      </a:cubicBezTo>
                      <a:lnTo>
                        <a:pt x="0" y="176634"/>
                      </a:lnTo>
                      <a:cubicBezTo>
                        <a:pt x="0" y="179151"/>
                        <a:pt x="2053" y="181204"/>
                        <a:pt x="4636" y="181204"/>
                      </a:cubicBezTo>
                      <a:lnTo>
                        <a:pt x="243526" y="181204"/>
                      </a:lnTo>
                      <a:cubicBezTo>
                        <a:pt x="246109" y="181204"/>
                        <a:pt x="248162" y="179151"/>
                        <a:pt x="248162" y="176634"/>
                      </a:cubicBezTo>
                      <a:lnTo>
                        <a:pt x="248162" y="4636"/>
                      </a:lnTo>
                      <a:cubicBezTo>
                        <a:pt x="248162" y="2053"/>
                        <a:pt x="246109" y="0"/>
                        <a:pt x="243526" y="0"/>
                      </a:cubicBezTo>
                      <a:close/>
                    </a:path>
                  </a:pathLst>
                </a:custGeom>
                <a:solidFill>
                  <a:srgbClr val="7F7F7F"/>
                </a:solidFill>
                <a:ln w="9525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3B92AD1B-3EF3-4C63-B74B-7C5E43CD27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0112" b="42360"/>
                <a:stretch>
                  <a:fillRect/>
                </a:stretch>
              </p:blipFill>
              <p:spPr>
                <a:xfrm>
                  <a:off x="731075" y="2129313"/>
                  <a:ext cx="3792422" cy="2028355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</p:pic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9648F79-C63A-ADE7-2027-D84B3B48E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3740" y="1888449"/>
                <a:ext cx="4790757" cy="2560715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35D346CB-F059-9EA9-68C8-67CE1C3F5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4276" y="1882102"/>
                <a:ext cx="4790757" cy="2567062"/>
              </a:xfrm>
              <a:prstGeom prst="rect">
                <a:avLst/>
              </a:prstGeom>
            </p:spPr>
          </p:pic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BCEB231-6569-1D16-40C8-D736A02C3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91802" y="1700545"/>
              <a:ext cx="4291955" cy="2294100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F6DF6817-E034-521E-67CE-5577B690D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667" y="720087"/>
            <a:ext cx="3078458" cy="1658879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673454-D475-8DA1-B328-6FFB5C874C8F}"/>
              </a:ext>
            </a:extLst>
          </p:cNvPr>
          <p:cNvCxnSpPr>
            <a:cxnSpLocks/>
          </p:cNvCxnSpPr>
          <p:nvPr/>
        </p:nvCxnSpPr>
        <p:spPr>
          <a:xfrm>
            <a:off x="6670964" y="2461580"/>
            <a:ext cx="0" cy="501690"/>
          </a:xfrm>
          <a:prstGeom prst="straightConnector1">
            <a:avLst/>
          </a:prstGeom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Google Shape;536;p33">
            <a:extLst>
              <a:ext uri="{FF2B5EF4-FFF2-40B4-BE49-F238E27FC236}">
                <a16:creationId xmlns:a16="http://schemas.microsoft.com/office/drawing/2014/main" id="{BA077DDA-93DB-C1DF-5F9C-289F2E72F351}"/>
              </a:ext>
            </a:extLst>
          </p:cNvPr>
          <p:cNvSpPr txBox="1">
            <a:spLocks/>
          </p:cNvSpPr>
          <p:nvPr/>
        </p:nvSpPr>
        <p:spPr>
          <a:xfrm>
            <a:off x="5281354" y="1838159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L05B Bosch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Model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40" name="Google Shape;536;p33">
            <a:extLst>
              <a:ext uri="{FF2B5EF4-FFF2-40B4-BE49-F238E27FC236}">
                <a16:creationId xmlns:a16="http://schemas.microsoft.com/office/drawing/2014/main" id="{680CAA16-43CE-93A4-BF0D-CC5B998C9CFE}"/>
              </a:ext>
            </a:extLst>
          </p:cNvPr>
          <p:cNvSpPr txBox="1">
            <a:spLocks/>
          </p:cNvSpPr>
          <p:nvPr/>
        </p:nvSpPr>
        <p:spPr>
          <a:xfrm>
            <a:off x="5288423" y="4217337"/>
            <a:ext cx="276508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L05B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Solution</a:t>
            </a:r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pt-PT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Model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189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FA72AF5-FDCE-AB5D-0392-244BC60D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3D08AE51-126B-F5EF-B4E8-0B653E28DB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964781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Solution for L05B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Implementation Cost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5591A2-C8A7-801B-87D9-EFD6217A68B7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400D82-7B3E-554C-AEEC-E172BEA28850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35CB2A-51EF-426D-A048-FE486C8E0A55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4B4B15CD-90CF-1D65-DF3D-26216AF3349E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17" name="Google Shape;2504;p56">
            <a:extLst>
              <a:ext uri="{FF2B5EF4-FFF2-40B4-BE49-F238E27FC236}">
                <a16:creationId xmlns:a16="http://schemas.microsoft.com/office/drawing/2014/main" id="{B3783C06-8739-F06C-B471-128E0639EEEC}"/>
              </a:ext>
            </a:extLst>
          </p:cNvPr>
          <p:cNvSpPr txBox="1">
            <a:spLocks/>
          </p:cNvSpPr>
          <p:nvPr/>
        </p:nvSpPr>
        <p:spPr>
          <a:xfrm>
            <a:off x="5712619" y="1750764"/>
            <a:ext cx="2824162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Estimating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that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integration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would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require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5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working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days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and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assuming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effective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daily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workload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of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7.70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hours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. </a:t>
            </a:r>
          </a:p>
          <a:p>
            <a:endParaRPr lang="pt-PT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Given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average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production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of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94.95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pieces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hour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and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a PPC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of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8.6€,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temporary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suspension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would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cost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about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31,438€.</a:t>
            </a:r>
          </a:p>
          <a:p>
            <a:endParaRPr lang="pt-PT" sz="1100" b="1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endParaRPr lang="pt-PT" sz="1100" b="1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  <a:p>
            <a:pPr algn="ctr"/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final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implementation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would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cost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at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a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minimum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of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  <a:b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pt-PT" sz="1100" b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94,438 €</a:t>
            </a:r>
            <a:endParaRPr lang="en-US" sz="1100" b="1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Google Shape;2504;p56">
            <a:extLst>
              <a:ext uri="{FF2B5EF4-FFF2-40B4-BE49-F238E27FC236}">
                <a16:creationId xmlns:a16="http://schemas.microsoft.com/office/drawing/2014/main" id="{4B989F53-6637-4E2D-D972-D5D2227C24F3}"/>
              </a:ext>
            </a:extLst>
          </p:cNvPr>
          <p:cNvSpPr txBox="1">
            <a:spLocks/>
          </p:cNvSpPr>
          <p:nvPr/>
        </p:nvSpPr>
        <p:spPr>
          <a:xfrm>
            <a:off x="6706114" y="606474"/>
            <a:ext cx="2106323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* Rough Estimates Based on Feedback from Bosch Industrial Engineers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A7EB65-3C8C-C923-3C5F-E07D4263D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87649"/>
              </p:ext>
            </p:extLst>
          </p:nvPr>
        </p:nvGraphicFramePr>
        <p:xfrm>
          <a:off x="607219" y="1750764"/>
          <a:ext cx="4782186" cy="29667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302318">
                  <a:extLst>
                    <a:ext uri="{9D8B030D-6E8A-4147-A177-3AD203B41FA5}">
                      <a16:colId xmlns:a16="http://schemas.microsoft.com/office/drawing/2014/main" val="139183243"/>
                    </a:ext>
                  </a:extLst>
                </a:gridCol>
                <a:gridCol w="1479868">
                  <a:extLst>
                    <a:ext uri="{9D8B030D-6E8A-4147-A177-3AD203B41FA5}">
                      <a16:colId xmlns:a16="http://schemas.microsoft.com/office/drawing/2014/main" val="2618379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 err="1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Cost</a:t>
                      </a:r>
                      <a:r>
                        <a:rPr lang="pt-PT" sz="1100" b="1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1" dirty="0" err="1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Component</a:t>
                      </a:r>
                      <a:endParaRPr lang="en-US" sz="11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 err="1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Estimated</a:t>
                      </a:r>
                      <a:r>
                        <a:rPr lang="pt-PT" sz="1100" b="1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1" dirty="0" err="1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Cost</a:t>
                      </a:r>
                      <a:r>
                        <a:rPr lang="pt-PT" sz="1100" b="1" dirty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 (</a:t>
                      </a:r>
                      <a:r>
                        <a:rPr lang="en-US" sz="1100" b="1" u="none" strike="noStrike" cap="non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  <a:sym typeface="Arial"/>
                        </a:rPr>
                        <a:t>€)</a:t>
                      </a:r>
                      <a:endParaRPr lang="en-US" sz="11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31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Cobot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arm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(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including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controller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base software)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30,000 – 50,000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8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Custom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gripper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/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end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effector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5,000 – 10,000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6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Safety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enclosuyre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and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physical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isolation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5,000 – 15,000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88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Integration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,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programming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,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and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validation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15,000 – 30,000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906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Layout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adaptation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and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auxiliary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rquipment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5,000 – 10,000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3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Operator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training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and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knowledge</a:t>
                      </a:r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0" dirty="0" err="1">
                          <a:latin typeface="Inter" panose="020B0604020202020204" charset="0"/>
                          <a:ea typeface="Inter" panose="020B0604020202020204" charset="0"/>
                        </a:rPr>
                        <a:t>transfer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0" dirty="0">
                          <a:latin typeface="Inter" panose="020B0604020202020204" charset="0"/>
                          <a:ea typeface="Inter" panose="020B0604020202020204" charset="0"/>
                        </a:rPr>
                        <a:t>3,000 – 7,000</a:t>
                      </a:r>
                      <a:endParaRPr lang="en-US" sz="1100" b="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35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b="1" dirty="0">
                          <a:latin typeface="Inter" panose="020B0604020202020204" charset="0"/>
                          <a:ea typeface="Inter" panose="020B0604020202020204" charset="0"/>
                        </a:rPr>
                        <a:t>Total </a:t>
                      </a:r>
                      <a:r>
                        <a:rPr lang="pt-PT" sz="1100" b="1" dirty="0" err="1">
                          <a:latin typeface="Inter" panose="020B0604020202020204" charset="0"/>
                          <a:ea typeface="Inter" panose="020B0604020202020204" charset="0"/>
                        </a:rPr>
                        <a:t>Estimated</a:t>
                      </a:r>
                      <a:r>
                        <a:rPr lang="pt-PT" sz="1100" b="1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1100" b="1" dirty="0" err="1">
                          <a:latin typeface="Inter" panose="020B0604020202020204" charset="0"/>
                          <a:ea typeface="Inter" panose="020B0604020202020204" charset="0"/>
                        </a:rPr>
                        <a:t>Cost</a:t>
                      </a:r>
                      <a:endParaRPr lang="en-US" sz="1100" b="1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latin typeface="Inter" panose="020B0604020202020204" charset="0"/>
                          <a:ea typeface="Inter" panose="020B0604020202020204" charset="0"/>
                        </a:rPr>
                        <a:t>63,000 – 122,000</a:t>
                      </a:r>
                      <a:endParaRPr lang="en-US" sz="1100" b="1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268902"/>
                  </a:ext>
                </a:extLst>
              </a:tr>
            </a:tbl>
          </a:graphicData>
        </a:graphic>
      </p:graphicFrame>
      <p:sp>
        <p:nvSpPr>
          <p:cNvPr id="20" name="Google Shape;535;p33">
            <a:extLst>
              <a:ext uri="{FF2B5EF4-FFF2-40B4-BE49-F238E27FC236}">
                <a16:creationId xmlns:a16="http://schemas.microsoft.com/office/drawing/2014/main" id="{AC5C9FD1-85B5-EA7A-6B7E-3B95CEE26DD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</p:spTree>
    <p:extLst>
      <p:ext uri="{BB962C8B-B14F-4D97-AF65-F5344CB8AC3E}">
        <p14:creationId xmlns:p14="http://schemas.microsoft.com/office/powerpoint/2010/main" val="2026299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83718528-226F-9FC8-10C6-9A64B3DA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99998F90-CEB9-0E63-545C-29CA6082514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2A791537-AC1B-C6B9-0105-48CD2A86E9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4165672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Solution for L05B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Implementation Results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B2DBF5-FA4C-9AA0-0D01-1B2EFBC0358B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402255-FE21-0853-74D3-26229793C718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5BE43C-53CA-818F-9E02-FA625321031A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D8F2DD04-E83C-098C-2694-D72BE918BB77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7559AAD-CBD3-701D-E5D9-75A744EE2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928096"/>
                  </p:ext>
                </p:extLst>
              </p:nvPr>
            </p:nvGraphicFramePr>
            <p:xfrm>
              <a:off x="2143653" y="2613116"/>
              <a:ext cx="4856691" cy="107858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70659">
                      <a:extLst>
                        <a:ext uri="{9D8B030D-6E8A-4147-A177-3AD203B41FA5}">
                          <a16:colId xmlns:a16="http://schemas.microsoft.com/office/drawing/2014/main" val="2172320469"/>
                        </a:ext>
                      </a:extLst>
                    </a:gridCol>
                    <a:gridCol w="1001570">
                      <a:extLst>
                        <a:ext uri="{9D8B030D-6E8A-4147-A177-3AD203B41FA5}">
                          <a16:colId xmlns:a16="http://schemas.microsoft.com/office/drawing/2014/main" val="2896713145"/>
                        </a:ext>
                      </a:extLst>
                    </a:gridCol>
                    <a:gridCol w="942231">
                      <a:extLst>
                        <a:ext uri="{9D8B030D-6E8A-4147-A177-3AD203B41FA5}">
                          <a16:colId xmlns:a16="http://schemas.microsoft.com/office/drawing/2014/main" val="3940468193"/>
                        </a:ext>
                      </a:extLst>
                    </a:gridCol>
                    <a:gridCol w="942231">
                      <a:extLst>
                        <a:ext uri="{9D8B030D-6E8A-4147-A177-3AD203B41FA5}">
                          <a16:colId xmlns:a16="http://schemas.microsoft.com/office/drawing/2014/main" val="816664261"/>
                        </a:ext>
                      </a:extLst>
                    </a:gridCol>
                  </a:tblGrid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L05B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Real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Simulation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Solution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648855472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Throughtput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(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pcs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/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hr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94.95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103.56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123.40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804655890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</m:ctrlPr>
                                </m:sSubPr>
                                <m:e>
                                  <m: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  <m:t>𝐶𝑇</m:t>
                                  </m:r>
                                </m:e>
                                <m:sub>
                                  <m:r>
                                    <a:rPr lang="pt-PT" sz="1400" b="0" i="1" smtClean="0">
                                      <a:solidFill>
                                        <a:schemeClr val="bg1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Inter" panose="020B0604020202020204" charset="0"/>
                                      <a:sym typeface="Inter"/>
                                    </a:rPr>
                                    <m:t>𝑚𝑒𝑑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pt-PT" sz="14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(s)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35.15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34.76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29.17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35928277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7559AAD-CBD3-701D-E5D9-75A744EE23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5928096"/>
                  </p:ext>
                </p:extLst>
              </p:nvPr>
            </p:nvGraphicFramePr>
            <p:xfrm>
              <a:off x="2143653" y="2613116"/>
              <a:ext cx="4856691" cy="1078581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70659">
                      <a:extLst>
                        <a:ext uri="{9D8B030D-6E8A-4147-A177-3AD203B41FA5}">
                          <a16:colId xmlns:a16="http://schemas.microsoft.com/office/drawing/2014/main" val="2172320469"/>
                        </a:ext>
                      </a:extLst>
                    </a:gridCol>
                    <a:gridCol w="1001570">
                      <a:extLst>
                        <a:ext uri="{9D8B030D-6E8A-4147-A177-3AD203B41FA5}">
                          <a16:colId xmlns:a16="http://schemas.microsoft.com/office/drawing/2014/main" val="2896713145"/>
                        </a:ext>
                      </a:extLst>
                    </a:gridCol>
                    <a:gridCol w="942231">
                      <a:extLst>
                        <a:ext uri="{9D8B030D-6E8A-4147-A177-3AD203B41FA5}">
                          <a16:colId xmlns:a16="http://schemas.microsoft.com/office/drawing/2014/main" val="3940468193"/>
                        </a:ext>
                      </a:extLst>
                    </a:gridCol>
                    <a:gridCol w="942231">
                      <a:extLst>
                        <a:ext uri="{9D8B030D-6E8A-4147-A177-3AD203B41FA5}">
                          <a16:colId xmlns:a16="http://schemas.microsoft.com/office/drawing/2014/main" val="816664261"/>
                        </a:ext>
                      </a:extLst>
                    </a:gridCol>
                  </a:tblGrid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L05B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Real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Simulation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Solution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648855472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Throughtput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 (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pcs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/</a:t>
                          </a:r>
                          <a:r>
                            <a:rPr lang="pt-PT" sz="1100" b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hr</a:t>
                          </a:r>
                          <a:r>
                            <a:rPr lang="pt-PT" sz="1100" b="1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)</a:t>
                          </a:r>
                          <a:endParaRPr lang="en-US" sz="1100" b="1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94.95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103.56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123.40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2804655890"/>
                      </a:ext>
                    </a:extLst>
                  </a:tr>
                  <a:tr h="3595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651" marR="88651" marT="44325" marB="44325">
                        <a:blipFill>
                          <a:blip r:embed="rId3"/>
                          <a:stretch>
                            <a:fillRect t="-203390" r="-146605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35.15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34.76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tc>
                      <a:txBody>
                        <a:bodyPr/>
                        <a:lstStyle/>
                        <a:p>
                          <a:r>
                            <a:rPr lang="pt-PT" sz="1100" dirty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Inter" panose="020B0604020202020204" charset="0"/>
                              <a:ea typeface="Inter" panose="020B0604020202020204" charset="0"/>
                            </a:rPr>
                            <a:t>29.17</a:t>
                          </a:r>
                          <a:endParaRPr lang="en-US" sz="1100" dirty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Inter" panose="020B0604020202020204" charset="0"/>
                            <a:ea typeface="Inter" panose="020B0604020202020204" charset="0"/>
                          </a:endParaRPr>
                        </a:p>
                      </a:txBody>
                      <a:tcPr marL="88651" marR="88651" marT="44325" marB="44325"/>
                    </a:tc>
                    <a:extLst>
                      <a:ext uri="{0D108BD9-81ED-4DB2-BD59-A6C34878D82A}">
                        <a16:rowId xmlns:a16="http://schemas.microsoft.com/office/drawing/2014/main" val="35928277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2504;p56">
                <a:extLst>
                  <a:ext uri="{FF2B5EF4-FFF2-40B4-BE49-F238E27FC236}">
                    <a16:creationId xmlns:a16="http://schemas.microsoft.com/office/drawing/2014/main" id="{766F8916-ABA0-3AB1-F260-9F34B0D0B4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3573" y="1824315"/>
                <a:ext cx="6430163" cy="74743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sz="1100" dirty="0">
                    <a:solidFill>
                      <a:srgbClr val="112E54"/>
                    </a:solidFill>
                    <a:latin typeface="Inter" panose="020B0604020202020204" charset="0"/>
                    <a:ea typeface="Inter" panose="020B0604020202020204" charset="0"/>
                  </a:rPr>
                  <a:t>Side-by-side comparison between the real, the simulated and the solution L05B throughput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</m:ctrlPr>
                      </m:sSubPr>
                      <m:e>
                        <m: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  <m:t>𝐶𝑇</m:t>
                        </m:r>
                      </m:e>
                      <m:sub>
                        <m:r>
                          <a:rPr lang="pt-PT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Inter" panose="020B0604020202020204" charset="0"/>
                            <a:sym typeface="Inter"/>
                          </a:rPr>
                          <m:t>𝑚𝑒𝑑</m:t>
                        </m:r>
                      </m:sub>
                    </m:sSub>
                    <m:r>
                      <a:rPr lang="pt-PT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 panose="020B0604020202020204" charset="0"/>
                        <a:sym typeface="Inter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rgbClr val="112E54"/>
                    </a:solidFill>
                    <a:latin typeface="Inter" panose="020B0604020202020204" charset="0"/>
                    <a:ea typeface="Inter" panose="020B0604020202020204" charset="0"/>
                  </a:rPr>
                  <a:t>as validation KPIs.</a:t>
                </a:r>
              </a:p>
            </p:txBody>
          </p:sp>
        </mc:Choice>
        <mc:Fallback>
          <p:sp>
            <p:nvSpPr>
              <p:cNvPr id="8" name="Google Shape;2504;p56">
                <a:extLst>
                  <a:ext uri="{FF2B5EF4-FFF2-40B4-BE49-F238E27FC236}">
                    <a16:creationId xmlns:a16="http://schemas.microsoft.com/office/drawing/2014/main" id="{766F8916-ABA0-3AB1-F260-9F34B0D0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73" y="1824315"/>
                <a:ext cx="6430163" cy="747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504;p56">
            <a:extLst>
              <a:ext uri="{FF2B5EF4-FFF2-40B4-BE49-F238E27FC236}">
                <a16:creationId xmlns:a16="http://schemas.microsoft.com/office/drawing/2014/main" id="{E7787A37-615D-2485-3390-97A55937DF2D}"/>
              </a:ext>
            </a:extLst>
          </p:cNvPr>
          <p:cNvSpPr txBox="1">
            <a:spLocks/>
          </p:cNvSpPr>
          <p:nvPr/>
        </p:nvSpPr>
        <p:spPr>
          <a:xfrm>
            <a:off x="1829732" y="4163308"/>
            <a:ext cx="5317844" cy="747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solution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represents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a 19%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improvement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in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production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1100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throughput</a:t>
            </a:r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.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2504;p56">
            <a:extLst>
              <a:ext uri="{FF2B5EF4-FFF2-40B4-BE49-F238E27FC236}">
                <a16:creationId xmlns:a16="http://schemas.microsoft.com/office/drawing/2014/main" id="{02E67CA0-0645-AF5F-CA63-1C77861616B8}"/>
              </a:ext>
            </a:extLst>
          </p:cNvPr>
          <p:cNvSpPr txBox="1">
            <a:spLocks/>
          </p:cNvSpPr>
          <p:nvPr/>
        </p:nvSpPr>
        <p:spPr>
          <a:xfrm>
            <a:off x="6706114" y="606474"/>
            <a:ext cx="2106323" cy="668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* % </a:t>
            </a:r>
            <a:r>
              <a:rPr lang="pt-PT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improvement</a:t>
            </a:r>
            <a:r>
              <a:rPr lang="pt-PT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value</a:t>
            </a:r>
            <a:r>
              <a:rPr lang="pt-PT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wrong</a:t>
            </a:r>
            <a:r>
              <a:rPr lang="pt-PT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in </a:t>
            </a:r>
            <a:r>
              <a:rPr lang="pt-PT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the</a:t>
            </a:r>
            <a:r>
              <a:rPr lang="pt-PT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disseration</a:t>
            </a:r>
            <a:r>
              <a:rPr lang="pt-PT" sz="700" i="1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pt-PT" sz="700" i="1" dirty="0" err="1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document</a:t>
            </a:r>
            <a:endParaRPr lang="en-US" sz="700" i="1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452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84FB41-67C3-7F6E-05B2-6D13527F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7E22728A-895F-01A5-74C9-E4776CBF6B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4165672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Solution for L05B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Process Time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4C62149-7738-0112-78DD-EC94F4E6DD49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8E337D-8C45-85DB-0F54-191F1F0BB23F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EE42EF-7E84-D021-742D-99DA3FE4F28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3F98F888-46CA-2C1E-4FE8-84181FFE53A4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739572-A879-5F6B-8EC9-D118F855A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2411"/>
              </p:ext>
            </p:extLst>
          </p:nvPr>
        </p:nvGraphicFramePr>
        <p:xfrm>
          <a:off x="4572000" y="1599852"/>
          <a:ext cx="4015519" cy="268368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58243">
                  <a:extLst>
                    <a:ext uri="{9D8B030D-6E8A-4147-A177-3AD203B41FA5}">
                      <a16:colId xmlns:a16="http://schemas.microsoft.com/office/drawing/2014/main" val="2788716691"/>
                    </a:ext>
                  </a:extLst>
                </a:gridCol>
                <a:gridCol w="857529">
                  <a:extLst>
                    <a:ext uri="{9D8B030D-6E8A-4147-A177-3AD203B41FA5}">
                      <a16:colId xmlns:a16="http://schemas.microsoft.com/office/drawing/2014/main" val="4209325926"/>
                    </a:ext>
                  </a:extLst>
                </a:gridCol>
                <a:gridCol w="799747">
                  <a:extLst>
                    <a:ext uri="{9D8B030D-6E8A-4147-A177-3AD203B41FA5}">
                      <a16:colId xmlns:a16="http://schemas.microsoft.com/office/drawing/2014/main" val="1587958511"/>
                    </a:ext>
                  </a:extLst>
                </a:gridCol>
              </a:tblGrid>
              <a:tr h="144262"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Avg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Time (s)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Utilization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28865224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PCB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29.25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1.16%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125855199"/>
                  </a:ext>
                </a:extLst>
              </a:tr>
              <a:tr h="195747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Stick a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Label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21.59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0.38%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42512776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Manual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Component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Assembly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21.59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1.08%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84377484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Workstation Space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3.30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0.16%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43965390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Soldering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15.82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0.79%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36482444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Middle Buffer L05B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810.31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40.42%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870005145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Cobot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Input Buffer L05BV2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29.19</a:t>
                      </a: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1.46%</a:t>
                      </a: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15432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Cobot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(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Sensitibity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+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Weld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+ Standby) L05BV2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96.31</a:t>
                      </a: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4.80%</a:t>
                      </a: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803431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Cobot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Output Buffer L05BV2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268.51</a:t>
                      </a: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13.40%</a:t>
                      </a:r>
                    </a:p>
                  </a:txBody>
                  <a:tcPr marL="69459" marR="69459" marT="34730" marB="3473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597667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Rotate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Switch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29.09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1.45%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4066644312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Encasing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29.80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1.49%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2553856349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Workstation Buffer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642.70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32.06%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1286362698"/>
                  </a:ext>
                </a:extLst>
              </a:tr>
              <a:tr h="185225">
                <a:tc>
                  <a:txBody>
                    <a:bodyPr/>
                    <a:lstStyle/>
                    <a:p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Final </a:t>
                      </a:r>
                      <a:r>
                        <a:rPr lang="pt-PT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Test</a:t>
                      </a:r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 Individual L05B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20.95</a:t>
                      </a:r>
                    </a:p>
                  </a:txBody>
                  <a:tcPr marL="69459" marR="69459" marT="34730" marB="34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1.05%</a:t>
                      </a:r>
                    </a:p>
                  </a:txBody>
                  <a:tcPr marL="69459" marR="69459" marT="34730" marB="34730"/>
                </a:tc>
                <a:extLst>
                  <a:ext uri="{0D108BD9-81ED-4DB2-BD59-A6C34878D82A}">
                    <a16:rowId xmlns:a16="http://schemas.microsoft.com/office/drawing/2014/main" val="3356519495"/>
                  </a:ext>
                </a:extLst>
              </a:tr>
            </a:tbl>
          </a:graphicData>
        </a:graphic>
      </p:graphicFrame>
      <p:sp>
        <p:nvSpPr>
          <p:cNvPr id="6" name="Google Shape;2504;p56">
            <a:extLst>
              <a:ext uri="{FF2B5EF4-FFF2-40B4-BE49-F238E27FC236}">
                <a16:creationId xmlns:a16="http://schemas.microsoft.com/office/drawing/2014/main" id="{85140991-DEA7-2431-2332-32F963B9366D}"/>
              </a:ext>
            </a:extLst>
          </p:cNvPr>
          <p:cNvSpPr txBox="1">
            <a:spLocks/>
          </p:cNvSpPr>
          <p:nvPr/>
        </p:nvSpPr>
        <p:spPr>
          <a:xfrm>
            <a:off x="1253404" y="1863278"/>
            <a:ext cx="2535814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Texto de suporte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" name="Google Shape;536;p33">
            <a:extLst>
              <a:ext uri="{FF2B5EF4-FFF2-40B4-BE49-F238E27FC236}">
                <a16:creationId xmlns:a16="http://schemas.microsoft.com/office/drawing/2014/main" id="{8F6AC2EE-BCF7-D0CC-C3F4-5B08F51CF79D}"/>
              </a:ext>
            </a:extLst>
          </p:cNvPr>
          <p:cNvSpPr txBox="1">
            <a:spLocks/>
          </p:cNvSpPr>
          <p:nvPr/>
        </p:nvSpPr>
        <p:spPr>
          <a:xfrm>
            <a:off x="4572000" y="4370414"/>
            <a:ext cx="4015519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pt-PT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U</a:t>
            </a:r>
            <a:r>
              <a:rPr lang="en-US" sz="1000" b="1" dirty="0" err="1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tilization</a:t>
            </a:r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 per Station on L05B Solution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15" name="Google Shape;535;p33">
            <a:extLst>
              <a:ext uri="{FF2B5EF4-FFF2-40B4-BE49-F238E27FC236}">
                <a16:creationId xmlns:a16="http://schemas.microsoft.com/office/drawing/2014/main" id="{F9AF0808-EC17-255D-4E3B-9A9D19897DB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</p:spTree>
    <p:extLst>
      <p:ext uri="{BB962C8B-B14F-4D97-AF65-F5344CB8AC3E}">
        <p14:creationId xmlns:p14="http://schemas.microsoft.com/office/powerpoint/2010/main" val="6404461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F4D6DFE4-5E2D-6AC2-77D2-609DF7DDB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EB66A3C0-41D3-F86D-528D-1BB04C9EE02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DC800D15-3056-1312-A921-EA07E1BC74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4165672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Solution for L05B </a:t>
            </a:r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– Added Time Value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4F1CD60-1D3C-ED85-3A99-117A5F96D7AB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507D25-C730-ADBA-B0C1-A5E2A9C2E4B0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F6B95E-13E0-3282-4AF9-0DCF83EED608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D5CF0204-E392-D3A7-09ED-BDF1D9D17CCA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BFA015-20E0-7706-FCF2-E8ACF27DA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9219"/>
              </p:ext>
            </p:extLst>
          </p:nvPr>
        </p:nvGraphicFramePr>
        <p:xfrm>
          <a:off x="1359622" y="1913208"/>
          <a:ext cx="6258065" cy="226529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35298">
                  <a:extLst>
                    <a:ext uri="{9D8B030D-6E8A-4147-A177-3AD203B41FA5}">
                      <a16:colId xmlns:a16="http://schemas.microsoft.com/office/drawing/2014/main" val="2788716691"/>
                    </a:ext>
                  </a:extLst>
                </a:gridCol>
                <a:gridCol w="672939">
                  <a:extLst>
                    <a:ext uri="{9D8B030D-6E8A-4147-A177-3AD203B41FA5}">
                      <a16:colId xmlns:a16="http://schemas.microsoft.com/office/drawing/2014/main" val="4209325926"/>
                    </a:ext>
                  </a:extLst>
                </a:gridCol>
                <a:gridCol w="857365">
                  <a:extLst>
                    <a:ext uri="{9D8B030D-6E8A-4147-A177-3AD203B41FA5}">
                      <a16:colId xmlns:a16="http://schemas.microsoft.com/office/drawing/2014/main" val="1587958511"/>
                    </a:ext>
                  </a:extLst>
                </a:gridCol>
                <a:gridCol w="684638">
                  <a:extLst>
                    <a:ext uri="{9D8B030D-6E8A-4147-A177-3AD203B41FA5}">
                      <a16:colId xmlns:a16="http://schemas.microsoft.com/office/drawing/2014/main" val="3128509046"/>
                    </a:ext>
                  </a:extLst>
                </a:gridCol>
                <a:gridCol w="907825">
                  <a:extLst>
                    <a:ext uri="{9D8B030D-6E8A-4147-A177-3AD203B41FA5}">
                      <a16:colId xmlns:a16="http://schemas.microsoft.com/office/drawing/2014/main" val="3183596751"/>
                    </a:ext>
                  </a:extLst>
                </a:gridCol>
              </a:tblGrid>
              <a:tr h="301614">
                <a:tc>
                  <a:txBody>
                    <a:bodyPr/>
                    <a:lstStyle/>
                    <a:p>
                      <a:pPr algn="ctr"/>
                      <a:r>
                        <a:rPr lang="pt-PT" sz="800" dirty="0">
                          <a:latin typeface="Inter" panose="020B0604020202020204" charset="0"/>
                          <a:ea typeface="Inter" panose="020B0604020202020204" charset="0"/>
                        </a:rPr>
                        <a:t>Station</a:t>
                      </a:r>
                      <a:endParaRPr lang="en-US" sz="800" dirty="0"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62935" marR="62935" marT="31468" marB="3146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Automatic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Loading (s)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% of Total Time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7383" marR="7383" marT="7383" marB="0" anchor="ctr"/>
                </a:tc>
                <a:extLst>
                  <a:ext uri="{0D108BD9-81ED-4DB2-BD59-A6C34878D82A}">
                    <a16:rowId xmlns:a16="http://schemas.microsoft.com/office/drawing/2014/main" val="1288652247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Stick a Label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8.30%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585519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Manual Component  Assembly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21.59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23.10%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512776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Workstation Space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3.40%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377484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Soldering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13.80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1.95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16.80%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9653905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Middle Buffer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0.5%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482444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dirty="0" err="1">
                          <a:latin typeface="Inter" panose="020B0604020202020204" charset="0"/>
                          <a:ea typeface="Inter" panose="020B0604020202020204" charset="0"/>
                        </a:rPr>
                        <a:t>Cobot</a:t>
                      </a:r>
                      <a:r>
                        <a:rPr lang="en-US" sz="800" dirty="0">
                          <a:latin typeface="Inter" panose="020B0604020202020204" charset="0"/>
                          <a:ea typeface="Inter" panose="020B0604020202020204" charset="0"/>
                        </a:rPr>
                        <a:t> (Sensitivity + Weld + Standby)</a:t>
                      </a:r>
                      <a:endParaRPr lang="en-US" sz="800" b="0" i="0" u="none" strike="noStrike" dirty="0">
                        <a:solidFill>
                          <a:schemeClr val="accent2">
                            <a:lumMod val="10000"/>
                          </a:schemeClr>
                        </a:solidFill>
                        <a:effectLst/>
                        <a:latin typeface="Inter" panose="020B0604020202020204" charset="0"/>
                        <a:ea typeface="Inter" panose="020B0604020202020204" charset="0"/>
                      </a:endParaRP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12.33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11.30%</a:t>
                      </a:r>
                    </a:p>
                  </a:txBody>
                  <a:tcPr marL="9525" marR="9525" marT="9525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005145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Rotate Switch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1.90%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5597667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Encasing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3.50%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6644312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Workstation Buffer L05B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2.40%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3856349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Final Test Individual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20.95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17.90%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6362698"/>
                  </a:ext>
                </a:extLst>
              </a:tr>
              <a:tr h="178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Assemble Individual Box + Color Ring Check + Scan + Place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7.07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5.83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accent2">
                              <a:lumMod val="10000"/>
                            </a:schemeClr>
                          </a:solidFill>
                          <a:effectLst/>
                          <a:latin typeface="Inter" panose="020B0604020202020204" charset="0"/>
                          <a:ea typeface="Inter" panose="020B0604020202020204" charset="0"/>
                        </a:rPr>
                        <a:t>11.00%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6519495"/>
                  </a:ext>
                </a:extLst>
              </a:tr>
            </a:tbl>
          </a:graphicData>
        </a:graphic>
      </p:graphicFrame>
      <p:sp>
        <p:nvSpPr>
          <p:cNvPr id="6" name="Google Shape;536;p33">
            <a:extLst>
              <a:ext uri="{FF2B5EF4-FFF2-40B4-BE49-F238E27FC236}">
                <a16:creationId xmlns:a16="http://schemas.microsoft.com/office/drawing/2014/main" id="{C5CD8C12-9B7C-4CF9-5A18-B822344D7182}"/>
              </a:ext>
            </a:extLst>
          </p:cNvPr>
          <p:cNvSpPr txBox="1">
            <a:spLocks/>
          </p:cNvSpPr>
          <p:nvPr/>
        </p:nvSpPr>
        <p:spPr>
          <a:xfrm>
            <a:off x="1359622" y="4289523"/>
            <a:ext cx="6258065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1000" b="1" dirty="0">
                <a:solidFill>
                  <a:srgbClr val="112E54">
                    <a:lumMod val="90000"/>
                    <a:lumOff val="10000"/>
                  </a:srgb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Added Time Value per Station on L05B Solution</a:t>
            </a: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306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7FCEF0B2-5AE4-62ED-8A46-C7FCC0B7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D4DCD4ED-5A0E-0502-D703-751CBA2A6E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5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Results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896AFFF4-BC37-8D58-2154-011F4E79CB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4165672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Cost-Benefit Considerations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4FDFC6-4ED3-6F41-FB54-DD351C4288BD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BB41E9-0542-D235-C30D-B0DE422EAC6C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954293-F88B-3189-40BF-4D50B6C1089A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2732D5D3-1828-36C9-4B06-0079837CFA5B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AE503C-B11A-B473-10F1-20C9B8367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942806"/>
              </p:ext>
            </p:extLst>
          </p:nvPr>
        </p:nvGraphicFramePr>
        <p:xfrm>
          <a:off x="4884257" y="1022350"/>
          <a:ext cx="3418523" cy="3596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14918">
                  <a:extLst>
                    <a:ext uri="{9D8B030D-6E8A-4147-A177-3AD203B41FA5}">
                      <a16:colId xmlns:a16="http://schemas.microsoft.com/office/drawing/2014/main" val="767546286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209493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 err="1"/>
                        <a:t>Metric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 err="1"/>
                        <a:t>Value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6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Baseline Daily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797.41 pcs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224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Improved Daily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950.18 pcs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5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Baseline Days to Produce 2589 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3.25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06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Improved Days to Produce 2589 pcs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2.72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47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Time 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0.52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6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Extra Pieces in Equal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484 pcs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692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Extra Profit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4,163.53 </a:t>
                      </a:r>
                      <a:r>
                        <a:rPr lang="pt-PT" sz="1100" b="1" dirty="0">
                          <a:solidFill>
                            <a:srgbClr val="112E54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€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5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Implementation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94,438 </a:t>
                      </a:r>
                      <a:r>
                        <a:rPr lang="pt-PT" sz="1100" b="1" dirty="0">
                          <a:solidFill>
                            <a:srgbClr val="112E54"/>
                          </a:solidFill>
                          <a:latin typeface="Inter" panose="020B0604020202020204" charset="0"/>
                          <a:ea typeface="Inter" panose="020B0604020202020204" charset="0"/>
                        </a:rPr>
                        <a:t>€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9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Estimated Payback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73.26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44540"/>
                  </a:ext>
                </a:extLst>
              </a:tr>
            </a:tbl>
          </a:graphicData>
        </a:graphic>
      </p:graphicFrame>
      <p:sp>
        <p:nvSpPr>
          <p:cNvPr id="8" name="Google Shape;2504;p56">
            <a:extLst>
              <a:ext uri="{FF2B5EF4-FFF2-40B4-BE49-F238E27FC236}">
                <a16:creationId xmlns:a16="http://schemas.microsoft.com/office/drawing/2014/main" id="{9BBCF5E5-218E-EC55-6DCE-7D85E8376DFC}"/>
              </a:ext>
            </a:extLst>
          </p:cNvPr>
          <p:cNvSpPr txBox="1">
            <a:spLocks/>
          </p:cNvSpPr>
          <p:nvPr/>
        </p:nvSpPr>
        <p:spPr>
          <a:xfrm>
            <a:off x="1253404" y="1863278"/>
            <a:ext cx="2535814" cy="2745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dirty="0">
                <a:solidFill>
                  <a:srgbClr val="112E54"/>
                </a:solidFill>
                <a:latin typeface="Inter" panose="020B0604020202020204" charset="0"/>
                <a:ea typeface="Inter" panose="020B0604020202020204" charset="0"/>
              </a:rPr>
              <a:t>Texto de suporte</a:t>
            </a:r>
            <a:endParaRPr lang="en-US" sz="1100" dirty="0">
              <a:solidFill>
                <a:srgbClr val="112E54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312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099E678-877E-E536-BB11-B08957F8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87EF7802-4E1E-CF8E-6C61-17241F1CD0C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6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Conclusions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F7AFB450-76FE-14E5-4A8C-3BEF7292935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Critical Assessment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E72F330-01AB-AD0F-5E76-59CEB656D4E6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533822-5A2A-6E7F-5DB7-1C6038B6D8B5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90CA5A-D960-3DA1-A60A-D787352AAEFB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1544901C-CDDF-48E8-771A-891CAEA47869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74425E-EB11-9C70-5AF8-0F29258DF5A2}"/>
              </a:ext>
            </a:extLst>
          </p:cNvPr>
          <p:cNvGrpSpPr/>
          <p:nvPr/>
        </p:nvGrpSpPr>
        <p:grpSpPr>
          <a:xfrm>
            <a:off x="4558976" y="3589240"/>
            <a:ext cx="4046816" cy="1156308"/>
            <a:chOff x="4678586" y="3450459"/>
            <a:chExt cx="4322601" cy="1156308"/>
          </a:xfrm>
        </p:grpSpPr>
        <p:sp>
          <p:nvSpPr>
            <p:cNvPr id="6" name="Google Shape;1645;p43">
              <a:extLst>
                <a:ext uri="{FF2B5EF4-FFF2-40B4-BE49-F238E27FC236}">
                  <a16:creationId xmlns:a16="http://schemas.microsoft.com/office/drawing/2014/main" id="{FCC619EE-DC55-8E37-7B21-7A17E31918EB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F40B42-0994-3F6E-110E-850437FE654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424059" cy="1156308"/>
              <a:chOff x="1309928" y="2201508"/>
              <a:chExt cx="3424059" cy="1156308"/>
            </a:xfrm>
          </p:grpSpPr>
          <p:sp>
            <p:nvSpPr>
              <p:cNvPr id="8" name="Google Shape;2611;p58">
                <a:extLst>
                  <a:ext uri="{FF2B5EF4-FFF2-40B4-BE49-F238E27FC236}">
                    <a16:creationId xmlns:a16="http://schemas.microsoft.com/office/drawing/2014/main" id="{5C75E91A-BD41-D324-2360-595C1B82DB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424059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Human Factors Exclusion</a:t>
                </a:r>
              </a:p>
            </p:txBody>
          </p:sp>
          <p:sp>
            <p:nvSpPr>
              <p:cNvPr id="9" name="Google Shape;2615;p58">
                <a:extLst>
                  <a:ext uri="{FF2B5EF4-FFF2-40B4-BE49-F238E27FC236}">
                    <a16:creationId xmlns:a16="http://schemas.microsoft.com/office/drawing/2014/main" id="{EF336F4F-3FE8-702D-124D-409159B325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Ergonomics and fatigue are not considered leading to potential operator-centric design gaps.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B7BA90-06A2-1C59-EFC7-1281246A5D6B}"/>
              </a:ext>
            </a:extLst>
          </p:cNvPr>
          <p:cNvGrpSpPr/>
          <p:nvPr/>
        </p:nvGrpSpPr>
        <p:grpSpPr>
          <a:xfrm>
            <a:off x="4572000" y="1930148"/>
            <a:ext cx="4052887" cy="1156308"/>
            <a:chOff x="4678586" y="3450459"/>
            <a:chExt cx="4329085" cy="1156308"/>
          </a:xfrm>
        </p:grpSpPr>
        <p:sp>
          <p:nvSpPr>
            <p:cNvPr id="11" name="Google Shape;1645;p43">
              <a:extLst>
                <a:ext uri="{FF2B5EF4-FFF2-40B4-BE49-F238E27FC236}">
                  <a16:creationId xmlns:a16="http://schemas.microsoft.com/office/drawing/2014/main" id="{68A2F404-2EB5-3EE4-9A54-BCC3BC794B5D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7901A35-3AFD-1B76-5E3F-F996540C9CA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430543" cy="1156308"/>
              <a:chOff x="1309928" y="2201508"/>
              <a:chExt cx="3430543" cy="1156308"/>
            </a:xfrm>
          </p:grpSpPr>
          <p:sp>
            <p:nvSpPr>
              <p:cNvPr id="13" name="Google Shape;2611;p58">
                <a:extLst>
                  <a:ext uri="{FF2B5EF4-FFF2-40B4-BE49-F238E27FC236}">
                    <a16:creationId xmlns:a16="http://schemas.microsoft.com/office/drawing/2014/main" id="{A5810942-EF0F-FC99-380B-5E25F5C323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430543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Computational Efficiency</a:t>
                </a:r>
              </a:p>
            </p:txBody>
          </p:sp>
          <p:sp>
            <p:nvSpPr>
              <p:cNvPr id="15" name="Google Shape;2615;p58">
                <a:extLst>
                  <a:ext uri="{FF2B5EF4-FFF2-40B4-BE49-F238E27FC236}">
                    <a16:creationId xmlns:a16="http://schemas.microsoft.com/office/drawing/2014/main" id="{CC7272D2-2438-CD8D-5832-D027C671B8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 DES kernel (</a:t>
                </a:r>
                <a:r>
                  <a:rPr lang="en-US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Simpy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) handles queuing, resource contention, and task preemption, however, high-load simulations have not been thoroughly tested.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5DF8DC-50CC-4445-1E41-D32666991367}"/>
              </a:ext>
            </a:extLst>
          </p:cNvPr>
          <p:cNvGrpSpPr/>
          <p:nvPr/>
        </p:nvGrpSpPr>
        <p:grpSpPr>
          <a:xfrm>
            <a:off x="519113" y="1933159"/>
            <a:ext cx="4044181" cy="1156308"/>
            <a:chOff x="4678585" y="3450459"/>
            <a:chExt cx="4366180" cy="1156308"/>
          </a:xfrm>
        </p:grpSpPr>
        <p:sp>
          <p:nvSpPr>
            <p:cNvPr id="17" name="Google Shape;1645;p43">
              <a:extLst>
                <a:ext uri="{FF2B5EF4-FFF2-40B4-BE49-F238E27FC236}">
                  <a16:creationId xmlns:a16="http://schemas.microsoft.com/office/drawing/2014/main" id="{1AFBAE52-247A-2B49-1164-4761D605D1BE}"/>
                </a:ext>
              </a:extLst>
            </p:cNvPr>
            <p:cNvSpPr>
              <a:spLocks/>
            </p:cNvSpPr>
            <p:nvPr/>
          </p:nvSpPr>
          <p:spPr>
            <a:xfrm>
              <a:off x="4678585" y="3567306"/>
              <a:ext cx="898429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7D5825B-5C6A-B8B7-2A51-1811EA20031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467637" cy="1156308"/>
              <a:chOff x="1309928" y="2201508"/>
              <a:chExt cx="3467637" cy="1156308"/>
            </a:xfrm>
          </p:grpSpPr>
          <p:sp>
            <p:nvSpPr>
              <p:cNvPr id="19" name="Google Shape;2611;p58">
                <a:extLst>
                  <a:ext uri="{FF2B5EF4-FFF2-40B4-BE49-F238E27FC236}">
                    <a16:creationId xmlns:a16="http://schemas.microsoft.com/office/drawing/2014/main" id="{54770751-C335-5318-F2DB-2A9BAF45E1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467637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Configurational Agility</a:t>
                </a:r>
              </a:p>
            </p:txBody>
          </p:sp>
          <p:sp>
            <p:nvSpPr>
              <p:cNvPr id="20" name="Google Shape;2615;p58">
                <a:extLst>
                  <a:ext uri="{FF2B5EF4-FFF2-40B4-BE49-F238E27FC236}">
                    <a16:creationId xmlns:a16="http://schemas.microsoft.com/office/drawing/2014/main" id="{D4E260B5-E28B-0ED3-DC11-04D3CB6739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Core abstractions let us reconfigure assembly lines fast, like adding a </a:t>
                </a:r>
                <a:r>
                  <a:rPr lang="en-US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cobot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and reassigning OP2 needed minimal changes.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CCD042-EB87-24C2-B1FD-3ACAFF03E121}"/>
              </a:ext>
            </a:extLst>
          </p:cNvPr>
          <p:cNvGrpSpPr/>
          <p:nvPr/>
        </p:nvGrpSpPr>
        <p:grpSpPr>
          <a:xfrm>
            <a:off x="538208" y="3413545"/>
            <a:ext cx="4511774" cy="1156308"/>
            <a:chOff x="4678586" y="3450459"/>
            <a:chExt cx="4895036" cy="1156308"/>
          </a:xfrm>
        </p:grpSpPr>
        <p:sp>
          <p:nvSpPr>
            <p:cNvPr id="22" name="Google Shape;1645;p43">
              <a:extLst>
                <a:ext uri="{FF2B5EF4-FFF2-40B4-BE49-F238E27FC236}">
                  <a16:creationId xmlns:a16="http://schemas.microsoft.com/office/drawing/2014/main" id="{B0C805DE-DBEC-80DE-833F-DF25631741A7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82144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96E2678-2CDA-5147-A87A-6C2A0CC5FCA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996494" cy="1156308"/>
              <a:chOff x="1309928" y="2201508"/>
              <a:chExt cx="3996494" cy="1156308"/>
            </a:xfrm>
          </p:grpSpPr>
          <p:sp>
            <p:nvSpPr>
              <p:cNvPr id="24" name="Google Shape;2611;p58">
                <a:extLst>
                  <a:ext uri="{FF2B5EF4-FFF2-40B4-BE49-F238E27FC236}">
                    <a16:creationId xmlns:a16="http://schemas.microsoft.com/office/drawing/2014/main" id="{4D2B770B-9E38-58B6-E1F8-66C6AE24BA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996494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Fidelity vs Practicality</a:t>
                </a:r>
              </a:p>
            </p:txBody>
          </p:sp>
          <p:sp>
            <p:nvSpPr>
              <p:cNvPr id="25" name="Google Shape;2615;p58">
                <a:extLst>
                  <a:ext uri="{FF2B5EF4-FFF2-40B4-BE49-F238E27FC236}">
                    <a16:creationId xmlns:a16="http://schemas.microsoft.com/office/drawing/2014/main" id="{CA44ACCE-94EF-1C64-2B68-DAF4CA88A5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 more accurate and realistic the data, the higher the fidelity of the simulation output will be.</a:t>
                </a:r>
              </a:p>
            </p:txBody>
          </p:sp>
        </p:grpSp>
      </p:grpSp>
      <p:pic>
        <p:nvPicPr>
          <p:cNvPr id="31" name="Picture 30" descr="A person with a tie and a yellow triangle&#10;&#10;AI-generated content may be incorrect.">
            <a:extLst>
              <a:ext uri="{FF2B5EF4-FFF2-40B4-BE49-F238E27FC236}">
                <a16:creationId xmlns:a16="http://schemas.microsoft.com/office/drawing/2014/main" id="{32E3942E-CF3C-F4AA-AD45-49BE97C4C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15" y="3782140"/>
            <a:ext cx="582983" cy="582983"/>
          </a:xfrm>
          <a:prstGeom prst="rect">
            <a:avLst/>
          </a:prstGeom>
        </p:spPr>
      </p:pic>
      <p:pic>
        <p:nvPicPr>
          <p:cNvPr id="33" name="Picture 32" descr="A logo of a gear and arrows&#10;&#10;AI-generated content may be incorrect.">
            <a:extLst>
              <a:ext uri="{FF2B5EF4-FFF2-40B4-BE49-F238E27FC236}">
                <a16:creationId xmlns:a16="http://schemas.microsoft.com/office/drawing/2014/main" id="{27966674-0B65-8DBB-E9E5-82C13521B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54" y="2159807"/>
            <a:ext cx="582983" cy="582983"/>
          </a:xfrm>
          <a:prstGeom prst="rect">
            <a:avLst/>
          </a:prstGeom>
        </p:spPr>
      </p:pic>
      <p:pic>
        <p:nvPicPr>
          <p:cNvPr id="35" name="Picture 34" descr="A hand with a gear and a plus and a check mark&#10;&#10;AI-generated content may be incorrect.">
            <a:extLst>
              <a:ext uri="{FF2B5EF4-FFF2-40B4-BE49-F238E27FC236}">
                <a16:creationId xmlns:a16="http://schemas.microsoft.com/office/drawing/2014/main" id="{3EE22DCA-A62D-100D-73E1-528346F96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17" y="3613884"/>
            <a:ext cx="582983" cy="582983"/>
          </a:xfrm>
          <a:prstGeom prst="rect">
            <a:avLst/>
          </a:prstGeom>
        </p:spPr>
      </p:pic>
      <p:pic>
        <p:nvPicPr>
          <p:cNvPr id="37" name="Picture 36" descr="A computer screen with a speedometer&#10;&#10;AI-generated content may be incorrect.">
            <a:extLst>
              <a:ext uri="{FF2B5EF4-FFF2-40B4-BE49-F238E27FC236}">
                <a16:creationId xmlns:a16="http://schemas.microsoft.com/office/drawing/2014/main" id="{6B7CC701-5F74-9B68-AA73-9BABAAA93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805" y="2159807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901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B18C93F1-5FEC-86F2-CBDA-D9EE83D8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56CBDAB3-939D-5239-A9C7-1CC5B61B02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6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Conclusions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A828ADFF-4AF9-9247-750D-0E95C0FC9E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420723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Alignment with Dissertation Objectives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7C7A006-EFB5-93D6-10F7-7786FC514FC1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070DEC-235A-AF2F-3024-79C43A1A72DA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1EBAB6-3117-8D36-CAF1-8783170E38DD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0E895344-06B2-89C7-B1F0-FDD4E962A93D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2615;p58">
            <a:extLst>
              <a:ext uri="{FF2B5EF4-FFF2-40B4-BE49-F238E27FC236}">
                <a16:creationId xmlns:a16="http://schemas.microsoft.com/office/drawing/2014/main" id="{AE0CBAF2-2B03-4FC2-76FE-22E8130A594D}"/>
              </a:ext>
            </a:extLst>
          </p:cNvPr>
          <p:cNvSpPr>
            <a:spLocks/>
          </p:cNvSpPr>
          <p:nvPr/>
        </p:nvSpPr>
        <p:spPr>
          <a:xfrm>
            <a:off x="1010949" y="1599852"/>
            <a:ext cx="7248307" cy="268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lnSpc>
                <a:spcPct val="115000"/>
              </a:lnSpc>
              <a:buFont typeface="+mj-lt"/>
              <a:buAutoNum type="arabicPeriod"/>
            </a:pPr>
            <a:endParaRPr lang="pt-PT" sz="105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Map the main processes and operational routing in the Bosch </a:t>
            </a:r>
            <a:r>
              <a:rPr lang="en-US" sz="1050" dirty="0" err="1">
                <a:latin typeface="Inter" panose="020B0604020202020204" charset="0"/>
                <a:ea typeface="Inter" panose="020B0604020202020204" charset="0"/>
              </a:rPr>
              <a:t>Ovar</a:t>
            </a: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 assembly cells that could be automated using robotic systems. </a:t>
            </a: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endParaRPr lang="en-US" sz="1050" dirty="0">
              <a:latin typeface="Inter" panose="020B0604020202020204" charset="0"/>
              <a:ea typeface="Inter" panose="020B0604020202020204" charset="0"/>
            </a:endParaRP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Develop a simulation model using an appropriate platform (e.g., Arena, </a:t>
            </a:r>
            <a:r>
              <a:rPr lang="en-US" sz="1050" dirty="0" err="1">
                <a:latin typeface="Inter" panose="020B0604020202020204" charset="0"/>
                <a:ea typeface="Inter" panose="020B0604020202020204" charset="0"/>
              </a:rPr>
              <a:t>AnyLogic</a:t>
            </a: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lang="en-US" sz="1050" dirty="0" err="1">
                <a:latin typeface="Inter" panose="020B0604020202020204" charset="0"/>
                <a:ea typeface="Inter" panose="020B0604020202020204" charset="0"/>
              </a:rPr>
              <a:t>FlexSim</a:t>
            </a: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). </a:t>
            </a: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endParaRPr lang="en-US" sz="1050" dirty="0">
              <a:latin typeface="Inter" panose="020B0604020202020204" charset="0"/>
              <a:ea typeface="Inter" panose="020B0604020202020204" charset="0"/>
            </a:endParaRP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Simulate various operational scenarios and task-distribution strategies between operators and robots, taking into account production times and cadence, operating costs, and assembly cell flexibility. </a:t>
            </a: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endParaRPr lang="en-US" sz="1050" dirty="0">
              <a:latin typeface="Inter" panose="020B0604020202020204" charset="0"/>
              <a:ea typeface="Inter" panose="020B0604020202020204" charset="0"/>
            </a:endParaRP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Perform scenario analyses of operator–robot task allocation, including a sensitivity analysis based on different levels of operator experience and training. </a:t>
            </a: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endParaRPr lang="en-US" sz="1050" dirty="0">
              <a:latin typeface="Inter" panose="020B0604020202020204" charset="0"/>
              <a:ea typeface="Inter" panose="020B0604020202020204" charset="0"/>
            </a:endParaRPr>
          </a:p>
          <a:p>
            <a:pPr marL="228600" lvl="0" indent="-228600">
              <a:lnSpc>
                <a:spcPct val="115000"/>
              </a:lnSpc>
              <a:buClr>
                <a:srgbClr val="00B050"/>
              </a:buClr>
              <a:buAutoNum type="arabicPeriod"/>
            </a:pP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Conduct a cost–benefit analysis of the proposed solution. </a:t>
            </a:r>
          </a:p>
          <a:p>
            <a:pPr marL="228600" lvl="0" indent="-228600">
              <a:lnSpc>
                <a:spcPct val="115000"/>
              </a:lnSpc>
              <a:buAutoNum type="arabicPeriod"/>
            </a:pPr>
            <a:endParaRPr lang="en-US" sz="1050" dirty="0">
              <a:latin typeface="Inter" panose="020B0604020202020204" charset="0"/>
              <a:ea typeface="Inter" panose="020B0604020202020204" charset="0"/>
            </a:endParaRPr>
          </a:p>
          <a:p>
            <a:pPr marL="228600" lvl="0" indent="-228600">
              <a:lnSpc>
                <a:spcPct val="115000"/>
              </a:lnSpc>
              <a:buClr>
                <a:srgbClr val="FF0000"/>
              </a:buClr>
              <a:buAutoNum type="arabicPeriod"/>
            </a:pPr>
            <a:r>
              <a:rPr lang="en-US" sz="1050" dirty="0">
                <a:latin typeface="Inter" panose="020B0604020202020204" charset="0"/>
                <a:ea typeface="Inter" panose="020B0604020202020204" charset="0"/>
              </a:rPr>
              <a:t>Propose improvements, optimizations, and best practices for the current production processes in Bosch assembly cells, based on the simulation results.</a:t>
            </a:r>
            <a:endParaRPr lang="en-US" sz="1050" dirty="0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954076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B99F7833-E199-2E90-964B-E05A73DC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A26F32C5-28CC-E098-A767-687B2FAB5F5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3166" y="1112520"/>
            <a:ext cx="7850981" cy="3248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i="1" spc="-300" dirty="0"/>
              <a:t>6 </a:t>
            </a:r>
            <a:r>
              <a:rPr lang="en-US" sz="3600" b="0" i="1" spc="-300" dirty="0"/>
              <a:t>–</a:t>
            </a:r>
            <a:r>
              <a:rPr lang="en-US" sz="3600" i="1" spc="-300" dirty="0"/>
              <a:t> Conclusions</a:t>
            </a:r>
            <a:endParaRPr lang="en-US" sz="3600" b="0" i="1" spc="-30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7BDEA243-D17B-0F14-7ACB-2602BFEC57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219" y="1274964"/>
            <a:ext cx="33457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Future Work</a:t>
            </a:r>
            <a:endParaRPr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A35173-6AB5-241E-B5C7-789B34A55C0E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6C2E36-4974-C226-A035-AF9631E129D9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33A9D7-5B27-E262-E95F-8BED3DF15F21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6C056956-2413-A0DD-D3EE-6E807B87CBC5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C15F0B-7C04-5AAB-2013-872740AC4EFE}"/>
              </a:ext>
            </a:extLst>
          </p:cNvPr>
          <p:cNvGrpSpPr/>
          <p:nvPr/>
        </p:nvGrpSpPr>
        <p:grpSpPr>
          <a:xfrm>
            <a:off x="4563294" y="3379364"/>
            <a:ext cx="4046816" cy="1157204"/>
            <a:chOff x="4678586" y="3450459"/>
            <a:chExt cx="4322601" cy="1157204"/>
          </a:xfrm>
        </p:grpSpPr>
        <p:sp>
          <p:nvSpPr>
            <p:cNvPr id="6" name="Google Shape;1645;p43">
              <a:extLst>
                <a:ext uri="{FF2B5EF4-FFF2-40B4-BE49-F238E27FC236}">
                  <a16:creationId xmlns:a16="http://schemas.microsoft.com/office/drawing/2014/main" id="{326BBD50-7275-B600-6BF1-ED459654FC86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3F0F162-CE65-DD12-F46F-EA06082E131F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424059" cy="1157204"/>
              <a:chOff x="1309928" y="2201508"/>
              <a:chExt cx="3424059" cy="1157204"/>
            </a:xfrm>
          </p:grpSpPr>
          <p:sp>
            <p:nvSpPr>
              <p:cNvPr id="8" name="Google Shape;2611;p58">
                <a:extLst>
                  <a:ext uri="{FF2B5EF4-FFF2-40B4-BE49-F238E27FC236}">
                    <a16:creationId xmlns:a16="http://schemas.microsoft.com/office/drawing/2014/main" id="{616090B4-8C16-ECCE-EC6D-32CB670857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424059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 Pathway to Digital Twin</a:t>
                </a:r>
              </a:p>
            </p:txBody>
          </p:sp>
          <p:sp>
            <p:nvSpPr>
              <p:cNvPr id="9" name="Google Shape;2615;p58">
                <a:extLst>
                  <a:ext uri="{FF2B5EF4-FFF2-40B4-BE49-F238E27FC236}">
                    <a16:creationId xmlns:a16="http://schemas.microsoft.com/office/drawing/2014/main" id="{7A71F0B0-BF23-7CB8-E9EF-2FB9679B95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1844" y="2495312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pt-PT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</a:t>
                </a:r>
                <a:r>
                  <a:rPr lang="en-US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ontinuous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 development for real-time data integration and real-time visualization.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C98234-AC78-5D34-8687-2944FA766E3D}"/>
              </a:ext>
            </a:extLst>
          </p:cNvPr>
          <p:cNvGrpSpPr/>
          <p:nvPr/>
        </p:nvGrpSpPr>
        <p:grpSpPr>
          <a:xfrm>
            <a:off x="4572000" y="1930148"/>
            <a:ext cx="4274127" cy="1156308"/>
            <a:chOff x="4678586" y="3450459"/>
            <a:chExt cx="4565402" cy="1156308"/>
          </a:xfrm>
        </p:grpSpPr>
        <p:sp>
          <p:nvSpPr>
            <p:cNvPr id="11" name="Google Shape;1645;p43">
              <a:extLst>
                <a:ext uri="{FF2B5EF4-FFF2-40B4-BE49-F238E27FC236}">
                  <a16:creationId xmlns:a16="http://schemas.microsoft.com/office/drawing/2014/main" id="{493E95C1-AA8F-402C-3713-1E3461611804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98542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26D36D0-DABC-8807-F04A-AD63788C35EE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666860" cy="1156308"/>
              <a:chOff x="1309928" y="2201508"/>
              <a:chExt cx="3666860" cy="1156308"/>
            </a:xfrm>
          </p:grpSpPr>
          <p:sp>
            <p:nvSpPr>
              <p:cNvPr id="13" name="Google Shape;2611;p58">
                <a:extLst>
                  <a:ext uri="{FF2B5EF4-FFF2-40B4-BE49-F238E27FC236}">
                    <a16:creationId xmlns:a16="http://schemas.microsoft.com/office/drawing/2014/main" id="{0F086EE1-CDD9-2BAE-DC1B-8970490813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666860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Results Automation</a:t>
                </a:r>
              </a:p>
            </p:txBody>
          </p:sp>
          <p:sp>
            <p:nvSpPr>
              <p:cNvPr id="15" name="Google Shape;2615;p58">
                <a:extLst>
                  <a:ext uri="{FF2B5EF4-FFF2-40B4-BE49-F238E27FC236}">
                    <a16:creationId xmlns:a16="http://schemas.microsoft.com/office/drawing/2014/main" id="{FFD10A7D-2BDF-731E-6EA5-628B438E33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Future development should also prioritize the automation of result presentation dynamics to enhance the extraction of KPIs.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F91E1-5059-0756-B781-40C5ECA8CC7E}"/>
              </a:ext>
            </a:extLst>
          </p:cNvPr>
          <p:cNvGrpSpPr/>
          <p:nvPr/>
        </p:nvGrpSpPr>
        <p:grpSpPr>
          <a:xfrm>
            <a:off x="519113" y="1933159"/>
            <a:ext cx="4044181" cy="1459578"/>
            <a:chOff x="4678585" y="3450459"/>
            <a:chExt cx="4366180" cy="1459578"/>
          </a:xfrm>
        </p:grpSpPr>
        <p:sp>
          <p:nvSpPr>
            <p:cNvPr id="17" name="Google Shape;1645;p43">
              <a:extLst>
                <a:ext uri="{FF2B5EF4-FFF2-40B4-BE49-F238E27FC236}">
                  <a16:creationId xmlns:a16="http://schemas.microsoft.com/office/drawing/2014/main" id="{D568B0A1-83E6-48DD-524B-E6B558546539}"/>
                </a:ext>
              </a:extLst>
            </p:cNvPr>
            <p:cNvSpPr>
              <a:spLocks/>
            </p:cNvSpPr>
            <p:nvPr/>
          </p:nvSpPr>
          <p:spPr>
            <a:xfrm>
              <a:off x="4678585" y="3567306"/>
              <a:ext cx="898429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1BDC0FA-37ED-EA10-9F0F-E5B831A7CC46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467637" cy="1459578"/>
              <a:chOff x="1309928" y="2201508"/>
              <a:chExt cx="3467637" cy="1459578"/>
            </a:xfrm>
          </p:grpSpPr>
          <p:sp>
            <p:nvSpPr>
              <p:cNvPr id="19" name="Google Shape;2611;p58">
                <a:extLst>
                  <a:ext uri="{FF2B5EF4-FFF2-40B4-BE49-F238E27FC236}">
                    <a16:creationId xmlns:a16="http://schemas.microsoft.com/office/drawing/2014/main" id="{B99C75D4-DA88-48CC-009D-315630403E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467637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Broadened Resource Modeling</a:t>
                </a:r>
              </a:p>
            </p:txBody>
          </p:sp>
          <p:sp>
            <p:nvSpPr>
              <p:cNvPr id="20" name="Google Shape;2615;p58">
                <a:extLst>
                  <a:ext uri="{FF2B5EF4-FFF2-40B4-BE49-F238E27FC236}">
                    <a16:creationId xmlns:a16="http://schemas.microsoft.com/office/drawing/2014/main" id="{D28B29AA-243F-ED99-189D-218AA7DC0E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1166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The framework can be expanded to support a wider range of industrial elements by incorporating machines, dynamic buffers, and more reliable </a:t>
                </a:r>
                <a:r>
                  <a:rPr lang="en-US" sz="1200" dirty="0" err="1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cobots</a:t>
                </a: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.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5AC4FC-B595-0DA2-6803-C2CC9011DA45}"/>
              </a:ext>
            </a:extLst>
          </p:cNvPr>
          <p:cNvGrpSpPr/>
          <p:nvPr/>
        </p:nvGrpSpPr>
        <p:grpSpPr>
          <a:xfrm>
            <a:off x="519113" y="3545268"/>
            <a:ext cx="4511774" cy="1156308"/>
            <a:chOff x="4678586" y="3450459"/>
            <a:chExt cx="4895036" cy="1156308"/>
          </a:xfrm>
        </p:grpSpPr>
        <p:sp>
          <p:nvSpPr>
            <p:cNvPr id="22" name="Google Shape;1645;p43">
              <a:extLst>
                <a:ext uri="{FF2B5EF4-FFF2-40B4-BE49-F238E27FC236}">
                  <a16:creationId xmlns:a16="http://schemas.microsoft.com/office/drawing/2014/main" id="{9FF2043F-F4BB-6102-FBD0-903B01C9516E}"/>
                </a:ext>
              </a:extLst>
            </p:cNvPr>
            <p:cNvSpPr>
              <a:spLocks/>
            </p:cNvSpPr>
            <p:nvPr/>
          </p:nvSpPr>
          <p:spPr>
            <a:xfrm>
              <a:off x="4678586" y="3567306"/>
              <a:ext cx="882144" cy="841445"/>
            </a:xfrm>
            <a:prstGeom prst="ellipse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1405AC3-D81B-6478-7023-6D3DF5D3FA7C}"/>
                </a:ext>
              </a:extLst>
            </p:cNvPr>
            <p:cNvGrpSpPr>
              <a:grpSpLocks/>
            </p:cNvGrpSpPr>
            <p:nvPr/>
          </p:nvGrpSpPr>
          <p:grpSpPr>
            <a:xfrm>
              <a:off x="5577128" y="3450459"/>
              <a:ext cx="3996494" cy="1156308"/>
              <a:chOff x="1309928" y="2201508"/>
              <a:chExt cx="3996494" cy="1156308"/>
            </a:xfrm>
          </p:grpSpPr>
          <p:sp>
            <p:nvSpPr>
              <p:cNvPr id="24" name="Google Shape;2611;p58">
                <a:extLst>
                  <a:ext uri="{FF2B5EF4-FFF2-40B4-BE49-F238E27FC236}">
                    <a16:creationId xmlns:a16="http://schemas.microsoft.com/office/drawing/2014/main" id="{6063036E-2549-F8F5-56C9-1CD06E45649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201508"/>
                <a:ext cx="3996494" cy="3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800" b="1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Montserrat"/>
                    <a:sym typeface="Montserrat"/>
                  </a:rPr>
                  <a:t>Use-Case Expansion</a:t>
                </a:r>
              </a:p>
            </p:txBody>
          </p:sp>
          <p:sp>
            <p:nvSpPr>
              <p:cNvPr id="25" name="Google Shape;2615;p58">
                <a:extLst>
                  <a:ext uri="{FF2B5EF4-FFF2-40B4-BE49-F238E27FC236}">
                    <a16:creationId xmlns:a16="http://schemas.microsoft.com/office/drawing/2014/main" id="{A591F3AA-AB92-276B-C6B9-0C34E31C2F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9928" y="2494416"/>
                <a:ext cx="3300225" cy="8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15000"/>
                  </a:lnSpc>
                </a:pPr>
                <a:r>
                  <a:rPr lang="en-US" sz="1200" dirty="0">
                    <a:solidFill>
                      <a:schemeClr val="dk1"/>
                    </a:solidFill>
                    <a:latin typeface="Inter" panose="020B0604020202020204" charset="0"/>
                    <a:ea typeface="Inter" panose="020B0604020202020204" charset="0"/>
                    <a:cs typeface="Inter"/>
                    <a:sym typeface="Inter"/>
                  </a:rPr>
                  <a:t>Strengthening the framework’s credibility requires broader deployment and testing.</a:t>
                </a:r>
              </a:p>
            </p:txBody>
          </p:sp>
        </p:grpSp>
      </p:grpSp>
      <p:pic>
        <p:nvPicPr>
          <p:cNvPr id="31" name="Picture 30" descr="A magnifying glass over a blue and blue computer screen&#10;&#10;AI-generated content may be incorrect.">
            <a:extLst>
              <a:ext uri="{FF2B5EF4-FFF2-40B4-BE49-F238E27FC236}">
                <a16:creationId xmlns:a16="http://schemas.microsoft.com/office/drawing/2014/main" id="{72AC0EAA-FDB8-02DD-1023-D93523BE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066" y="2251052"/>
            <a:ext cx="531083" cy="531083"/>
          </a:xfrm>
          <a:prstGeom prst="rect">
            <a:avLst/>
          </a:prstGeom>
        </p:spPr>
      </p:pic>
      <p:pic>
        <p:nvPicPr>
          <p:cNvPr id="33" name="Picture 32" descr="A computer screen with a gear and cubes on it&#10;&#10;AI-generated content may be incorrect.">
            <a:extLst>
              <a:ext uri="{FF2B5EF4-FFF2-40B4-BE49-F238E27FC236}">
                <a16:creationId xmlns:a16="http://schemas.microsoft.com/office/drawing/2014/main" id="{424A72CF-8121-2E4C-8B20-B20F1D698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271" y="3616732"/>
            <a:ext cx="628671" cy="628671"/>
          </a:xfrm>
          <a:prstGeom prst="rect">
            <a:avLst/>
          </a:prstGeom>
        </p:spPr>
      </p:pic>
      <p:pic>
        <p:nvPicPr>
          <p:cNvPr id="35" name="Picture 34" descr="A colorful graph with a pie chart and a pie chart&#10;&#10;AI-generated content may be incorrect.">
            <a:extLst>
              <a:ext uri="{FF2B5EF4-FFF2-40B4-BE49-F238E27FC236}">
                <a16:creationId xmlns:a16="http://schemas.microsoft.com/office/drawing/2014/main" id="{77D08C58-4CF4-49F4-FBFC-7CF366E8A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32" y="3818238"/>
            <a:ext cx="529197" cy="529197"/>
          </a:xfrm>
          <a:prstGeom prst="rect">
            <a:avLst/>
          </a:prstGeom>
        </p:spPr>
      </p:pic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7860B6-153B-9745-7126-A042A08FD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13" y="2153297"/>
            <a:ext cx="628839" cy="6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34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283939E-4EB1-93AE-35FB-4FF100E8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>
            <a:extLst>
              <a:ext uri="{FF2B5EF4-FFF2-40B4-BE49-F238E27FC236}">
                <a16:creationId xmlns:a16="http://schemas.microsoft.com/office/drawing/2014/main" id="{305B3810-C416-B340-A89E-FFD12D83D2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77955" y="-263506"/>
            <a:ext cx="7496174" cy="25177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000" i="1" spc="-150" dirty="0"/>
              <a:t>Development </a:t>
            </a:r>
            <a:r>
              <a:rPr lang="en-US" sz="2000" b="0" i="1" spc="-150" dirty="0"/>
              <a:t>of a </a:t>
            </a:r>
            <a:r>
              <a:rPr lang="en-US" sz="2000" i="1" spc="-150" dirty="0"/>
              <a:t>Simulation Model </a:t>
            </a:r>
            <a:r>
              <a:rPr lang="en-US" sz="2000" b="0" i="1" spc="-150" dirty="0"/>
              <a:t>for</a:t>
            </a:r>
            <a:r>
              <a:rPr lang="en-US" sz="2000" i="1" spc="-150" dirty="0"/>
              <a:t> Analysis </a:t>
            </a:r>
            <a:r>
              <a:rPr lang="en-US" sz="2000" b="0" i="1" spc="-150" dirty="0"/>
              <a:t>and </a:t>
            </a:r>
            <a:r>
              <a:rPr lang="en-US" sz="2000" i="1" spc="-150" dirty="0"/>
              <a:t>Evaluation </a:t>
            </a:r>
            <a:r>
              <a:rPr lang="en-US" sz="2000" b="0" i="1" spc="-150" dirty="0"/>
              <a:t>of</a:t>
            </a:r>
            <a:r>
              <a:rPr lang="en-US" sz="2000" i="1" spc="-150" dirty="0"/>
              <a:t> Human-Machine Collaboration </a:t>
            </a:r>
            <a:r>
              <a:rPr lang="en-US" sz="2000" b="0" i="1" spc="-150" dirty="0"/>
              <a:t>in</a:t>
            </a:r>
            <a:r>
              <a:rPr lang="en-US" sz="2000" i="1" spc="-150" dirty="0"/>
              <a:t> Assembly Cells</a:t>
            </a:r>
            <a:endParaRPr lang="en-US" sz="2000" b="0" i="1" spc="-150" dirty="0"/>
          </a:p>
        </p:txBody>
      </p:sp>
      <p:sp>
        <p:nvSpPr>
          <p:cNvPr id="536" name="Google Shape;536;p33">
            <a:extLst>
              <a:ext uri="{FF2B5EF4-FFF2-40B4-BE49-F238E27FC236}">
                <a16:creationId xmlns:a16="http://schemas.microsoft.com/office/drawing/2014/main" id="{FE0596F1-848B-C461-7CF6-791533FD9B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27578" y="4366803"/>
            <a:ext cx="3345753" cy="46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Author: </a:t>
            </a:r>
            <a:r>
              <a:rPr lang="en" sz="1100" dirty="0"/>
              <a:t>João Pedro Caldas Ferreira @ FEUP – </a:t>
            </a:r>
            <a:r>
              <a:rPr lang="en" sz="1100" dirty="0">
                <a:hlinkClick r:id="rId3"/>
              </a:rPr>
              <a:t>joao.p.caldas@inesctec.pt</a:t>
            </a:r>
            <a:endParaRPr lang="en" sz="11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1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12C37A-A8D4-E4BC-D0F1-8A9C9ED61520}"/>
              </a:ext>
            </a:extLst>
          </p:cNvPr>
          <p:cNvSpPr/>
          <p:nvPr/>
        </p:nvSpPr>
        <p:spPr>
          <a:xfrm>
            <a:off x="519113" y="385763"/>
            <a:ext cx="88106" cy="8810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4255171-FDE0-2A0F-D945-F35876B6D72D}"/>
              </a:ext>
            </a:extLst>
          </p:cNvPr>
          <p:cNvSpPr/>
          <p:nvPr/>
        </p:nvSpPr>
        <p:spPr>
          <a:xfrm>
            <a:off x="671513" y="385763"/>
            <a:ext cx="88106" cy="88106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4F62BA-E98B-6262-3E00-5E07EED662B5}"/>
              </a:ext>
            </a:extLst>
          </p:cNvPr>
          <p:cNvSpPr/>
          <p:nvPr/>
        </p:nvSpPr>
        <p:spPr>
          <a:xfrm>
            <a:off x="823913" y="385763"/>
            <a:ext cx="88106" cy="8810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535;p33">
            <a:extLst>
              <a:ext uri="{FF2B5EF4-FFF2-40B4-BE49-F238E27FC236}">
                <a16:creationId xmlns:a16="http://schemas.microsoft.com/office/drawing/2014/main" id="{F9B9FA7E-331F-1E08-989A-8D622D915420}"/>
              </a:ext>
            </a:extLst>
          </p:cNvPr>
          <p:cNvSpPr txBox="1">
            <a:spLocks/>
          </p:cNvSpPr>
          <p:nvPr/>
        </p:nvSpPr>
        <p:spPr>
          <a:xfrm>
            <a:off x="7625239" y="422672"/>
            <a:ext cx="1073467" cy="1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"/>
              <a:buNone/>
              <a:defRPr sz="7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DM Sans"/>
              <a:buNone/>
              <a:defRPr sz="5200" b="1" i="0" u="none" strike="noStrike" cap="non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pt-PT" sz="1000" b="0" i="1" dirty="0"/>
              <a:t>S</a:t>
            </a:r>
            <a:r>
              <a:rPr lang="en-US" sz="1000" b="0" i="1" dirty="0"/>
              <a:t>earch.…</a:t>
            </a:r>
          </a:p>
        </p:txBody>
      </p:sp>
      <p:sp>
        <p:nvSpPr>
          <p:cNvPr id="2" name="Google Shape;536;p33">
            <a:extLst>
              <a:ext uri="{FF2B5EF4-FFF2-40B4-BE49-F238E27FC236}">
                <a16:creationId xmlns:a16="http://schemas.microsoft.com/office/drawing/2014/main" id="{5AC7BCCF-89F5-3C9B-B44B-86FBED46519F}"/>
              </a:ext>
            </a:extLst>
          </p:cNvPr>
          <p:cNvSpPr txBox="1">
            <a:spLocks/>
          </p:cNvSpPr>
          <p:nvPr/>
        </p:nvSpPr>
        <p:spPr>
          <a:xfrm>
            <a:off x="1044773" y="671929"/>
            <a:ext cx="6962537" cy="150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/>
            <a:r>
              <a:rPr lang="en-US" sz="3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Thanks </a:t>
            </a:r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for the </a:t>
            </a:r>
            <a:r>
              <a:rPr lang="en-US" sz="3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Attention</a:t>
            </a:r>
            <a:b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Poppins" panose="020B0502040204020203" pitchFamily="2" charset="0"/>
                <a:cs typeface="Poppins" panose="020B0502040204020203" pitchFamily="2" charset="0"/>
              </a:rPr>
            </a:br>
            <a:endParaRPr lang="en-US" sz="1500" dirty="0">
              <a:solidFill>
                <a:schemeClr val="tx1">
                  <a:lumMod val="90000"/>
                  <a:lumOff val="10000"/>
                </a:schemeClr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429570-A90F-EDAE-A80A-EC8AB42F3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545" y="2178265"/>
            <a:ext cx="4807527" cy="2225480"/>
          </a:xfrm>
          <a:prstGeom prst="rect">
            <a:avLst/>
          </a:prstGeom>
        </p:spPr>
      </p:pic>
      <p:pic>
        <p:nvPicPr>
          <p:cNvPr id="6" name="Picture 5" descr="A red letters on a black background&#10;&#10;AI-generated content may be incorrect.">
            <a:extLst>
              <a:ext uri="{FF2B5EF4-FFF2-40B4-BE49-F238E27FC236}">
                <a16:creationId xmlns:a16="http://schemas.microsoft.com/office/drawing/2014/main" id="{45A67644-027E-F404-F808-B96FC4630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1130" y="4495529"/>
            <a:ext cx="1101437" cy="246963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7A20CBF-C806-A7CA-ADD1-00CD75166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72" y="4344680"/>
            <a:ext cx="1097324" cy="548662"/>
          </a:xfrm>
          <a:prstGeom prst="rect">
            <a:avLst/>
          </a:prstGeom>
        </p:spPr>
      </p:pic>
      <p:pic>
        <p:nvPicPr>
          <p:cNvPr id="8" name="Picture 7" descr="A blu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9645B56-E366-04F5-3B68-15B6419185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4655" y="4407044"/>
            <a:ext cx="1214676" cy="4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68708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Workshop for Beginners by Slidesgo">
  <a:themeElements>
    <a:clrScheme name="Simple Light">
      <a:dk1>
        <a:srgbClr val="112E54"/>
      </a:dk1>
      <a:lt1>
        <a:srgbClr val="AEE2F4"/>
      </a:lt1>
      <a:dk2>
        <a:srgbClr val="FFE188"/>
      </a:dk2>
      <a:lt2>
        <a:srgbClr val="FF93A9"/>
      </a:lt2>
      <a:accent1>
        <a:srgbClr val="FF6180"/>
      </a:accent1>
      <a:accent2>
        <a:srgbClr val="F5FBFF"/>
      </a:accent2>
      <a:accent3>
        <a:srgbClr val="00C7E6"/>
      </a:accent3>
      <a:accent4>
        <a:srgbClr val="356B90"/>
      </a:accent4>
      <a:accent5>
        <a:srgbClr val="866AAC"/>
      </a:accent5>
      <a:accent6>
        <a:srgbClr val="3E285A"/>
      </a:accent6>
      <a:hlink>
        <a:srgbClr val="112E5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20931</TotalTime>
  <Words>3543</Words>
  <Application>Microsoft Office PowerPoint</Application>
  <PresentationFormat>On-screen Show (16:9)</PresentationFormat>
  <Paragraphs>951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Inter</vt:lpstr>
      <vt:lpstr>Poppins</vt:lpstr>
      <vt:lpstr>Montserrat</vt:lpstr>
      <vt:lpstr>Cambria Math</vt:lpstr>
      <vt:lpstr>Computer Workshop for Beginners by Slidesgo</vt:lpstr>
      <vt:lpstr>Development of a Simulation Model for Analysis and Evaluation of Human-Machine Collaboration in Assembly Cells</vt:lpstr>
      <vt:lpstr>Table of Contents</vt:lpstr>
      <vt:lpstr>1 – Introduction </vt:lpstr>
      <vt:lpstr>1 – Introduction </vt:lpstr>
      <vt:lpstr>1 – Introduction </vt:lpstr>
      <vt:lpstr>2 – State of  the   Art </vt:lpstr>
      <vt:lpstr>2 – State of  the   Art </vt:lpstr>
      <vt:lpstr>2 – State of  the   Art </vt:lpstr>
      <vt:lpstr>2 – State of  the   Art </vt:lpstr>
      <vt:lpstr>2 – State of  the   Art </vt:lpstr>
      <vt:lpstr>2 – State of  the   Art </vt:lpstr>
      <vt:lpstr>3 – Development</vt:lpstr>
      <vt:lpstr>PowerPoint Presentation</vt:lpstr>
      <vt:lpstr>3 – Development</vt:lpstr>
      <vt:lpstr>3 – Development</vt:lpstr>
      <vt:lpstr>3 – Development</vt:lpstr>
      <vt:lpstr>3 – Development</vt:lpstr>
      <vt:lpstr>3 – Development</vt:lpstr>
      <vt:lpstr>3 – Development</vt:lpstr>
      <vt:lpstr>3 – Development</vt:lpstr>
      <vt:lpstr>3 – Development</vt:lpstr>
      <vt:lpstr>3 – Development</vt:lpstr>
      <vt:lpstr>3 – Development</vt:lpstr>
      <vt:lpstr>3 – Development</vt:lpstr>
      <vt:lpstr>4 – Case Study</vt:lpstr>
      <vt:lpstr>4 – Case Study</vt:lpstr>
      <vt:lpstr>4 – Case Study</vt:lpstr>
      <vt:lpstr>4 – Case Study</vt:lpstr>
      <vt:lpstr>4 – Case Study</vt:lpstr>
      <vt:lpstr>4 – Case Study</vt:lpstr>
      <vt:lpstr>4 – Case Study</vt:lpstr>
      <vt:lpstr>4 – Case Study</vt:lpstr>
      <vt:lpstr>4 – Case Study</vt:lpstr>
      <vt:lpstr>5 – Results</vt:lpstr>
      <vt:lpstr>5 – Results</vt:lpstr>
      <vt:lpstr>PowerPoint Presentation</vt:lpstr>
      <vt:lpstr>PowerPoint Presentation</vt:lpstr>
      <vt:lpstr>5 – Results</vt:lpstr>
      <vt:lpstr>5 – Results</vt:lpstr>
      <vt:lpstr>5 – Results</vt:lpstr>
      <vt:lpstr>5 – Results</vt:lpstr>
      <vt:lpstr>5 – Results</vt:lpstr>
      <vt:lpstr>5 – Results</vt:lpstr>
      <vt:lpstr>5 – Results</vt:lpstr>
      <vt:lpstr>5 – Results</vt:lpstr>
      <vt:lpstr>5 – Results</vt:lpstr>
      <vt:lpstr>6 – Conclusions</vt:lpstr>
      <vt:lpstr>6 – Conclusions</vt:lpstr>
      <vt:lpstr>6 – Conclusions</vt:lpstr>
      <vt:lpstr>Development of a Simulation Model for Analysis and Evaluation of Human-Machine Collaboration in Assembly Cells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</dc:creator>
  <cp:lastModifiedBy>João Pedro Caldas Ferreira</cp:lastModifiedBy>
  <cp:revision>2</cp:revision>
  <dcterms:modified xsi:type="dcterms:W3CDTF">2025-10-13T01:24:19Z</dcterms:modified>
</cp:coreProperties>
</file>